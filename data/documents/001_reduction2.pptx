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86" r:id="rId1"/>
  </p:sldMasterIdLst>
  <p:notesMasterIdLst>
    <p:notesMasterId r:id="rId7"/>
  </p:notesMasterIdLst>
  <p:sldIdLst>
    <p:sldId id="289" r:id="rId2"/>
    <p:sldId id="403" r:id="rId3"/>
    <p:sldId id="402" r:id="rId4"/>
    <p:sldId id="336" r:id="rId5"/>
    <p:sldId id="394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A9D057B8-64A1-4855-900E-FD16F1CBBFA6}">
          <p14:sldIdLst>
            <p14:sldId id="289"/>
            <p14:sldId id="403"/>
            <p14:sldId id="402"/>
            <p14:sldId id="336"/>
            <p14:sldId id="3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6ECA"/>
    <a:srgbClr val="68A7EC"/>
    <a:srgbClr val="B9FFF6"/>
    <a:srgbClr val="8579EC"/>
    <a:srgbClr val="CDB7F7"/>
    <a:srgbClr val="383838"/>
    <a:srgbClr val="A6610E"/>
    <a:srgbClr val="E7E6E7"/>
    <a:srgbClr val="E8AF07"/>
    <a:srgbClr val="E7C4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6037FE-9F81-45BF-98C4-38E021E665FF}" v="1" dt="2025-11-03T04:14:58.2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43" autoAdjust="0"/>
    <p:restoredTop sz="95397" autoAdjust="0"/>
  </p:normalViewPr>
  <p:slideViewPr>
    <p:cSldViewPr>
      <p:cViewPr>
        <p:scale>
          <a:sx n="75" d="100"/>
          <a:sy n="75" d="100"/>
        </p:scale>
        <p:origin x="672" y="3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49738D-D75D-40B1-BF46-FC9ACBB15E75}" type="datetimeFigureOut">
              <a:rPr kumimoji="1" lang="ja-JP" altLang="en-US" smtClean="0"/>
              <a:t>2025/11/3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E5198F-549A-4508-B579-8CA394E947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8267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BE827E-404A-42BE-A160-655696A58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8466" y="3429000"/>
            <a:ext cx="7155068" cy="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bIns="360000"/>
          <a:lstStyle>
            <a:lvl1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sz="3200" b="1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46F9050E-5634-4EA3-B360-83633D8E58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8575" y="3778250"/>
            <a:ext cx="4383088" cy="1190561"/>
          </a:xfrm>
          <a:prstGeom prst="rect">
            <a:avLst/>
          </a:prstGeom>
        </p:spPr>
        <p:txBody>
          <a:bodyPr anchor="t"/>
          <a:lstStyle>
            <a:lvl1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社名を入力</a:t>
            </a:r>
          </a:p>
        </p:txBody>
      </p:sp>
      <p:sp>
        <p:nvSpPr>
          <p:cNvPr id="7" name="テキスト プレースホルダー 5">
            <a:extLst>
              <a:ext uri="{FF2B5EF4-FFF2-40B4-BE49-F238E27FC236}">
                <a16:creationId xmlns:a16="http://schemas.microsoft.com/office/drawing/2014/main" id="{CB53B960-D380-426E-B01A-8F0A5A8ADE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38575" y="5318060"/>
            <a:ext cx="4383088" cy="691536"/>
          </a:xfrm>
          <a:prstGeom prst="rect">
            <a:avLst/>
          </a:prstGeom>
        </p:spPr>
        <p:txBody>
          <a:bodyPr anchor="t"/>
          <a:lstStyle>
            <a:lvl1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 dirty="0"/>
              <a:t>YYYY</a:t>
            </a:r>
            <a:r>
              <a:rPr kumimoji="1" lang="ja-JP" altLang="en-US" dirty="0"/>
              <a:t>年</a:t>
            </a:r>
            <a:r>
              <a:rPr kumimoji="1" lang="en-US" altLang="ja-JP" dirty="0"/>
              <a:t>MM</a:t>
            </a:r>
            <a:r>
              <a:rPr kumimoji="1" lang="ja-JP" altLang="en-US" dirty="0"/>
              <a:t>月</a:t>
            </a:r>
            <a:r>
              <a:rPr kumimoji="1" lang="en-US" altLang="ja-JP" dirty="0"/>
              <a:t>DD</a:t>
            </a:r>
            <a:r>
              <a:rPr kumimoji="1" lang="ja-JP" altLang="en-US" dirty="0"/>
              <a:t>日</a:t>
            </a:r>
          </a:p>
        </p:txBody>
      </p:sp>
      <p:sp>
        <p:nvSpPr>
          <p:cNvPr id="3" name="フリーフォーム: 図形 2">
            <a:extLst>
              <a:ext uri="{FF2B5EF4-FFF2-40B4-BE49-F238E27FC236}">
                <a16:creationId xmlns:a16="http://schemas.microsoft.com/office/drawing/2014/main" id="{88AEADF3-2BA5-5977-F621-B2B6F5B9A12A}"/>
              </a:ext>
            </a:extLst>
          </p:cNvPr>
          <p:cNvSpPr/>
          <p:nvPr userDrawn="1"/>
        </p:nvSpPr>
        <p:spPr>
          <a:xfrm>
            <a:off x="0" y="0"/>
            <a:ext cx="1690222" cy="6858000"/>
          </a:xfrm>
          <a:custGeom>
            <a:avLst/>
            <a:gdLst>
              <a:gd name="connsiteX0" fmla="*/ 0 w 1690222"/>
              <a:gd name="connsiteY0" fmla="*/ 0 h 6858000"/>
              <a:gd name="connsiteX1" fmla="*/ 1690222 w 1690222"/>
              <a:gd name="connsiteY1" fmla="*/ 0 h 6858000"/>
              <a:gd name="connsiteX2" fmla="*/ 1621167 w 1690222"/>
              <a:gd name="connsiteY2" fmla="*/ 87873 h 6858000"/>
              <a:gd name="connsiteX3" fmla="*/ 511780 w 1690222"/>
              <a:gd name="connsiteY3" fmla="*/ 3429001 h 6858000"/>
              <a:gd name="connsiteX4" fmla="*/ 1621167 w 1690222"/>
              <a:gd name="connsiteY4" fmla="*/ 6770129 h 6858000"/>
              <a:gd name="connsiteX5" fmla="*/ 1690220 w 1690222"/>
              <a:gd name="connsiteY5" fmla="*/ 6858000 h 6858000"/>
              <a:gd name="connsiteX6" fmla="*/ 0 w 1690222"/>
              <a:gd name="connsiteY6" fmla="*/ 6858000 h 6858000"/>
              <a:gd name="connsiteX7" fmla="*/ 0 w 169022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90222" h="6858000">
                <a:moveTo>
                  <a:pt x="0" y="0"/>
                </a:moveTo>
                <a:lnTo>
                  <a:pt x="1690222" y="0"/>
                </a:lnTo>
                <a:lnTo>
                  <a:pt x="1621167" y="87873"/>
                </a:lnTo>
                <a:cubicBezTo>
                  <a:pt x="924401" y="1019559"/>
                  <a:pt x="511780" y="2176094"/>
                  <a:pt x="511780" y="3429001"/>
                </a:cubicBezTo>
                <a:cubicBezTo>
                  <a:pt x="511780" y="4681909"/>
                  <a:pt x="924401" y="5838444"/>
                  <a:pt x="1621167" y="6770129"/>
                </a:cubicBezTo>
                <a:lnTo>
                  <a:pt x="169022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endParaRPr kumimoji="1" lang="ja-JP" altLang="en-US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フリーフォーム: 図形 3">
            <a:extLst>
              <a:ext uri="{FF2B5EF4-FFF2-40B4-BE49-F238E27FC236}">
                <a16:creationId xmlns:a16="http://schemas.microsoft.com/office/drawing/2014/main" id="{2CA04C08-36E1-7C02-A6C9-BCF92D0EA01D}"/>
              </a:ext>
            </a:extLst>
          </p:cNvPr>
          <p:cNvSpPr/>
          <p:nvPr userDrawn="1"/>
        </p:nvSpPr>
        <p:spPr>
          <a:xfrm>
            <a:off x="10501780" y="0"/>
            <a:ext cx="1690220" cy="6858000"/>
          </a:xfrm>
          <a:custGeom>
            <a:avLst/>
            <a:gdLst>
              <a:gd name="connsiteX0" fmla="*/ 0 w 1690220"/>
              <a:gd name="connsiteY0" fmla="*/ 0 h 6858000"/>
              <a:gd name="connsiteX1" fmla="*/ 1690220 w 1690220"/>
              <a:gd name="connsiteY1" fmla="*/ 0 h 6858000"/>
              <a:gd name="connsiteX2" fmla="*/ 1690220 w 1690220"/>
              <a:gd name="connsiteY2" fmla="*/ 6858000 h 6858000"/>
              <a:gd name="connsiteX3" fmla="*/ 2 w 1690220"/>
              <a:gd name="connsiteY3" fmla="*/ 6858000 h 6858000"/>
              <a:gd name="connsiteX4" fmla="*/ 69055 w 1690220"/>
              <a:gd name="connsiteY4" fmla="*/ 6770129 h 6858000"/>
              <a:gd name="connsiteX5" fmla="*/ 1178442 w 1690220"/>
              <a:gd name="connsiteY5" fmla="*/ 3429001 h 6858000"/>
              <a:gd name="connsiteX6" fmla="*/ 69055 w 1690220"/>
              <a:gd name="connsiteY6" fmla="*/ 87873 h 6858000"/>
              <a:gd name="connsiteX7" fmla="*/ 0 w 1690220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90220" h="6858000">
                <a:moveTo>
                  <a:pt x="0" y="0"/>
                </a:moveTo>
                <a:lnTo>
                  <a:pt x="1690220" y="0"/>
                </a:lnTo>
                <a:lnTo>
                  <a:pt x="1690220" y="6858000"/>
                </a:lnTo>
                <a:lnTo>
                  <a:pt x="2" y="6858000"/>
                </a:lnTo>
                <a:lnTo>
                  <a:pt x="69055" y="6770129"/>
                </a:lnTo>
                <a:cubicBezTo>
                  <a:pt x="765821" y="5838444"/>
                  <a:pt x="1178442" y="4681909"/>
                  <a:pt x="1178442" y="3429001"/>
                </a:cubicBezTo>
                <a:cubicBezTo>
                  <a:pt x="1178442" y="2176094"/>
                  <a:pt x="765821" y="1019559"/>
                  <a:pt x="69055" y="8787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endParaRPr kumimoji="1" lang="ja-JP" altLang="en-US" sz="16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18885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表紙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グラフィックス 18" descr="有機的な角の図形">
            <a:extLst>
              <a:ext uri="{FF2B5EF4-FFF2-40B4-BE49-F238E27FC236}">
                <a16:creationId xmlns:a16="http://schemas.microsoft.com/office/drawing/2014/main" id="{ED18916B-53A8-5C94-D3A4-BF441740AE90}"/>
              </a:ext>
            </a:extLst>
          </p:cNvPr>
          <p:cNvSpPr/>
          <p:nvPr/>
        </p:nvSpPr>
        <p:spPr>
          <a:xfrm flipV="1">
            <a:off x="5303912" y="0"/>
            <a:ext cx="6936035" cy="4146411"/>
          </a:xfrm>
          <a:custGeom>
            <a:avLst/>
            <a:gdLst>
              <a:gd name="connsiteX0" fmla="*/ 6936002 w 6936035"/>
              <a:gd name="connsiteY0" fmla="*/ 4146395 h 4146411"/>
              <a:gd name="connsiteX1" fmla="*/ 0 w 6936035"/>
              <a:gd name="connsiteY1" fmla="*/ 4146412 h 4146411"/>
              <a:gd name="connsiteX2" fmla="*/ 694657 w 6936035"/>
              <a:gd name="connsiteY2" fmla="*/ 3505825 h 4146411"/>
              <a:gd name="connsiteX3" fmla="*/ 3503271 w 6936035"/>
              <a:gd name="connsiteY3" fmla="*/ 3128037 h 4146411"/>
              <a:gd name="connsiteX4" fmla="*/ 4028869 w 6936035"/>
              <a:gd name="connsiteY4" fmla="*/ 2126098 h 4146411"/>
              <a:gd name="connsiteX5" fmla="*/ 5457823 w 6936035"/>
              <a:gd name="connsiteY5" fmla="*/ 1403394 h 4146411"/>
              <a:gd name="connsiteX6" fmla="*/ 6180509 w 6936035"/>
              <a:gd name="connsiteY6" fmla="*/ 237208 h 4146411"/>
              <a:gd name="connsiteX7" fmla="*/ 6936035 w 6936035"/>
              <a:gd name="connsiteY7" fmla="*/ 0 h 4146411"/>
              <a:gd name="connsiteX8" fmla="*/ 6936002 w 6936035"/>
              <a:gd name="connsiteY8" fmla="*/ 4146395 h 4146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36035" h="4146411">
                <a:moveTo>
                  <a:pt x="6936002" y="4146395"/>
                </a:moveTo>
                <a:lnTo>
                  <a:pt x="0" y="4146412"/>
                </a:lnTo>
                <a:cubicBezTo>
                  <a:pt x="0" y="4146412"/>
                  <a:pt x="354303" y="3691501"/>
                  <a:pt x="694657" y="3505825"/>
                </a:cubicBezTo>
                <a:cubicBezTo>
                  <a:pt x="1768163" y="2920235"/>
                  <a:pt x="2848618" y="3731688"/>
                  <a:pt x="3503271" y="3128037"/>
                </a:cubicBezTo>
                <a:cubicBezTo>
                  <a:pt x="3841087" y="2816525"/>
                  <a:pt x="3607793" y="2550276"/>
                  <a:pt x="4028869" y="2126098"/>
                </a:cubicBezTo>
                <a:cubicBezTo>
                  <a:pt x="4537336" y="1613900"/>
                  <a:pt x="4985298" y="1893550"/>
                  <a:pt x="5457823" y="1403394"/>
                </a:cubicBezTo>
                <a:cubicBezTo>
                  <a:pt x="5868998" y="976862"/>
                  <a:pt x="5721153" y="566599"/>
                  <a:pt x="6180509" y="237208"/>
                </a:cubicBezTo>
                <a:cubicBezTo>
                  <a:pt x="6440025" y="51117"/>
                  <a:pt x="6936035" y="0"/>
                  <a:pt x="6936035" y="0"/>
                </a:cubicBezTo>
                <a:lnTo>
                  <a:pt x="6936002" y="4146395"/>
                </a:lnTo>
                <a:close/>
              </a:path>
            </a:pathLst>
          </a:custGeom>
          <a:solidFill>
            <a:schemeClr val="tx2"/>
          </a:solidFill>
          <a:ln w="16570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C5F3E123-2C67-EF07-9655-08E99671B8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35560" y="2097088"/>
            <a:ext cx="7920880" cy="2663825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sz="3600">
                <a:solidFill>
                  <a:schemeClr val="tx1"/>
                </a:solidFill>
              </a:defRPr>
            </a:lvl1pPr>
          </a:lstStyle>
          <a:p>
            <a:pPr lvl="0"/>
            <a:endParaRPr kumimoji="1" lang="ja-JP" altLang="en-US" dirty="0"/>
          </a:p>
        </p:txBody>
      </p:sp>
      <p:sp>
        <p:nvSpPr>
          <p:cNvPr id="8" name="フリーフォーム: 図形 7" descr="有機的な角の図形">
            <a:extLst>
              <a:ext uri="{FF2B5EF4-FFF2-40B4-BE49-F238E27FC236}">
                <a16:creationId xmlns:a16="http://schemas.microsoft.com/office/drawing/2014/main" id="{BDFD2059-C5A0-64A6-776D-DA047DB9902F}"/>
              </a:ext>
            </a:extLst>
          </p:cNvPr>
          <p:cNvSpPr/>
          <p:nvPr userDrawn="1"/>
        </p:nvSpPr>
        <p:spPr>
          <a:xfrm rot="10800000" flipV="1">
            <a:off x="0" y="2297593"/>
            <a:ext cx="4575008" cy="4560407"/>
          </a:xfrm>
          <a:custGeom>
            <a:avLst/>
            <a:gdLst>
              <a:gd name="connsiteX0" fmla="*/ 4575008 w 4575008"/>
              <a:gd name="connsiteY0" fmla="*/ 0 h 4560407"/>
              <a:gd name="connsiteX1" fmla="*/ 4503754 w 4575008"/>
              <a:gd name="connsiteY1" fmla="*/ 42836 h 4560407"/>
              <a:gd name="connsiteX2" fmla="*/ 3516573 w 4575008"/>
              <a:gd name="connsiteY2" fmla="*/ 1635833 h 4560407"/>
              <a:gd name="connsiteX3" fmla="*/ 1564637 w 4575008"/>
              <a:gd name="connsiteY3" fmla="*/ 2623038 h 4560407"/>
              <a:gd name="connsiteX4" fmla="*/ 846676 w 4575008"/>
              <a:gd name="connsiteY4" fmla="*/ 3991676 h 4560407"/>
              <a:gd name="connsiteX5" fmla="*/ 129667 w 4575008"/>
              <a:gd name="connsiteY5" fmla="*/ 4499838 h 4560407"/>
              <a:gd name="connsiteX6" fmla="*/ 0 w 4575008"/>
              <a:gd name="connsiteY6" fmla="*/ 4560407 h 4560407"/>
              <a:gd name="connsiteX7" fmla="*/ 4575008 w 4575008"/>
              <a:gd name="connsiteY7" fmla="*/ 4560407 h 456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5008" h="4560407">
                <a:moveTo>
                  <a:pt x="4575008" y="0"/>
                </a:moveTo>
                <a:lnTo>
                  <a:pt x="4503754" y="42836"/>
                </a:lnTo>
                <a:cubicBezTo>
                  <a:pt x="3876279" y="492780"/>
                  <a:pt x="4078233" y="1053195"/>
                  <a:pt x="3516573" y="1635833"/>
                </a:cubicBezTo>
                <a:cubicBezTo>
                  <a:pt x="2871109" y="2305380"/>
                  <a:pt x="2259198" y="1923382"/>
                  <a:pt x="1564637" y="2623038"/>
                </a:cubicBezTo>
                <a:cubicBezTo>
                  <a:pt x="989452" y="3202461"/>
                  <a:pt x="1308129" y="3566154"/>
                  <a:pt x="846676" y="3991676"/>
                </a:cubicBezTo>
                <a:cubicBezTo>
                  <a:pt x="637087" y="4184937"/>
                  <a:pt x="395546" y="4359781"/>
                  <a:pt x="129667" y="4499838"/>
                </a:cubicBezTo>
                <a:lnTo>
                  <a:pt x="0" y="4560407"/>
                </a:lnTo>
                <a:lnTo>
                  <a:pt x="4575008" y="4560407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1657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0047761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表紙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C04C0961-51A9-28BA-95ED-A24EFA926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01" y="2924944"/>
            <a:ext cx="11523307" cy="1008112"/>
          </a:xfrm>
          <a:ln>
            <a:noFill/>
          </a:ln>
        </p:spPr>
        <p:txBody>
          <a:bodyPr anchor="ctr"/>
          <a:lstStyle>
            <a:lvl1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sz="32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フレーム 2">
            <a:extLst>
              <a:ext uri="{FF2B5EF4-FFF2-40B4-BE49-F238E27FC236}">
                <a16:creationId xmlns:a16="http://schemas.microsoft.com/office/drawing/2014/main" id="{F591FD1E-8BEC-FE49-3A6E-DD7945D8381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3321"/>
            </a:avLst>
          </a:prstGeom>
          <a:solidFill>
            <a:schemeClr val="tx2"/>
          </a:solidFill>
          <a:ln w="142875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405230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表紙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フリーフォーム: 図形 106">
            <a:extLst>
              <a:ext uri="{FF2B5EF4-FFF2-40B4-BE49-F238E27FC236}">
                <a16:creationId xmlns:a16="http://schemas.microsoft.com/office/drawing/2014/main" id="{44BA1B0E-7DFE-DA65-9D4A-990974A2A5BB}"/>
              </a:ext>
            </a:extLst>
          </p:cNvPr>
          <p:cNvSpPr/>
          <p:nvPr userDrawn="1"/>
        </p:nvSpPr>
        <p:spPr>
          <a:xfrm flipV="1">
            <a:off x="8666343" y="0"/>
            <a:ext cx="2382411" cy="6858000"/>
          </a:xfrm>
          <a:custGeom>
            <a:avLst/>
            <a:gdLst>
              <a:gd name="connsiteX0" fmla="*/ 822377 w 2382411"/>
              <a:gd name="connsiteY0" fmla="*/ 0 h 6858000"/>
              <a:gd name="connsiteX1" fmla="*/ 2382411 w 2382411"/>
              <a:gd name="connsiteY1" fmla="*/ 0 h 6858000"/>
              <a:gd name="connsiteX2" fmla="*/ 2382411 w 2382411"/>
              <a:gd name="connsiteY2" fmla="*/ 6858000 h 6858000"/>
              <a:gd name="connsiteX3" fmla="*/ 1004831 w 2382411"/>
              <a:gd name="connsiteY3" fmla="*/ 6858000 h 6858000"/>
              <a:gd name="connsiteX4" fmla="*/ 1008565 w 2382411"/>
              <a:gd name="connsiteY4" fmla="*/ 6851781 h 6858000"/>
              <a:gd name="connsiteX5" fmla="*/ 1125689 w 2382411"/>
              <a:gd name="connsiteY5" fmla="*/ 6402470 h 6858000"/>
              <a:gd name="connsiteX6" fmla="*/ 618723 w 2382411"/>
              <a:gd name="connsiteY6" fmla="*/ 4628086 h 6858000"/>
              <a:gd name="connsiteX7" fmla="*/ 998947 w 2382411"/>
              <a:gd name="connsiteY7" fmla="*/ 3677525 h 6858000"/>
              <a:gd name="connsiteX8" fmla="*/ 25886 w 2382411"/>
              <a:gd name="connsiteY8" fmla="*/ 1839768 h 6858000"/>
              <a:gd name="connsiteX9" fmla="*/ 788179 w 2382411"/>
              <a:gd name="connsiteY9" fmla="*/ 4939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82411" h="6858000">
                <a:moveTo>
                  <a:pt x="822377" y="0"/>
                </a:moveTo>
                <a:lnTo>
                  <a:pt x="2382411" y="0"/>
                </a:lnTo>
                <a:lnTo>
                  <a:pt x="2382411" y="6858000"/>
                </a:lnTo>
                <a:lnTo>
                  <a:pt x="1004831" y="6858000"/>
                </a:lnTo>
                <a:lnTo>
                  <a:pt x="1008565" y="6851781"/>
                </a:lnTo>
                <a:cubicBezTo>
                  <a:pt x="1075413" y="6722209"/>
                  <a:pt x="1123953" y="6576613"/>
                  <a:pt x="1125689" y="6402470"/>
                </a:cubicBezTo>
                <a:cubicBezTo>
                  <a:pt x="1133767" y="5591576"/>
                  <a:pt x="444199" y="5374152"/>
                  <a:pt x="618723" y="4628086"/>
                </a:cubicBezTo>
                <a:cubicBezTo>
                  <a:pt x="727403" y="4163451"/>
                  <a:pt x="990707" y="4062119"/>
                  <a:pt x="998947" y="3677525"/>
                </a:cubicBezTo>
                <a:cubicBezTo>
                  <a:pt x="1015963" y="2884532"/>
                  <a:pt x="202943" y="2624777"/>
                  <a:pt x="25886" y="1839768"/>
                </a:cubicBezTo>
                <a:cubicBezTo>
                  <a:pt x="-120636" y="1190081"/>
                  <a:pt x="384849" y="612508"/>
                  <a:pt x="788179" y="49398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accent1"/>
              </a:solidFill>
            </a:endParaRPr>
          </a:p>
        </p:txBody>
      </p:sp>
      <p:sp>
        <p:nvSpPr>
          <p:cNvPr id="104" name="フリーフォーム: 図形 103">
            <a:extLst>
              <a:ext uri="{FF2B5EF4-FFF2-40B4-BE49-F238E27FC236}">
                <a16:creationId xmlns:a16="http://schemas.microsoft.com/office/drawing/2014/main" id="{7E706537-DD65-C835-53BB-8B80CD9CD438}"/>
              </a:ext>
            </a:extLst>
          </p:cNvPr>
          <p:cNvSpPr/>
          <p:nvPr userDrawn="1"/>
        </p:nvSpPr>
        <p:spPr>
          <a:xfrm flipV="1">
            <a:off x="9237966" y="0"/>
            <a:ext cx="2382411" cy="6858000"/>
          </a:xfrm>
          <a:custGeom>
            <a:avLst/>
            <a:gdLst>
              <a:gd name="connsiteX0" fmla="*/ 822377 w 2382411"/>
              <a:gd name="connsiteY0" fmla="*/ 0 h 6858000"/>
              <a:gd name="connsiteX1" fmla="*/ 2382411 w 2382411"/>
              <a:gd name="connsiteY1" fmla="*/ 0 h 6858000"/>
              <a:gd name="connsiteX2" fmla="*/ 2382411 w 2382411"/>
              <a:gd name="connsiteY2" fmla="*/ 6858000 h 6858000"/>
              <a:gd name="connsiteX3" fmla="*/ 1004831 w 2382411"/>
              <a:gd name="connsiteY3" fmla="*/ 6858000 h 6858000"/>
              <a:gd name="connsiteX4" fmla="*/ 1008565 w 2382411"/>
              <a:gd name="connsiteY4" fmla="*/ 6851781 h 6858000"/>
              <a:gd name="connsiteX5" fmla="*/ 1125689 w 2382411"/>
              <a:gd name="connsiteY5" fmla="*/ 6402470 h 6858000"/>
              <a:gd name="connsiteX6" fmla="*/ 618723 w 2382411"/>
              <a:gd name="connsiteY6" fmla="*/ 4628086 h 6858000"/>
              <a:gd name="connsiteX7" fmla="*/ 998947 w 2382411"/>
              <a:gd name="connsiteY7" fmla="*/ 3677525 h 6858000"/>
              <a:gd name="connsiteX8" fmla="*/ 25886 w 2382411"/>
              <a:gd name="connsiteY8" fmla="*/ 1839768 h 6858000"/>
              <a:gd name="connsiteX9" fmla="*/ 788179 w 2382411"/>
              <a:gd name="connsiteY9" fmla="*/ 4939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82411" h="6858000">
                <a:moveTo>
                  <a:pt x="822377" y="0"/>
                </a:moveTo>
                <a:lnTo>
                  <a:pt x="2382411" y="0"/>
                </a:lnTo>
                <a:lnTo>
                  <a:pt x="2382411" y="6858000"/>
                </a:lnTo>
                <a:lnTo>
                  <a:pt x="1004831" y="6858000"/>
                </a:lnTo>
                <a:lnTo>
                  <a:pt x="1008565" y="6851781"/>
                </a:lnTo>
                <a:cubicBezTo>
                  <a:pt x="1075413" y="6722209"/>
                  <a:pt x="1123953" y="6576613"/>
                  <a:pt x="1125689" y="6402470"/>
                </a:cubicBezTo>
                <a:cubicBezTo>
                  <a:pt x="1133767" y="5591576"/>
                  <a:pt x="444199" y="5374152"/>
                  <a:pt x="618723" y="4628086"/>
                </a:cubicBezTo>
                <a:cubicBezTo>
                  <a:pt x="727403" y="4163451"/>
                  <a:pt x="990707" y="4062119"/>
                  <a:pt x="998947" y="3677525"/>
                </a:cubicBezTo>
                <a:cubicBezTo>
                  <a:pt x="1015963" y="2884532"/>
                  <a:pt x="202943" y="2624777"/>
                  <a:pt x="25886" y="1839768"/>
                </a:cubicBezTo>
                <a:cubicBezTo>
                  <a:pt x="-120636" y="1190081"/>
                  <a:pt x="384849" y="612508"/>
                  <a:pt x="788179" y="49398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accent1"/>
              </a:solidFill>
            </a:endParaRPr>
          </a:p>
        </p:txBody>
      </p:sp>
      <p:sp>
        <p:nvSpPr>
          <p:cNvPr id="106" name="フリーフォーム: 図形 105">
            <a:extLst>
              <a:ext uri="{FF2B5EF4-FFF2-40B4-BE49-F238E27FC236}">
                <a16:creationId xmlns:a16="http://schemas.microsoft.com/office/drawing/2014/main" id="{A5C3842D-0C6C-1AC4-8F4E-9E5A8F2D6F1C}"/>
              </a:ext>
            </a:extLst>
          </p:cNvPr>
          <p:cNvSpPr/>
          <p:nvPr userDrawn="1"/>
        </p:nvSpPr>
        <p:spPr>
          <a:xfrm flipV="1">
            <a:off x="9809589" y="0"/>
            <a:ext cx="2382411" cy="6858000"/>
          </a:xfrm>
          <a:custGeom>
            <a:avLst/>
            <a:gdLst>
              <a:gd name="connsiteX0" fmla="*/ 822377 w 2382411"/>
              <a:gd name="connsiteY0" fmla="*/ 0 h 6858000"/>
              <a:gd name="connsiteX1" fmla="*/ 2382411 w 2382411"/>
              <a:gd name="connsiteY1" fmla="*/ 0 h 6858000"/>
              <a:gd name="connsiteX2" fmla="*/ 2382411 w 2382411"/>
              <a:gd name="connsiteY2" fmla="*/ 6858000 h 6858000"/>
              <a:gd name="connsiteX3" fmla="*/ 1004831 w 2382411"/>
              <a:gd name="connsiteY3" fmla="*/ 6858000 h 6858000"/>
              <a:gd name="connsiteX4" fmla="*/ 1008565 w 2382411"/>
              <a:gd name="connsiteY4" fmla="*/ 6851781 h 6858000"/>
              <a:gd name="connsiteX5" fmla="*/ 1125689 w 2382411"/>
              <a:gd name="connsiteY5" fmla="*/ 6402470 h 6858000"/>
              <a:gd name="connsiteX6" fmla="*/ 618723 w 2382411"/>
              <a:gd name="connsiteY6" fmla="*/ 4628086 h 6858000"/>
              <a:gd name="connsiteX7" fmla="*/ 998947 w 2382411"/>
              <a:gd name="connsiteY7" fmla="*/ 3677525 h 6858000"/>
              <a:gd name="connsiteX8" fmla="*/ 25886 w 2382411"/>
              <a:gd name="connsiteY8" fmla="*/ 1839768 h 6858000"/>
              <a:gd name="connsiteX9" fmla="*/ 788179 w 2382411"/>
              <a:gd name="connsiteY9" fmla="*/ 4939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82411" h="6858000">
                <a:moveTo>
                  <a:pt x="822377" y="0"/>
                </a:moveTo>
                <a:lnTo>
                  <a:pt x="2382411" y="0"/>
                </a:lnTo>
                <a:lnTo>
                  <a:pt x="2382411" y="6858000"/>
                </a:lnTo>
                <a:lnTo>
                  <a:pt x="1004831" y="6858000"/>
                </a:lnTo>
                <a:lnTo>
                  <a:pt x="1008565" y="6851781"/>
                </a:lnTo>
                <a:cubicBezTo>
                  <a:pt x="1075413" y="6722209"/>
                  <a:pt x="1123953" y="6576613"/>
                  <a:pt x="1125689" y="6402470"/>
                </a:cubicBezTo>
                <a:cubicBezTo>
                  <a:pt x="1133767" y="5591576"/>
                  <a:pt x="444199" y="5374152"/>
                  <a:pt x="618723" y="4628086"/>
                </a:cubicBezTo>
                <a:cubicBezTo>
                  <a:pt x="727403" y="4163451"/>
                  <a:pt x="990707" y="4062119"/>
                  <a:pt x="998947" y="3677525"/>
                </a:cubicBezTo>
                <a:cubicBezTo>
                  <a:pt x="1015963" y="2884532"/>
                  <a:pt x="202943" y="2624777"/>
                  <a:pt x="25886" y="1839768"/>
                </a:cubicBezTo>
                <a:cubicBezTo>
                  <a:pt x="-120636" y="1190081"/>
                  <a:pt x="384849" y="612508"/>
                  <a:pt x="788179" y="4939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accent1"/>
              </a:solidFill>
            </a:endParaRPr>
          </a:p>
        </p:txBody>
      </p:sp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C5F3E123-2C67-EF07-9655-08E99671B8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5400" y="2097088"/>
            <a:ext cx="8496944" cy="2663825"/>
          </a:xfrm>
        </p:spPr>
        <p:txBody>
          <a:bodyPr anchor="ctr">
            <a:normAutofit/>
          </a:bodyPr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sz="3600">
                <a:solidFill>
                  <a:schemeClr val="tx1"/>
                </a:solidFill>
              </a:defRPr>
            </a:lvl1pPr>
          </a:lstStyle>
          <a:p>
            <a:pPr lvl="0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04192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表紙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フリーフォーム: 図形 106">
            <a:extLst>
              <a:ext uri="{FF2B5EF4-FFF2-40B4-BE49-F238E27FC236}">
                <a16:creationId xmlns:a16="http://schemas.microsoft.com/office/drawing/2014/main" id="{44BA1B0E-7DFE-DA65-9D4A-990974A2A5BB}"/>
              </a:ext>
            </a:extLst>
          </p:cNvPr>
          <p:cNvSpPr/>
          <p:nvPr userDrawn="1"/>
        </p:nvSpPr>
        <p:spPr>
          <a:xfrm flipH="1" flipV="1">
            <a:off x="1143246" y="0"/>
            <a:ext cx="2382411" cy="6858000"/>
          </a:xfrm>
          <a:custGeom>
            <a:avLst/>
            <a:gdLst>
              <a:gd name="connsiteX0" fmla="*/ 822377 w 2382411"/>
              <a:gd name="connsiteY0" fmla="*/ 0 h 6858000"/>
              <a:gd name="connsiteX1" fmla="*/ 2382411 w 2382411"/>
              <a:gd name="connsiteY1" fmla="*/ 0 h 6858000"/>
              <a:gd name="connsiteX2" fmla="*/ 2382411 w 2382411"/>
              <a:gd name="connsiteY2" fmla="*/ 6858000 h 6858000"/>
              <a:gd name="connsiteX3" fmla="*/ 1004831 w 2382411"/>
              <a:gd name="connsiteY3" fmla="*/ 6858000 h 6858000"/>
              <a:gd name="connsiteX4" fmla="*/ 1008565 w 2382411"/>
              <a:gd name="connsiteY4" fmla="*/ 6851781 h 6858000"/>
              <a:gd name="connsiteX5" fmla="*/ 1125689 w 2382411"/>
              <a:gd name="connsiteY5" fmla="*/ 6402470 h 6858000"/>
              <a:gd name="connsiteX6" fmla="*/ 618723 w 2382411"/>
              <a:gd name="connsiteY6" fmla="*/ 4628086 h 6858000"/>
              <a:gd name="connsiteX7" fmla="*/ 998947 w 2382411"/>
              <a:gd name="connsiteY7" fmla="*/ 3677525 h 6858000"/>
              <a:gd name="connsiteX8" fmla="*/ 25886 w 2382411"/>
              <a:gd name="connsiteY8" fmla="*/ 1839768 h 6858000"/>
              <a:gd name="connsiteX9" fmla="*/ 788179 w 2382411"/>
              <a:gd name="connsiteY9" fmla="*/ 4939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82411" h="6858000">
                <a:moveTo>
                  <a:pt x="822377" y="0"/>
                </a:moveTo>
                <a:lnTo>
                  <a:pt x="2382411" y="0"/>
                </a:lnTo>
                <a:lnTo>
                  <a:pt x="2382411" y="6858000"/>
                </a:lnTo>
                <a:lnTo>
                  <a:pt x="1004831" y="6858000"/>
                </a:lnTo>
                <a:lnTo>
                  <a:pt x="1008565" y="6851781"/>
                </a:lnTo>
                <a:cubicBezTo>
                  <a:pt x="1075413" y="6722209"/>
                  <a:pt x="1123953" y="6576613"/>
                  <a:pt x="1125689" y="6402470"/>
                </a:cubicBezTo>
                <a:cubicBezTo>
                  <a:pt x="1133767" y="5591576"/>
                  <a:pt x="444199" y="5374152"/>
                  <a:pt x="618723" y="4628086"/>
                </a:cubicBezTo>
                <a:cubicBezTo>
                  <a:pt x="727403" y="4163451"/>
                  <a:pt x="990707" y="4062119"/>
                  <a:pt x="998947" y="3677525"/>
                </a:cubicBezTo>
                <a:cubicBezTo>
                  <a:pt x="1015963" y="2884532"/>
                  <a:pt x="202943" y="2624777"/>
                  <a:pt x="25886" y="1839768"/>
                </a:cubicBezTo>
                <a:cubicBezTo>
                  <a:pt x="-120636" y="1190081"/>
                  <a:pt x="384849" y="612508"/>
                  <a:pt x="788179" y="49398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accent1"/>
              </a:solidFill>
            </a:endParaRPr>
          </a:p>
        </p:txBody>
      </p:sp>
      <p:sp>
        <p:nvSpPr>
          <p:cNvPr id="104" name="フリーフォーム: 図形 103">
            <a:extLst>
              <a:ext uri="{FF2B5EF4-FFF2-40B4-BE49-F238E27FC236}">
                <a16:creationId xmlns:a16="http://schemas.microsoft.com/office/drawing/2014/main" id="{7E706537-DD65-C835-53BB-8B80CD9CD438}"/>
              </a:ext>
            </a:extLst>
          </p:cNvPr>
          <p:cNvSpPr/>
          <p:nvPr userDrawn="1"/>
        </p:nvSpPr>
        <p:spPr>
          <a:xfrm flipH="1" flipV="1">
            <a:off x="571623" y="0"/>
            <a:ext cx="2382411" cy="6858000"/>
          </a:xfrm>
          <a:custGeom>
            <a:avLst/>
            <a:gdLst>
              <a:gd name="connsiteX0" fmla="*/ 822377 w 2382411"/>
              <a:gd name="connsiteY0" fmla="*/ 0 h 6858000"/>
              <a:gd name="connsiteX1" fmla="*/ 2382411 w 2382411"/>
              <a:gd name="connsiteY1" fmla="*/ 0 h 6858000"/>
              <a:gd name="connsiteX2" fmla="*/ 2382411 w 2382411"/>
              <a:gd name="connsiteY2" fmla="*/ 6858000 h 6858000"/>
              <a:gd name="connsiteX3" fmla="*/ 1004831 w 2382411"/>
              <a:gd name="connsiteY3" fmla="*/ 6858000 h 6858000"/>
              <a:gd name="connsiteX4" fmla="*/ 1008565 w 2382411"/>
              <a:gd name="connsiteY4" fmla="*/ 6851781 h 6858000"/>
              <a:gd name="connsiteX5" fmla="*/ 1125689 w 2382411"/>
              <a:gd name="connsiteY5" fmla="*/ 6402470 h 6858000"/>
              <a:gd name="connsiteX6" fmla="*/ 618723 w 2382411"/>
              <a:gd name="connsiteY6" fmla="*/ 4628086 h 6858000"/>
              <a:gd name="connsiteX7" fmla="*/ 998947 w 2382411"/>
              <a:gd name="connsiteY7" fmla="*/ 3677525 h 6858000"/>
              <a:gd name="connsiteX8" fmla="*/ 25886 w 2382411"/>
              <a:gd name="connsiteY8" fmla="*/ 1839768 h 6858000"/>
              <a:gd name="connsiteX9" fmla="*/ 788179 w 2382411"/>
              <a:gd name="connsiteY9" fmla="*/ 4939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82411" h="6858000">
                <a:moveTo>
                  <a:pt x="822377" y="0"/>
                </a:moveTo>
                <a:lnTo>
                  <a:pt x="2382411" y="0"/>
                </a:lnTo>
                <a:lnTo>
                  <a:pt x="2382411" y="6858000"/>
                </a:lnTo>
                <a:lnTo>
                  <a:pt x="1004831" y="6858000"/>
                </a:lnTo>
                <a:lnTo>
                  <a:pt x="1008565" y="6851781"/>
                </a:lnTo>
                <a:cubicBezTo>
                  <a:pt x="1075413" y="6722209"/>
                  <a:pt x="1123953" y="6576613"/>
                  <a:pt x="1125689" y="6402470"/>
                </a:cubicBezTo>
                <a:cubicBezTo>
                  <a:pt x="1133767" y="5591576"/>
                  <a:pt x="444199" y="5374152"/>
                  <a:pt x="618723" y="4628086"/>
                </a:cubicBezTo>
                <a:cubicBezTo>
                  <a:pt x="727403" y="4163451"/>
                  <a:pt x="990707" y="4062119"/>
                  <a:pt x="998947" y="3677525"/>
                </a:cubicBezTo>
                <a:cubicBezTo>
                  <a:pt x="1015963" y="2884532"/>
                  <a:pt x="202943" y="2624777"/>
                  <a:pt x="25886" y="1839768"/>
                </a:cubicBezTo>
                <a:cubicBezTo>
                  <a:pt x="-120636" y="1190081"/>
                  <a:pt x="384849" y="612508"/>
                  <a:pt x="788179" y="49398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accent1"/>
              </a:solidFill>
            </a:endParaRPr>
          </a:p>
        </p:txBody>
      </p:sp>
      <p:sp>
        <p:nvSpPr>
          <p:cNvPr id="106" name="フリーフォーム: 図形 105">
            <a:extLst>
              <a:ext uri="{FF2B5EF4-FFF2-40B4-BE49-F238E27FC236}">
                <a16:creationId xmlns:a16="http://schemas.microsoft.com/office/drawing/2014/main" id="{A5C3842D-0C6C-1AC4-8F4E-9E5A8F2D6F1C}"/>
              </a:ext>
            </a:extLst>
          </p:cNvPr>
          <p:cNvSpPr/>
          <p:nvPr userDrawn="1"/>
        </p:nvSpPr>
        <p:spPr>
          <a:xfrm flipH="1" flipV="1">
            <a:off x="0" y="0"/>
            <a:ext cx="2382411" cy="6858000"/>
          </a:xfrm>
          <a:custGeom>
            <a:avLst/>
            <a:gdLst>
              <a:gd name="connsiteX0" fmla="*/ 822377 w 2382411"/>
              <a:gd name="connsiteY0" fmla="*/ 0 h 6858000"/>
              <a:gd name="connsiteX1" fmla="*/ 2382411 w 2382411"/>
              <a:gd name="connsiteY1" fmla="*/ 0 h 6858000"/>
              <a:gd name="connsiteX2" fmla="*/ 2382411 w 2382411"/>
              <a:gd name="connsiteY2" fmla="*/ 6858000 h 6858000"/>
              <a:gd name="connsiteX3" fmla="*/ 1004831 w 2382411"/>
              <a:gd name="connsiteY3" fmla="*/ 6858000 h 6858000"/>
              <a:gd name="connsiteX4" fmla="*/ 1008565 w 2382411"/>
              <a:gd name="connsiteY4" fmla="*/ 6851781 h 6858000"/>
              <a:gd name="connsiteX5" fmla="*/ 1125689 w 2382411"/>
              <a:gd name="connsiteY5" fmla="*/ 6402470 h 6858000"/>
              <a:gd name="connsiteX6" fmla="*/ 618723 w 2382411"/>
              <a:gd name="connsiteY6" fmla="*/ 4628086 h 6858000"/>
              <a:gd name="connsiteX7" fmla="*/ 998947 w 2382411"/>
              <a:gd name="connsiteY7" fmla="*/ 3677525 h 6858000"/>
              <a:gd name="connsiteX8" fmla="*/ 25886 w 2382411"/>
              <a:gd name="connsiteY8" fmla="*/ 1839768 h 6858000"/>
              <a:gd name="connsiteX9" fmla="*/ 788179 w 2382411"/>
              <a:gd name="connsiteY9" fmla="*/ 4939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82411" h="6858000">
                <a:moveTo>
                  <a:pt x="822377" y="0"/>
                </a:moveTo>
                <a:lnTo>
                  <a:pt x="2382411" y="0"/>
                </a:lnTo>
                <a:lnTo>
                  <a:pt x="2382411" y="6858000"/>
                </a:lnTo>
                <a:lnTo>
                  <a:pt x="1004831" y="6858000"/>
                </a:lnTo>
                <a:lnTo>
                  <a:pt x="1008565" y="6851781"/>
                </a:lnTo>
                <a:cubicBezTo>
                  <a:pt x="1075413" y="6722209"/>
                  <a:pt x="1123953" y="6576613"/>
                  <a:pt x="1125689" y="6402470"/>
                </a:cubicBezTo>
                <a:cubicBezTo>
                  <a:pt x="1133767" y="5591576"/>
                  <a:pt x="444199" y="5374152"/>
                  <a:pt x="618723" y="4628086"/>
                </a:cubicBezTo>
                <a:cubicBezTo>
                  <a:pt x="727403" y="4163451"/>
                  <a:pt x="990707" y="4062119"/>
                  <a:pt x="998947" y="3677525"/>
                </a:cubicBezTo>
                <a:cubicBezTo>
                  <a:pt x="1015963" y="2884532"/>
                  <a:pt x="202943" y="2624777"/>
                  <a:pt x="25886" y="1839768"/>
                </a:cubicBezTo>
                <a:cubicBezTo>
                  <a:pt x="-120636" y="1190081"/>
                  <a:pt x="384849" y="612508"/>
                  <a:pt x="788179" y="4939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accent1"/>
              </a:solidFill>
            </a:endParaRPr>
          </a:p>
        </p:txBody>
      </p:sp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C5F3E123-2C67-EF07-9655-08E99671B8DF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3287688" y="2097088"/>
            <a:ext cx="8496944" cy="2663825"/>
          </a:xfrm>
        </p:spPr>
        <p:txBody>
          <a:bodyPr anchor="ctr">
            <a:normAutofit/>
          </a:bodyPr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sz="3600">
                <a:solidFill>
                  <a:schemeClr val="tx1"/>
                </a:solidFill>
              </a:defRPr>
            </a:lvl1pPr>
          </a:lstStyle>
          <a:p>
            <a:pPr lvl="0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42574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表紙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826C8E36-967D-3C1B-DC58-F40951909CA5}"/>
              </a:ext>
            </a:extLst>
          </p:cNvPr>
          <p:cNvSpPr/>
          <p:nvPr userDrawn="1"/>
        </p:nvSpPr>
        <p:spPr>
          <a:xfrm flipV="1">
            <a:off x="8666343" y="-9838"/>
            <a:ext cx="3525657" cy="6867838"/>
          </a:xfrm>
          <a:custGeom>
            <a:avLst/>
            <a:gdLst>
              <a:gd name="connsiteX0" fmla="*/ 1004831 w 3525657"/>
              <a:gd name="connsiteY0" fmla="*/ 6867838 h 6867838"/>
              <a:gd name="connsiteX1" fmla="*/ 1351764 w 3525657"/>
              <a:gd name="connsiteY1" fmla="*/ 6867838 h 6867838"/>
              <a:gd name="connsiteX2" fmla="*/ 2382411 w 3525657"/>
              <a:gd name="connsiteY2" fmla="*/ 6867838 h 6867838"/>
              <a:gd name="connsiteX3" fmla="*/ 3525657 w 3525657"/>
              <a:gd name="connsiteY3" fmla="*/ 6867838 h 6867838"/>
              <a:gd name="connsiteX4" fmla="*/ 3525657 w 3525657"/>
              <a:gd name="connsiteY4" fmla="*/ 0 h 6867838"/>
              <a:gd name="connsiteX5" fmla="*/ 1351764 w 3525657"/>
              <a:gd name="connsiteY5" fmla="*/ 0 h 6867838"/>
              <a:gd name="connsiteX6" fmla="*/ 1351764 w 3525657"/>
              <a:gd name="connsiteY6" fmla="*/ 9838 h 6867838"/>
              <a:gd name="connsiteX7" fmla="*/ 822377 w 3525657"/>
              <a:gd name="connsiteY7" fmla="*/ 9838 h 6867838"/>
              <a:gd name="connsiteX8" fmla="*/ 788179 w 3525657"/>
              <a:gd name="connsiteY8" fmla="*/ 59236 h 6867838"/>
              <a:gd name="connsiteX9" fmla="*/ 25886 w 3525657"/>
              <a:gd name="connsiteY9" fmla="*/ 1849606 h 6867838"/>
              <a:gd name="connsiteX10" fmla="*/ 998947 w 3525657"/>
              <a:gd name="connsiteY10" fmla="*/ 3687363 h 6867838"/>
              <a:gd name="connsiteX11" fmla="*/ 618723 w 3525657"/>
              <a:gd name="connsiteY11" fmla="*/ 4637924 h 6867838"/>
              <a:gd name="connsiteX12" fmla="*/ 1125689 w 3525657"/>
              <a:gd name="connsiteY12" fmla="*/ 6412308 h 6867838"/>
              <a:gd name="connsiteX13" fmla="*/ 1008565 w 3525657"/>
              <a:gd name="connsiteY13" fmla="*/ 6861619 h 6867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525657" h="6867838">
                <a:moveTo>
                  <a:pt x="1004831" y="6867838"/>
                </a:moveTo>
                <a:lnTo>
                  <a:pt x="1351764" y="6867838"/>
                </a:lnTo>
                <a:lnTo>
                  <a:pt x="2382411" y="6867838"/>
                </a:lnTo>
                <a:lnTo>
                  <a:pt x="3525657" y="6867838"/>
                </a:lnTo>
                <a:lnTo>
                  <a:pt x="3525657" y="0"/>
                </a:lnTo>
                <a:lnTo>
                  <a:pt x="1351764" y="0"/>
                </a:lnTo>
                <a:lnTo>
                  <a:pt x="1351764" y="9838"/>
                </a:lnTo>
                <a:lnTo>
                  <a:pt x="822377" y="9838"/>
                </a:lnTo>
                <a:lnTo>
                  <a:pt x="788179" y="59236"/>
                </a:lnTo>
                <a:cubicBezTo>
                  <a:pt x="384849" y="622346"/>
                  <a:pt x="-120636" y="1199919"/>
                  <a:pt x="25886" y="1849606"/>
                </a:cubicBezTo>
                <a:cubicBezTo>
                  <a:pt x="202943" y="2634615"/>
                  <a:pt x="1015963" y="2894370"/>
                  <a:pt x="998947" y="3687363"/>
                </a:cubicBezTo>
                <a:cubicBezTo>
                  <a:pt x="990707" y="4071957"/>
                  <a:pt x="727403" y="4173289"/>
                  <a:pt x="618723" y="4637924"/>
                </a:cubicBezTo>
                <a:cubicBezTo>
                  <a:pt x="444199" y="5383990"/>
                  <a:pt x="1133767" y="5601414"/>
                  <a:pt x="1125689" y="6412308"/>
                </a:cubicBezTo>
                <a:cubicBezTo>
                  <a:pt x="1123953" y="6586451"/>
                  <a:pt x="1075413" y="6732047"/>
                  <a:pt x="1008565" y="6861619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  <a:alpha val="64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accent1"/>
              </a:solidFill>
            </a:endParaRPr>
          </a:p>
        </p:txBody>
      </p:sp>
      <p:sp>
        <p:nvSpPr>
          <p:cNvPr id="9" name="フリーフォーム: 図形 8">
            <a:extLst>
              <a:ext uri="{FF2B5EF4-FFF2-40B4-BE49-F238E27FC236}">
                <a16:creationId xmlns:a16="http://schemas.microsoft.com/office/drawing/2014/main" id="{CD4A2C1B-A9CF-98CC-B01B-5B5144FD9E21}"/>
              </a:ext>
            </a:extLst>
          </p:cNvPr>
          <p:cNvSpPr/>
          <p:nvPr userDrawn="1"/>
        </p:nvSpPr>
        <p:spPr>
          <a:xfrm>
            <a:off x="9237967" y="-9838"/>
            <a:ext cx="2974292" cy="6867838"/>
          </a:xfrm>
          <a:custGeom>
            <a:avLst/>
            <a:gdLst>
              <a:gd name="connsiteX0" fmla="*/ 1004830 w 2974292"/>
              <a:gd name="connsiteY0" fmla="*/ 0 h 6867838"/>
              <a:gd name="connsiteX1" fmla="*/ 1407110 w 2974292"/>
              <a:gd name="connsiteY1" fmla="*/ 0 h 6867838"/>
              <a:gd name="connsiteX2" fmla="*/ 2382410 w 2974292"/>
              <a:gd name="connsiteY2" fmla="*/ 0 h 6867838"/>
              <a:gd name="connsiteX3" fmla="*/ 2974292 w 2974292"/>
              <a:gd name="connsiteY3" fmla="*/ 0 h 6867838"/>
              <a:gd name="connsiteX4" fmla="*/ 2974292 w 2974292"/>
              <a:gd name="connsiteY4" fmla="*/ 6867838 h 6867838"/>
              <a:gd name="connsiteX5" fmla="*/ 1407110 w 2974292"/>
              <a:gd name="connsiteY5" fmla="*/ 6867838 h 6867838"/>
              <a:gd name="connsiteX6" fmla="*/ 1407110 w 2974292"/>
              <a:gd name="connsiteY6" fmla="*/ 6858000 h 6867838"/>
              <a:gd name="connsiteX7" fmla="*/ 822376 w 2974292"/>
              <a:gd name="connsiteY7" fmla="*/ 6858000 h 6867838"/>
              <a:gd name="connsiteX8" fmla="*/ 788178 w 2974292"/>
              <a:gd name="connsiteY8" fmla="*/ 6808602 h 6867838"/>
              <a:gd name="connsiteX9" fmla="*/ 25885 w 2974292"/>
              <a:gd name="connsiteY9" fmla="*/ 5018232 h 6867838"/>
              <a:gd name="connsiteX10" fmla="*/ 998946 w 2974292"/>
              <a:gd name="connsiteY10" fmla="*/ 3180475 h 6867838"/>
              <a:gd name="connsiteX11" fmla="*/ 618722 w 2974292"/>
              <a:gd name="connsiteY11" fmla="*/ 2229914 h 6867838"/>
              <a:gd name="connsiteX12" fmla="*/ 1125688 w 2974292"/>
              <a:gd name="connsiteY12" fmla="*/ 455530 h 6867838"/>
              <a:gd name="connsiteX13" fmla="*/ 1008564 w 2974292"/>
              <a:gd name="connsiteY13" fmla="*/ 6219 h 6867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974292" h="6867838">
                <a:moveTo>
                  <a:pt x="1004830" y="0"/>
                </a:moveTo>
                <a:lnTo>
                  <a:pt x="1407110" y="0"/>
                </a:lnTo>
                <a:lnTo>
                  <a:pt x="2382410" y="0"/>
                </a:lnTo>
                <a:lnTo>
                  <a:pt x="2974292" y="0"/>
                </a:lnTo>
                <a:lnTo>
                  <a:pt x="2974292" y="6867838"/>
                </a:lnTo>
                <a:lnTo>
                  <a:pt x="1407110" y="6867838"/>
                </a:lnTo>
                <a:lnTo>
                  <a:pt x="1407110" y="6858000"/>
                </a:lnTo>
                <a:lnTo>
                  <a:pt x="822376" y="6858000"/>
                </a:lnTo>
                <a:lnTo>
                  <a:pt x="788178" y="6808602"/>
                </a:lnTo>
                <a:cubicBezTo>
                  <a:pt x="384848" y="6245492"/>
                  <a:pt x="-120637" y="5667919"/>
                  <a:pt x="25885" y="5018232"/>
                </a:cubicBezTo>
                <a:cubicBezTo>
                  <a:pt x="202942" y="4233223"/>
                  <a:pt x="1015962" y="3973468"/>
                  <a:pt x="998946" y="3180475"/>
                </a:cubicBezTo>
                <a:cubicBezTo>
                  <a:pt x="990706" y="2795881"/>
                  <a:pt x="727402" y="2694549"/>
                  <a:pt x="618722" y="2229914"/>
                </a:cubicBezTo>
                <a:cubicBezTo>
                  <a:pt x="444198" y="1483848"/>
                  <a:pt x="1133766" y="1266424"/>
                  <a:pt x="1125688" y="455530"/>
                </a:cubicBezTo>
                <a:cubicBezTo>
                  <a:pt x="1123952" y="281387"/>
                  <a:pt x="1075412" y="135791"/>
                  <a:pt x="1008564" y="6219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  <a:alpha val="64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accent1"/>
              </a:solidFill>
            </a:endParaRPr>
          </a:p>
        </p:txBody>
      </p:sp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C5F3E123-2C67-EF07-9655-08E99671B8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5400" y="2097088"/>
            <a:ext cx="8424936" cy="2663825"/>
          </a:xfrm>
        </p:spPr>
        <p:txBody>
          <a:bodyPr anchor="ctr">
            <a:normAutofit/>
          </a:bodyPr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sz="3600">
                <a:solidFill>
                  <a:schemeClr val="tx1"/>
                </a:solidFill>
              </a:defRPr>
            </a:lvl1pPr>
          </a:lstStyle>
          <a:p>
            <a:pPr lvl="0"/>
            <a:endParaRPr kumimoji="1" lang="ja-JP" altLang="en-US" dirty="0"/>
          </a:p>
        </p:txBody>
      </p:sp>
      <p:sp>
        <p:nvSpPr>
          <p:cNvPr id="106" name="フリーフォーム: 図形 105">
            <a:extLst>
              <a:ext uri="{FF2B5EF4-FFF2-40B4-BE49-F238E27FC236}">
                <a16:creationId xmlns:a16="http://schemas.microsoft.com/office/drawing/2014/main" id="{A5C3842D-0C6C-1AC4-8F4E-9E5A8F2D6F1C}"/>
              </a:ext>
            </a:extLst>
          </p:cNvPr>
          <p:cNvSpPr/>
          <p:nvPr userDrawn="1"/>
        </p:nvSpPr>
        <p:spPr>
          <a:xfrm flipV="1">
            <a:off x="9809589" y="-9838"/>
            <a:ext cx="2382411" cy="6858000"/>
          </a:xfrm>
          <a:custGeom>
            <a:avLst/>
            <a:gdLst>
              <a:gd name="connsiteX0" fmla="*/ 822377 w 2382411"/>
              <a:gd name="connsiteY0" fmla="*/ 0 h 6858000"/>
              <a:gd name="connsiteX1" fmla="*/ 2382411 w 2382411"/>
              <a:gd name="connsiteY1" fmla="*/ 0 h 6858000"/>
              <a:gd name="connsiteX2" fmla="*/ 2382411 w 2382411"/>
              <a:gd name="connsiteY2" fmla="*/ 6858000 h 6858000"/>
              <a:gd name="connsiteX3" fmla="*/ 1004831 w 2382411"/>
              <a:gd name="connsiteY3" fmla="*/ 6858000 h 6858000"/>
              <a:gd name="connsiteX4" fmla="*/ 1008565 w 2382411"/>
              <a:gd name="connsiteY4" fmla="*/ 6851781 h 6858000"/>
              <a:gd name="connsiteX5" fmla="*/ 1125689 w 2382411"/>
              <a:gd name="connsiteY5" fmla="*/ 6402470 h 6858000"/>
              <a:gd name="connsiteX6" fmla="*/ 618723 w 2382411"/>
              <a:gd name="connsiteY6" fmla="*/ 4628086 h 6858000"/>
              <a:gd name="connsiteX7" fmla="*/ 998947 w 2382411"/>
              <a:gd name="connsiteY7" fmla="*/ 3677525 h 6858000"/>
              <a:gd name="connsiteX8" fmla="*/ 25886 w 2382411"/>
              <a:gd name="connsiteY8" fmla="*/ 1839768 h 6858000"/>
              <a:gd name="connsiteX9" fmla="*/ 788179 w 2382411"/>
              <a:gd name="connsiteY9" fmla="*/ 4939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82411" h="6858000">
                <a:moveTo>
                  <a:pt x="822377" y="0"/>
                </a:moveTo>
                <a:lnTo>
                  <a:pt x="2382411" y="0"/>
                </a:lnTo>
                <a:lnTo>
                  <a:pt x="2382411" y="6858000"/>
                </a:lnTo>
                <a:lnTo>
                  <a:pt x="1004831" y="6858000"/>
                </a:lnTo>
                <a:lnTo>
                  <a:pt x="1008565" y="6851781"/>
                </a:lnTo>
                <a:cubicBezTo>
                  <a:pt x="1075413" y="6722209"/>
                  <a:pt x="1123953" y="6576613"/>
                  <a:pt x="1125689" y="6402470"/>
                </a:cubicBezTo>
                <a:cubicBezTo>
                  <a:pt x="1133767" y="5591576"/>
                  <a:pt x="444199" y="5374152"/>
                  <a:pt x="618723" y="4628086"/>
                </a:cubicBezTo>
                <a:cubicBezTo>
                  <a:pt x="727403" y="4163451"/>
                  <a:pt x="990707" y="4062119"/>
                  <a:pt x="998947" y="3677525"/>
                </a:cubicBezTo>
                <a:cubicBezTo>
                  <a:pt x="1015963" y="2884532"/>
                  <a:pt x="202943" y="2624777"/>
                  <a:pt x="25886" y="1839768"/>
                </a:cubicBezTo>
                <a:cubicBezTo>
                  <a:pt x="-120636" y="1190081"/>
                  <a:pt x="384849" y="612508"/>
                  <a:pt x="788179" y="49398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  <a:alpha val="64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072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B9311E-F68C-4701-8498-2CBBFCEB10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901" y="620688"/>
            <a:ext cx="11523307" cy="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>
              <a:lnSpc>
                <a:spcPct val="130000"/>
              </a:lnSpc>
              <a:spcAft>
                <a:spcPts val="600"/>
              </a:spcAft>
              <a:defRPr sz="20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目次</a:t>
            </a:r>
          </a:p>
        </p:txBody>
      </p:sp>
      <p:sp>
        <p:nvSpPr>
          <p:cNvPr id="10" name="テキスト プレースホルダー 10">
            <a:extLst>
              <a:ext uri="{FF2B5EF4-FFF2-40B4-BE49-F238E27FC236}">
                <a16:creationId xmlns:a16="http://schemas.microsoft.com/office/drawing/2014/main" id="{B232D7A6-1B18-4CC4-A924-F02DD2F66F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4773" y="1278865"/>
            <a:ext cx="4986518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20000"/>
              </a:lnSpc>
              <a:spcAft>
                <a:spcPts val="300"/>
              </a:spcAft>
              <a:buFont typeface="+mj-lt"/>
              <a:buAutoNum type="arabicPeriod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1D37A1EA-B107-467D-9EA7-A3D6FABE26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88853" y="1805677"/>
            <a:ext cx="4192438" cy="461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20000"/>
              </a:lnSpc>
              <a:spcAft>
                <a:spcPts val="3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  <p:sp>
        <p:nvSpPr>
          <p:cNvPr id="16" name="テキスト プレースホルダー 10">
            <a:extLst>
              <a:ext uri="{FF2B5EF4-FFF2-40B4-BE49-F238E27FC236}">
                <a16:creationId xmlns:a16="http://schemas.microsoft.com/office/drawing/2014/main" id="{A45A46C7-FB65-47F1-94C1-05E67F7DF2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4773" y="2466164"/>
            <a:ext cx="4986518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20000"/>
              </a:lnSpc>
              <a:spcAft>
                <a:spcPts val="300"/>
              </a:spcAft>
              <a:buFont typeface="+mj-lt"/>
              <a:buAutoNum type="arabicPeriod" startAt="2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7" name="テキスト プレースホルダー 10">
            <a:extLst>
              <a:ext uri="{FF2B5EF4-FFF2-40B4-BE49-F238E27FC236}">
                <a16:creationId xmlns:a16="http://schemas.microsoft.com/office/drawing/2014/main" id="{BDA459BE-460D-4F78-B310-CBE8E344E1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388853" y="2992976"/>
            <a:ext cx="4192438" cy="461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20000"/>
              </a:lnSpc>
              <a:spcAft>
                <a:spcPts val="3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  <p:sp>
        <p:nvSpPr>
          <p:cNvPr id="18" name="テキスト プレースホルダー 10">
            <a:extLst>
              <a:ext uri="{FF2B5EF4-FFF2-40B4-BE49-F238E27FC236}">
                <a16:creationId xmlns:a16="http://schemas.microsoft.com/office/drawing/2014/main" id="{7DFE000D-6490-4E4D-9F07-B21C1565A6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94773" y="3653463"/>
            <a:ext cx="4986518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20000"/>
              </a:lnSpc>
              <a:spcAft>
                <a:spcPts val="300"/>
              </a:spcAft>
              <a:buFont typeface="+mj-lt"/>
              <a:buAutoNum type="arabicPeriod" startAt="3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9" name="テキスト プレースホルダー 10">
            <a:extLst>
              <a:ext uri="{FF2B5EF4-FFF2-40B4-BE49-F238E27FC236}">
                <a16:creationId xmlns:a16="http://schemas.microsoft.com/office/drawing/2014/main" id="{51BD221F-7778-4158-AD40-43DC207610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88853" y="4180275"/>
            <a:ext cx="4192438" cy="461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20000"/>
              </a:lnSpc>
              <a:spcAft>
                <a:spcPts val="3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  <p:sp>
        <p:nvSpPr>
          <p:cNvPr id="20" name="テキスト プレースホルダー 10">
            <a:extLst>
              <a:ext uri="{FF2B5EF4-FFF2-40B4-BE49-F238E27FC236}">
                <a16:creationId xmlns:a16="http://schemas.microsoft.com/office/drawing/2014/main" id="{672ECA52-B525-4ECC-9C17-A9871980178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94773" y="4840761"/>
            <a:ext cx="4986518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20000"/>
              </a:lnSpc>
              <a:spcAft>
                <a:spcPts val="300"/>
              </a:spcAft>
              <a:buFont typeface="+mj-lt"/>
              <a:buAutoNum type="arabicPeriod" startAt="4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21" name="テキスト プレースホルダー 10">
            <a:extLst>
              <a:ext uri="{FF2B5EF4-FFF2-40B4-BE49-F238E27FC236}">
                <a16:creationId xmlns:a16="http://schemas.microsoft.com/office/drawing/2014/main" id="{F4E1AEC3-31B1-442D-AC49-AE954610645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88853" y="5367573"/>
            <a:ext cx="4192438" cy="461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20000"/>
              </a:lnSpc>
              <a:spcAft>
                <a:spcPts val="3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  <p:sp>
        <p:nvSpPr>
          <p:cNvPr id="23" name="テキスト プレースホルダー 10">
            <a:extLst>
              <a:ext uri="{FF2B5EF4-FFF2-40B4-BE49-F238E27FC236}">
                <a16:creationId xmlns:a16="http://schemas.microsoft.com/office/drawing/2014/main" id="{3174BAEE-3703-4FAF-9CE2-38E78FAF844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10709" y="1278865"/>
            <a:ext cx="4986518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20000"/>
              </a:lnSpc>
              <a:spcAft>
                <a:spcPts val="300"/>
              </a:spcAft>
              <a:buFont typeface="+mj-lt"/>
              <a:buAutoNum type="arabicPeriod" startAt="5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24" name="テキスト プレースホルダー 10">
            <a:extLst>
              <a:ext uri="{FF2B5EF4-FFF2-40B4-BE49-F238E27FC236}">
                <a16:creationId xmlns:a16="http://schemas.microsoft.com/office/drawing/2014/main" id="{8C0D46B9-C098-4D3C-9E08-F8230D32C2B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04789" y="1805677"/>
            <a:ext cx="4192438" cy="461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20000"/>
              </a:lnSpc>
              <a:spcAft>
                <a:spcPts val="3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  <p:sp>
        <p:nvSpPr>
          <p:cNvPr id="25" name="テキスト プレースホルダー 10">
            <a:extLst>
              <a:ext uri="{FF2B5EF4-FFF2-40B4-BE49-F238E27FC236}">
                <a16:creationId xmlns:a16="http://schemas.microsoft.com/office/drawing/2014/main" id="{D92F9985-ADEF-46FC-9E07-EDED4BBAEC7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10709" y="2466164"/>
            <a:ext cx="4986518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20000"/>
              </a:lnSpc>
              <a:spcAft>
                <a:spcPts val="300"/>
              </a:spcAft>
              <a:buFont typeface="+mj-lt"/>
              <a:buAutoNum type="arabicPeriod" startAt="6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26" name="テキスト プレースホルダー 10">
            <a:extLst>
              <a:ext uri="{FF2B5EF4-FFF2-40B4-BE49-F238E27FC236}">
                <a16:creationId xmlns:a16="http://schemas.microsoft.com/office/drawing/2014/main" id="{8DD7843F-0DD5-4CD6-8DE3-D446C4AB15A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404789" y="2992976"/>
            <a:ext cx="4192438" cy="461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20000"/>
              </a:lnSpc>
              <a:spcAft>
                <a:spcPts val="3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  <p:sp>
        <p:nvSpPr>
          <p:cNvPr id="27" name="テキスト プレースホルダー 10">
            <a:extLst>
              <a:ext uri="{FF2B5EF4-FFF2-40B4-BE49-F238E27FC236}">
                <a16:creationId xmlns:a16="http://schemas.microsoft.com/office/drawing/2014/main" id="{E3B37C08-FD62-45B5-B86A-B33221D0803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10709" y="3653463"/>
            <a:ext cx="4986518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20000"/>
              </a:lnSpc>
              <a:spcAft>
                <a:spcPts val="300"/>
              </a:spcAft>
              <a:buFont typeface="+mj-lt"/>
              <a:buAutoNum type="arabicPeriod" startAt="7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28" name="テキスト プレースホルダー 10">
            <a:extLst>
              <a:ext uri="{FF2B5EF4-FFF2-40B4-BE49-F238E27FC236}">
                <a16:creationId xmlns:a16="http://schemas.microsoft.com/office/drawing/2014/main" id="{1D15F835-CF97-486F-9613-085CA72CEF4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404789" y="4180275"/>
            <a:ext cx="4192438" cy="461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20000"/>
              </a:lnSpc>
              <a:spcAft>
                <a:spcPts val="3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  <p:sp>
        <p:nvSpPr>
          <p:cNvPr id="29" name="テキスト プレースホルダー 10">
            <a:extLst>
              <a:ext uri="{FF2B5EF4-FFF2-40B4-BE49-F238E27FC236}">
                <a16:creationId xmlns:a16="http://schemas.microsoft.com/office/drawing/2014/main" id="{F2C67A84-1E01-4055-BF39-C79D941903C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10709" y="4840761"/>
            <a:ext cx="4986518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20000"/>
              </a:lnSpc>
              <a:spcAft>
                <a:spcPts val="300"/>
              </a:spcAft>
              <a:buFont typeface="+mj-lt"/>
              <a:buAutoNum type="arabicPeriod" startAt="8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30" name="テキスト プレースホルダー 10">
            <a:extLst>
              <a:ext uri="{FF2B5EF4-FFF2-40B4-BE49-F238E27FC236}">
                <a16:creationId xmlns:a16="http://schemas.microsoft.com/office/drawing/2014/main" id="{1B3DBAB1-B141-4CC4-94E2-42A670EE266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404789" y="5367573"/>
            <a:ext cx="4192438" cy="461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20000"/>
              </a:lnSpc>
              <a:spcAft>
                <a:spcPts val="3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090688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FA1F23-6C64-4634-BF2B-AD12EC7D6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01" y="620688"/>
            <a:ext cx="11523307" cy="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>
              <a:lnSpc>
                <a:spcPct val="120000"/>
              </a:lnSpc>
              <a:spcAft>
                <a:spcPts val="300"/>
              </a:spcAft>
              <a:defRPr sz="20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E9887C17-8B9A-47B2-A86D-F88C21E78B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137" y="1035050"/>
            <a:ext cx="10471727" cy="1130169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83644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1649C9-9451-4710-BBC0-5FF3CE6D4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01" y="620688"/>
            <a:ext cx="11523307" cy="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>
              <a:lnSpc>
                <a:spcPct val="120000"/>
              </a:lnSpc>
              <a:spcAft>
                <a:spcPts val="300"/>
              </a:spcAft>
              <a:defRPr sz="20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6" name="図プレースホルダー 5">
            <a:extLst>
              <a:ext uri="{FF2B5EF4-FFF2-40B4-BE49-F238E27FC236}">
                <a16:creationId xmlns:a16="http://schemas.microsoft.com/office/drawing/2014/main" id="{FF6A98DB-7857-49EC-A11C-28A89071BE3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0137" y="2570511"/>
            <a:ext cx="1575693" cy="1575692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spcAft>
                <a:spcPts val="300"/>
              </a:spcAft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61643707-E63B-4303-BBA0-B3E17558AD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137" y="1035050"/>
            <a:ext cx="10471727" cy="1130169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en-US" altLang="ja-JP" dirty="0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39EC3E60-5FF9-43F9-8AD4-F033A66A8E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09838" y="2561255"/>
            <a:ext cx="3451225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spcAft>
                <a:spcPts val="300"/>
              </a:spcAft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2" name="テキスト プレースホルダー 10">
            <a:extLst>
              <a:ext uri="{FF2B5EF4-FFF2-40B4-BE49-F238E27FC236}">
                <a16:creationId xmlns:a16="http://schemas.microsoft.com/office/drawing/2014/main" id="{5ED937E5-48EC-4A82-B3AA-E9FC891BD4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09838" y="3079750"/>
            <a:ext cx="3451225" cy="1056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20000"/>
              </a:lnSpc>
              <a:spcAft>
                <a:spcPts val="3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3" name="図プレースホルダー 5">
            <a:extLst>
              <a:ext uri="{FF2B5EF4-FFF2-40B4-BE49-F238E27FC236}">
                <a16:creationId xmlns:a16="http://schemas.microsoft.com/office/drawing/2014/main" id="{F368B07E-D19D-4FD9-B132-3AF05B9CBD6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60137" y="4551495"/>
            <a:ext cx="1575693" cy="1575692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spcAft>
                <a:spcPts val="300"/>
              </a:spcAft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14" name="テキスト プレースホルダー 10">
            <a:extLst>
              <a:ext uri="{FF2B5EF4-FFF2-40B4-BE49-F238E27FC236}">
                <a16:creationId xmlns:a16="http://schemas.microsoft.com/office/drawing/2014/main" id="{EA776627-E2E3-4A45-BFBB-46BB399FF53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509838" y="4552255"/>
            <a:ext cx="3451225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spcAft>
                <a:spcPts val="300"/>
              </a:spcAft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5" name="テキスト プレースホルダー 10">
            <a:extLst>
              <a:ext uri="{FF2B5EF4-FFF2-40B4-BE49-F238E27FC236}">
                <a16:creationId xmlns:a16="http://schemas.microsoft.com/office/drawing/2014/main" id="{2B8986B2-EC3B-4774-A78B-4174DB6AE6F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509838" y="5070750"/>
            <a:ext cx="3451225" cy="1056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20000"/>
              </a:lnSpc>
              <a:spcAft>
                <a:spcPts val="3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6" name="図プレースホルダー 5">
            <a:extLst>
              <a:ext uri="{FF2B5EF4-FFF2-40B4-BE49-F238E27FC236}">
                <a16:creationId xmlns:a16="http://schemas.microsoft.com/office/drawing/2014/main" id="{C1F940A7-7255-42E4-A9AD-2018D8DC615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99884" y="2570511"/>
            <a:ext cx="1575693" cy="1575692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spcAft>
                <a:spcPts val="300"/>
              </a:spcAft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17" name="テキスト プレースホルダー 10">
            <a:extLst>
              <a:ext uri="{FF2B5EF4-FFF2-40B4-BE49-F238E27FC236}">
                <a16:creationId xmlns:a16="http://schemas.microsoft.com/office/drawing/2014/main" id="{9533D2B4-C674-46B8-8FCA-13D1DA479AA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949585" y="2561255"/>
            <a:ext cx="3451225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spcAft>
                <a:spcPts val="300"/>
              </a:spcAft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8" name="テキスト プレースホルダー 10">
            <a:extLst>
              <a:ext uri="{FF2B5EF4-FFF2-40B4-BE49-F238E27FC236}">
                <a16:creationId xmlns:a16="http://schemas.microsoft.com/office/drawing/2014/main" id="{A1C4A968-9834-4D2F-9D2C-2BE825D8D50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949585" y="3079750"/>
            <a:ext cx="3451225" cy="1056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20000"/>
              </a:lnSpc>
              <a:spcAft>
                <a:spcPts val="3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9" name="図プレースホルダー 5">
            <a:extLst>
              <a:ext uri="{FF2B5EF4-FFF2-40B4-BE49-F238E27FC236}">
                <a16:creationId xmlns:a16="http://schemas.microsoft.com/office/drawing/2014/main" id="{C1A95DD1-3B80-4F92-BD21-822E9638A63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99884" y="4551495"/>
            <a:ext cx="1575693" cy="1575692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spcAft>
                <a:spcPts val="300"/>
              </a:spcAft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20" name="テキスト プレースホルダー 10">
            <a:extLst>
              <a:ext uri="{FF2B5EF4-FFF2-40B4-BE49-F238E27FC236}">
                <a16:creationId xmlns:a16="http://schemas.microsoft.com/office/drawing/2014/main" id="{8A087231-1587-4E2B-8255-4BFC170F3FB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949585" y="4552255"/>
            <a:ext cx="3451225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spcAft>
                <a:spcPts val="300"/>
              </a:spcAft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21" name="テキスト プレースホルダー 10">
            <a:extLst>
              <a:ext uri="{FF2B5EF4-FFF2-40B4-BE49-F238E27FC236}">
                <a16:creationId xmlns:a16="http://schemas.microsoft.com/office/drawing/2014/main" id="{400C5617-C855-4741-879A-0DBA54454F3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949585" y="5070750"/>
            <a:ext cx="3451225" cy="1056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20000"/>
              </a:lnSpc>
              <a:spcAft>
                <a:spcPts val="3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145532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92A83B-8B89-40B4-BA95-178BFBB59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01" y="620688"/>
            <a:ext cx="11523307" cy="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>
              <a:lnSpc>
                <a:spcPct val="120000"/>
              </a:lnSpc>
              <a:spcAft>
                <a:spcPts val="300"/>
              </a:spcAft>
              <a:defRPr sz="20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903257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92A83B-8B89-40B4-BA95-178BFBB59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365126"/>
            <a:ext cx="12192000" cy="365125"/>
          </a:xfrm>
          <a:prstGeom prst="rect">
            <a:avLst/>
          </a:prstGeom>
          <a:ln>
            <a:noFill/>
          </a:ln>
        </p:spPr>
        <p:txBody>
          <a:bodyPr lIns="216000" tIns="72000" rIns="216000" bIns="72000" anchor="ctr"/>
          <a:lstStyle>
            <a:lvl1pPr>
              <a:lnSpc>
                <a:spcPct val="120000"/>
              </a:lnSpc>
              <a:spcAft>
                <a:spcPts val="300"/>
              </a:spcAft>
              <a:defRPr sz="20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178F0D8D-D645-581F-360E-ECAF126FB5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44450"/>
            <a:ext cx="12191223" cy="320675"/>
          </a:xfrm>
        </p:spPr>
        <p:txBody>
          <a:bodyPr lIns="216000" tIns="72000" rIns="216000" bIns="72000" anchor="ctr">
            <a:normAutofit/>
          </a:bodyPr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897B4945-C808-E480-EA09-7721F1CD51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30441"/>
            <a:ext cx="12192000" cy="892149"/>
          </a:xfrm>
          <a:solidFill>
            <a:schemeClr val="bg1">
              <a:lumMod val="95000"/>
            </a:schemeClr>
          </a:solidFill>
        </p:spPr>
        <p:txBody>
          <a:bodyPr lIns="216000" tIns="72000" rIns="216000" bIns="72000" anchor="ctr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/>
            </a:lvl1pPr>
          </a:lstStyle>
          <a:p>
            <a:pPr lvl="0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810321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92A83B-8B89-40B4-BA95-178BFBB59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365126"/>
            <a:ext cx="12192000" cy="365125"/>
          </a:xfrm>
          <a:prstGeom prst="rect">
            <a:avLst/>
          </a:prstGeom>
          <a:ln>
            <a:noFill/>
          </a:ln>
        </p:spPr>
        <p:txBody>
          <a:bodyPr lIns="216000" tIns="72000" rIns="216000" bIns="72000" anchor="ctr"/>
          <a:lstStyle>
            <a:lvl1pPr>
              <a:lnSpc>
                <a:spcPct val="120000"/>
              </a:lnSpc>
              <a:spcAft>
                <a:spcPts val="300"/>
              </a:spcAft>
              <a:defRPr sz="20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178F0D8D-D645-581F-360E-ECAF126FB5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44450"/>
            <a:ext cx="12191223" cy="320675"/>
          </a:xfrm>
        </p:spPr>
        <p:txBody>
          <a:bodyPr lIns="216000" tIns="72000" rIns="216000" bIns="72000" anchor="ctr">
            <a:normAutofit/>
          </a:bodyPr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897B4945-C808-E480-EA09-7721F1CD51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19478"/>
            <a:ext cx="12192000" cy="737314"/>
          </a:xfrm>
          <a:noFill/>
        </p:spPr>
        <p:txBody>
          <a:bodyPr lIns="216000" tIns="72000" rIns="216000" bIns="72000" anchor="ctr"/>
          <a:lstStyle>
            <a:lvl1pPr algn="ctr">
              <a:lnSpc>
                <a:spcPct val="12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1pPr>
          </a:lstStyle>
          <a:p>
            <a:pPr lvl="0"/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FB576A7-DCB3-3932-8B22-7FE0B79E17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1628290"/>
            <a:ext cx="12192000" cy="539539"/>
          </a:xfrm>
          <a:ln>
            <a:noFill/>
          </a:ln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spcAft>
                <a:spcPts val="300"/>
              </a:spcAft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73111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2FB4DB5-4780-8345-F7EA-2C3C959F2DB7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592A83B-8B89-40B4-BA95-178BFBB59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365126"/>
            <a:ext cx="12192000" cy="365125"/>
          </a:xfrm>
          <a:prstGeom prst="rect">
            <a:avLst/>
          </a:prstGeom>
          <a:ln>
            <a:noFill/>
          </a:ln>
        </p:spPr>
        <p:txBody>
          <a:bodyPr lIns="216000" tIns="72000" rIns="216000" bIns="72000" anchor="ctr"/>
          <a:lstStyle>
            <a:lvl1pPr>
              <a:lnSpc>
                <a:spcPct val="120000"/>
              </a:lnSpc>
              <a:spcAft>
                <a:spcPts val="300"/>
              </a:spcAft>
              <a:defRPr sz="20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178F0D8D-D645-581F-360E-ECAF126FB5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44450"/>
            <a:ext cx="12191223" cy="320675"/>
          </a:xfrm>
        </p:spPr>
        <p:txBody>
          <a:bodyPr lIns="216000" tIns="72000" rIns="216000" bIns="72000" anchor="ctr">
            <a:normAutofit/>
          </a:bodyPr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9463836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92A83B-8B89-40B4-BA95-178BFBB59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36" y="102334"/>
            <a:ext cx="11523307" cy="302330"/>
          </a:xfrm>
          <a:custGeom>
            <a:avLst/>
            <a:gdLst>
              <a:gd name="connsiteX0" fmla="*/ 11523307 w 11523307"/>
              <a:gd name="connsiteY0" fmla="*/ 648072 h 648072"/>
              <a:gd name="connsiteX1" fmla="*/ 0 w 11523307"/>
              <a:gd name="connsiteY1" fmla="*/ 648066 h 648072"/>
              <a:gd name="connsiteX2" fmla="*/ 0 w 11523307"/>
              <a:gd name="connsiteY2" fmla="*/ 6 h 648072"/>
              <a:gd name="connsiteX3" fmla="*/ 11523307 w 11523307"/>
              <a:gd name="connsiteY3" fmla="*/ 0 h 648072"/>
              <a:gd name="connsiteX4" fmla="*/ 11523307 w 11523307"/>
              <a:gd name="connsiteY4" fmla="*/ 648072 h 648072"/>
              <a:gd name="connsiteX0" fmla="*/ 11523307 w 11523307"/>
              <a:gd name="connsiteY0" fmla="*/ 648072 h 648072"/>
              <a:gd name="connsiteX1" fmla="*/ 0 w 11523307"/>
              <a:gd name="connsiteY1" fmla="*/ 648066 h 648072"/>
              <a:gd name="connsiteX2" fmla="*/ 0 w 11523307"/>
              <a:gd name="connsiteY2" fmla="*/ 6 h 648072"/>
              <a:gd name="connsiteX3" fmla="*/ 11523307 w 11523307"/>
              <a:gd name="connsiteY3" fmla="*/ 0 h 648072"/>
              <a:gd name="connsiteX0" fmla="*/ 11523307 w 11523307"/>
              <a:gd name="connsiteY0" fmla="*/ 648072 h 648072"/>
              <a:gd name="connsiteX1" fmla="*/ 0 w 11523307"/>
              <a:gd name="connsiteY1" fmla="*/ 648066 h 648072"/>
              <a:gd name="connsiteX2" fmla="*/ 0 w 11523307"/>
              <a:gd name="connsiteY2" fmla="*/ 6 h 648072"/>
              <a:gd name="connsiteX3" fmla="*/ 11523307 w 11523307"/>
              <a:gd name="connsiteY3" fmla="*/ 0 h 648072"/>
              <a:gd name="connsiteX4" fmla="*/ 11523307 w 11523307"/>
              <a:gd name="connsiteY4" fmla="*/ 648072 h 648072"/>
              <a:gd name="connsiteX0" fmla="*/ 11523307 w 11523307"/>
              <a:gd name="connsiteY0" fmla="*/ 648072 h 648072"/>
              <a:gd name="connsiteX1" fmla="*/ 0 w 11523307"/>
              <a:gd name="connsiteY1" fmla="*/ 648066 h 648072"/>
              <a:gd name="connsiteX2" fmla="*/ 0 w 11523307"/>
              <a:gd name="connsiteY2" fmla="*/ 6 h 648072"/>
              <a:gd name="connsiteX0" fmla="*/ 11523307 w 11523307"/>
              <a:gd name="connsiteY0" fmla="*/ 648072 h 648072"/>
              <a:gd name="connsiteX1" fmla="*/ 0 w 11523307"/>
              <a:gd name="connsiteY1" fmla="*/ 648066 h 648072"/>
              <a:gd name="connsiteX2" fmla="*/ 0 w 11523307"/>
              <a:gd name="connsiteY2" fmla="*/ 6 h 648072"/>
              <a:gd name="connsiteX3" fmla="*/ 11523307 w 11523307"/>
              <a:gd name="connsiteY3" fmla="*/ 0 h 648072"/>
              <a:gd name="connsiteX4" fmla="*/ 11523307 w 11523307"/>
              <a:gd name="connsiteY4" fmla="*/ 648072 h 648072"/>
              <a:gd name="connsiteX0" fmla="*/ 0 w 11523307"/>
              <a:gd name="connsiteY0" fmla="*/ 648066 h 648072"/>
              <a:gd name="connsiteX1" fmla="*/ 0 w 11523307"/>
              <a:gd name="connsiteY1" fmla="*/ 6 h 648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523307" h="648072" stroke="0" extrusionOk="0">
                <a:moveTo>
                  <a:pt x="11523307" y="648072"/>
                </a:moveTo>
                <a:lnTo>
                  <a:pt x="0" y="648066"/>
                </a:lnTo>
                <a:lnTo>
                  <a:pt x="0" y="6"/>
                </a:lnTo>
                <a:cubicBezTo>
                  <a:pt x="0" y="3"/>
                  <a:pt x="5159160" y="0"/>
                  <a:pt x="11523307" y="0"/>
                </a:cubicBezTo>
                <a:lnTo>
                  <a:pt x="11523307" y="648072"/>
                </a:lnTo>
                <a:close/>
              </a:path>
              <a:path w="11523307" h="648072" fill="none">
                <a:moveTo>
                  <a:pt x="0" y="648066"/>
                </a:moveTo>
                <a:lnTo>
                  <a:pt x="0" y="6"/>
                </a:lnTo>
              </a:path>
            </a:pathLst>
          </a:custGeom>
          <a:ln w="76200">
            <a:solidFill>
              <a:schemeClr val="tx1"/>
            </a:solidFill>
          </a:ln>
        </p:spPr>
        <p:txBody>
          <a:bodyPr lIns="180000" anchor="ctr"/>
          <a:lstStyle>
            <a:lvl1pPr>
              <a:lnSpc>
                <a:spcPct val="120000"/>
              </a:lnSpc>
              <a:spcAft>
                <a:spcPts val="300"/>
              </a:spcAft>
              <a:defRPr sz="14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0625454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544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901" y="620688"/>
            <a:ext cx="11523307" cy="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901" y="1124744"/>
            <a:ext cx="11523307" cy="50479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03490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8" r:id="rId2"/>
    <p:sldLayoutId id="2147483704" r:id="rId3"/>
    <p:sldLayoutId id="2147483699" r:id="rId4"/>
    <p:sldLayoutId id="2147483701" r:id="rId5"/>
    <p:sldLayoutId id="2147483700" r:id="rId6"/>
    <p:sldLayoutId id="2147483692" r:id="rId7"/>
    <p:sldLayoutId id="2147483693" r:id="rId8"/>
    <p:sldLayoutId id="2147483689" r:id="rId9"/>
    <p:sldLayoutId id="2147483691" r:id="rId10"/>
    <p:sldLayoutId id="2147483694" r:id="rId11"/>
    <p:sldLayoutId id="2147483703" r:id="rId12"/>
    <p:sldLayoutId id="2147483702" r:id="rId13"/>
    <p:sldLayoutId id="2147483697" r:id="rId14"/>
    <p:sldLayoutId id="2147483696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000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300"/>
        </a:spcAft>
        <a:buFont typeface="+mj-lt"/>
        <a:buNone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4065">
          <p15:clr>
            <a:srgbClr val="F26B43"/>
          </p15:clr>
        </p15:guide>
        <p15:guide id="6" orient="horz" pos="39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E35932-8827-4A8A-A11F-B3AAE7338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713" y="2420888"/>
            <a:ext cx="7870575" cy="0"/>
          </a:xfrm>
        </p:spPr>
        <p:txBody>
          <a:bodyPr bIns="360000"/>
          <a:lstStyle/>
          <a:p>
            <a:r>
              <a:rPr kumimoji="1" lang="ja-JP" altLang="en-US" sz="2000" dirty="0"/>
              <a:t>プレゼン資料</a:t>
            </a:r>
            <a:r>
              <a:rPr lang="ja-JP" altLang="en-US" sz="2000" dirty="0"/>
              <a:t>の作成で使える</a:t>
            </a:r>
            <a:br>
              <a:rPr lang="en-US" altLang="ja-JP" dirty="0"/>
            </a:br>
            <a:r>
              <a:rPr lang="ja-JP" altLang="en-US" dirty="0"/>
              <a:t>削減表現のテンプレート②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EB05169-A1B2-413C-B27C-4C21FF83DB6B}"/>
              </a:ext>
            </a:extLst>
          </p:cNvPr>
          <p:cNvSpPr txBox="1"/>
          <p:nvPr/>
        </p:nvSpPr>
        <p:spPr>
          <a:xfrm>
            <a:off x="4531894" y="3962737"/>
            <a:ext cx="3128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dirty="0"/>
              <a:t>https://raku-pre.com/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EFEFD9C-FB23-4498-BEAD-D4D60EB86C15}"/>
              </a:ext>
            </a:extLst>
          </p:cNvPr>
          <p:cNvSpPr txBox="1"/>
          <p:nvPr/>
        </p:nvSpPr>
        <p:spPr>
          <a:xfrm>
            <a:off x="2166109" y="4389310"/>
            <a:ext cx="7524836" cy="2296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ja-JP" altLang="en-US" sz="1200" dirty="0">
                <a:latin typeface="+mn-ea"/>
              </a:rPr>
              <a:t>本ファイルのスライドは個人・商用目的ともに無料でご自由に利用いただけます。</a:t>
            </a:r>
            <a:br>
              <a:rPr kumimoji="1" lang="en-US" altLang="ja-JP" sz="1200" dirty="0">
                <a:latin typeface="+mn-ea"/>
              </a:rPr>
            </a:br>
            <a:r>
              <a:rPr kumimoji="1" lang="ja-JP" altLang="en-US" sz="1200" dirty="0">
                <a:latin typeface="+mn-ea"/>
              </a:rPr>
              <a:t>また、カスタマイズもご自由にいただけます。</a:t>
            </a:r>
            <a:endParaRPr kumimoji="1" lang="en-US" altLang="ja-JP" sz="1200" dirty="0">
              <a:latin typeface="+mn-ea"/>
            </a:endParaRPr>
          </a:p>
          <a:p>
            <a:pPr marL="285750" indent="-285750" algn="l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ja-JP" altLang="en-US" sz="1200" dirty="0">
                <a:latin typeface="+mn-ea"/>
              </a:rPr>
              <a:t>本ファイルは参考資料であり、掲載してる企業、サービス、アンケート結果等は実在しておりません。</a:t>
            </a:r>
            <a:endParaRPr kumimoji="1" lang="en-US" altLang="ja-JP" sz="1200" dirty="0">
              <a:latin typeface="+mn-ea"/>
            </a:endParaRPr>
          </a:p>
          <a:p>
            <a:pPr marL="285750" indent="-285750" algn="l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ja-JP" altLang="en-US" sz="1200" dirty="0">
                <a:latin typeface="+mn-ea"/>
              </a:rPr>
              <a:t>著作権はラクプレが保有しているため、本ファイル自体を再配布したり、販売することはできません。</a:t>
            </a:r>
            <a:endParaRPr kumimoji="1" lang="en-US" altLang="ja-JP" sz="1200" dirty="0">
              <a:latin typeface="+mn-ea"/>
            </a:endParaRPr>
          </a:p>
          <a:p>
            <a:pPr marL="285750" indent="-285750" algn="l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ja-JP" altLang="en-US" sz="1200" dirty="0">
                <a:latin typeface="+mn-ea"/>
              </a:rPr>
              <a:t>上記通り、本ファイル自体の商用を目的とした大量の再配布は、原則禁止させていただいております。</a:t>
            </a:r>
            <a:br>
              <a:rPr kumimoji="1" lang="en-US" altLang="ja-JP" sz="1200" dirty="0">
                <a:latin typeface="+mn-ea"/>
              </a:rPr>
            </a:br>
            <a:r>
              <a:rPr kumimoji="1" lang="ja-JP" altLang="en-US" sz="1200" dirty="0">
                <a:latin typeface="+mn-ea"/>
              </a:rPr>
              <a:t>再配布をご検討の際には、サイト内のお問い合わせフォーム（</a:t>
            </a:r>
            <a:r>
              <a:rPr kumimoji="1" lang="en-US" altLang="ja-JP" sz="1200" dirty="0">
                <a:latin typeface="+mn-ea"/>
              </a:rPr>
              <a:t>https://raku-pre.com/contact/</a:t>
            </a:r>
            <a:r>
              <a:rPr kumimoji="1" lang="ja-JP" altLang="en-US" sz="1200" dirty="0">
                <a:latin typeface="+mn-ea"/>
              </a:rPr>
              <a:t>）</a:t>
            </a:r>
            <a:br>
              <a:rPr kumimoji="1" lang="en-US" altLang="ja-JP" sz="1200" dirty="0">
                <a:latin typeface="+mn-ea"/>
              </a:rPr>
            </a:br>
            <a:r>
              <a:rPr kumimoji="1" lang="ja-JP" altLang="en-US" sz="1200" dirty="0">
                <a:latin typeface="+mn-ea"/>
              </a:rPr>
              <a:t>よりご連絡いただきますようお願いいたします。</a:t>
            </a:r>
            <a:endParaRPr kumimoji="1" lang="en-US" altLang="ja-JP" sz="1200" dirty="0">
              <a:latin typeface="+mn-ea"/>
            </a:endParaRPr>
          </a:p>
          <a:p>
            <a:pPr marL="285750" indent="-28575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+mn-ea"/>
                <a:cs typeface="+mn-cs"/>
              </a:rPr>
              <a:t>フリー素材の画像は一部差し換え、削除しています。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084C629-13AD-6AB3-E281-9A2A7589B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259" y="2460943"/>
            <a:ext cx="4921483" cy="193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430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717AE-41EA-C246-F45E-E08D5ED81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D4DD164-A335-C810-96FC-29F8AB3D6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サービス導入効果　～コア業務へのリソースシフト実現～</a:t>
            </a:r>
          </a:p>
        </p:txBody>
      </p:sp>
      <p:sp>
        <p:nvSpPr>
          <p:cNvPr id="42" name="テキスト プレースホルダー 41">
            <a:extLst>
              <a:ext uri="{FF2B5EF4-FFF2-40B4-BE49-F238E27FC236}">
                <a16:creationId xmlns:a16="http://schemas.microsoft.com/office/drawing/2014/main" id="{B97853CF-1F52-3472-C13D-E07778AD8A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901" y="750901"/>
            <a:ext cx="11523307" cy="834736"/>
          </a:xfrm>
        </p:spPr>
        <p:txBody>
          <a:bodyPr/>
          <a:lstStyle/>
          <a:p>
            <a:r>
              <a:rPr lang="en-US" altLang="ja-JP" dirty="0"/>
              <a:t>AI</a:t>
            </a:r>
            <a:r>
              <a:rPr lang="ja-JP" altLang="en-US" dirty="0"/>
              <a:t>活用した</a:t>
            </a:r>
            <a:r>
              <a:rPr lang="en-US" altLang="ja-JP" dirty="0"/>
              <a:t>BPO</a:t>
            </a:r>
            <a:r>
              <a:rPr lang="ja-JP" altLang="en-US" dirty="0"/>
              <a:t>により、コスト・期間を圧縮しつつ、コア業務へ集中できる業務運用を実現します。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6BA732A-0961-49A3-BAA4-E4B507B60540}"/>
              </a:ext>
            </a:extLst>
          </p:cNvPr>
          <p:cNvSpPr/>
          <p:nvPr/>
        </p:nvSpPr>
        <p:spPr>
          <a:xfrm>
            <a:off x="2387000" y="2437191"/>
            <a:ext cx="2088232" cy="432048"/>
          </a:xfrm>
          <a:prstGeom prst="rect">
            <a:avLst/>
          </a:prstGeom>
          <a:solidFill>
            <a:schemeClr val="bg1"/>
          </a:solidFill>
          <a:ln w="19050" cap="rnd">
            <a:solidFill>
              <a:schemeClr val="bg1">
                <a:lumMod val="50000"/>
              </a:schemeClr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bg1">
                    <a:lumMod val="50000"/>
                  </a:schemeClr>
                </a:solidFill>
              </a:rPr>
              <a:t>商品企画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3C49C06-2E3F-E3DF-84F3-F323DF98F743}"/>
              </a:ext>
            </a:extLst>
          </p:cNvPr>
          <p:cNvSpPr/>
          <p:nvPr/>
        </p:nvSpPr>
        <p:spPr>
          <a:xfrm>
            <a:off x="2387000" y="3798123"/>
            <a:ext cx="2088232" cy="432048"/>
          </a:xfrm>
          <a:prstGeom prst="rect">
            <a:avLst/>
          </a:prstGeom>
          <a:solidFill>
            <a:schemeClr val="bg1"/>
          </a:solidFill>
          <a:ln w="19050" cap="rnd">
            <a:solidFill>
              <a:schemeClr val="bg1">
                <a:lumMod val="50000"/>
              </a:schemeClr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bg1">
                    <a:lumMod val="50000"/>
                  </a:schemeClr>
                </a:solidFill>
              </a:rPr>
              <a:t>製造（仕入れ）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29A16CF-725C-8642-678E-0747ABB72E6E}"/>
              </a:ext>
            </a:extLst>
          </p:cNvPr>
          <p:cNvSpPr/>
          <p:nvPr/>
        </p:nvSpPr>
        <p:spPr>
          <a:xfrm>
            <a:off x="2387000" y="5839523"/>
            <a:ext cx="2088232" cy="432048"/>
          </a:xfrm>
          <a:prstGeom prst="rect">
            <a:avLst/>
          </a:prstGeom>
          <a:solidFill>
            <a:schemeClr val="bg1"/>
          </a:solidFill>
          <a:ln w="19050" cap="rnd">
            <a:solidFill>
              <a:schemeClr val="bg1">
                <a:lumMod val="50000"/>
              </a:schemeClr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bg1">
                    <a:lumMod val="50000"/>
                  </a:schemeClr>
                </a:solidFill>
              </a:rPr>
              <a:t>出荷・配送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F32F6DA-FF55-0028-D3E7-16CADCC090D8}"/>
              </a:ext>
            </a:extLst>
          </p:cNvPr>
          <p:cNvSpPr/>
          <p:nvPr/>
        </p:nvSpPr>
        <p:spPr>
          <a:xfrm>
            <a:off x="2387000" y="3117657"/>
            <a:ext cx="2088232" cy="432048"/>
          </a:xfrm>
          <a:prstGeom prst="rect">
            <a:avLst/>
          </a:prstGeom>
          <a:solidFill>
            <a:schemeClr val="bg1"/>
          </a:solidFill>
          <a:ln w="19050" cap="rnd">
            <a:solidFill>
              <a:schemeClr val="bg1">
                <a:lumMod val="50000"/>
              </a:schemeClr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bg1">
                    <a:lumMod val="50000"/>
                  </a:schemeClr>
                </a:solidFill>
              </a:rPr>
              <a:t>サンプリング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1FDA887-F5AE-7D2F-D0A7-F34FC61EC1E7}"/>
              </a:ext>
            </a:extLst>
          </p:cNvPr>
          <p:cNvSpPr/>
          <p:nvPr/>
        </p:nvSpPr>
        <p:spPr>
          <a:xfrm>
            <a:off x="2387000" y="4478589"/>
            <a:ext cx="2088232" cy="432048"/>
          </a:xfrm>
          <a:prstGeom prst="rect">
            <a:avLst/>
          </a:prstGeom>
          <a:solidFill>
            <a:schemeClr val="bg1"/>
          </a:solidFill>
          <a:ln w="19050" cap="rnd">
            <a:solidFill>
              <a:schemeClr val="bg1">
                <a:lumMod val="50000"/>
              </a:schemeClr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bg1">
                    <a:lumMod val="50000"/>
                  </a:schemeClr>
                </a:solidFill>
              </a:rPr>
              <a:t>サイト更新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7D57631B-0ECA-AB89-9B75-7C7FD6CC6B24}"/>
              </a:ext>
            </a:extLst>
          </p:cNvPr>
          <p:cNvSpPr/>
          <p:nvPr/>
        </p:nvSpPr>
        <p:spPr>
          <a:xfrm>
            <a:off x="2387000" y="5159055"/>
            <a:ext cx="2088232" cy="432048"/>
          </a:xfrm>
          <a:prstGeom prst="rect">
            <a:avLst/>
          </a:prstGeom>
          <a:solidFill>
            <a:schemeClr val="bg1"/>
          </a:solidFill>
          <a:ln w="19050" cap="rnd">
            <a:solidFill>
              <a:schemeClr val="bg1">
                <a:lumMod val="50000"/>
              </a:schemeClr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bg1">
                    <a:lumMod val="50000"/>
                  </a:schemeClr>
                </a:solidFill>
              </a:rPr>
              <a:t>受注処理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C246DEA-A928-4AE4-D756-8EEBAA0C0B83}"/>
              </a:ext>
            </a:extLst>
          </p:cNvPr>
          <p:cNvSpPr/>
          <p:nvPr/>
        </p:nvSpPr>
        <p:spPr>
          <a:xfrm>
            <a:off x="4705694" y="2437191"/>
            <a:ext cx="2779437" cy="432048"/>
          </a:xfrm>
          <a:prstGeom prst="rect">
            <a:avLst/>
          </a:prstGeom>
          <a:solidFill>
            <a:schemeClr val="bg1"/>
          </a:solidFill>
          <a:ln w="1905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200" dirty="0">
                <a:solidFill>
                  <a:schemeClr val="bg1">
                    <a:lumMod val="50000"/>
                  </a:schemeClr>
                </a:solidFill>
              </a:rPr>
              <a:t>商品コンセプトを立案、機能やサイズなどの設計企画書を作成し工場へ指示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CCFEA9EF-0E3A-E428-FD56-5C44F297B389}"/>
              </a:ext>
            </a:extLst>
          </p:cNvPr>
          <p:cNvSpPr/>
          <p:nvPr/>
        </p:nvSpPr>
        <p:spPr>
          <a:xfrm>
            <a:off x="4705694" y="3798123"/>
            <a:ext cx="2779437" cy="432048"/>
          </a:xfrm>
          <a:prstGeom prst="rect">
            <a:avLst/>
          </a:prstGeom>
          <a:solidFill>
            <a:schemeClr val="bg1"/>
          </a:solidFill>
          <a:ln w="1905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200" dirty="0">
                <a:solidFill>
                  <a:schemeClr val="bg1">
                    <a:lumMod val="50000"/>
                  </a:schemeClr>
                </a:solidFill>
              </a:rPr>
              <a:t>販売数予測した上で、工場へ発注し</a:t>
            </a:r>
            <a:br>
              <a:rPr kumimoji="1" lang="en-US" altLang="ja-JP" sz="1200" dirty="0">
                <a:solidFill>
                  <a:schemeClr val="bg1">
                    <a:lumMod val="50000"/>
                  </a:schemeClr>
                </a:solidFill>
              </a:rPr>
            </a:br>
            <a:r>
              <a:rPr kumimoji="1" lang="ja-JP" altLang="en-US" sz="1200" dirty="0">
                <a:solidFill>
                  <a:schemeClr val="bg1">
                    <a:lumMod val="50000"/>
                  </a:schemeClr>
                </a:solidFill>
              </a:rPr>
              <a:t>納期を管理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CA86FA9A-86D0-3D51-264E-0561819C0000}"/>
              </a:ext>
            </a:extLst>
          </p:cNvPr>
          <p:cNvSpPr/>
          <p:nvPr/>
        </p:nvSpPr>
        <p:spPr>
          <a:xfrm>
            <a:off x="4705694" y="5839523"/>
            <a:ext cx="2779437" cy="432048"/>
          </a:xfrm>
          <a:prstGeom prst="rect">
            <a:avLst/>
          </a:prstGeom>
          <a:solidFill>
            <a:schemeClr val="bg1"/>
          </a:solidFill>
          <a:ln w="1905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200" dirty="0">
                <a:solidFill>
                  <a:schemeClr val="bg1">
                    <a:lumMod val="50000"/>
                  </a:schemeClr>
                </a:solidFill>
              </a:rPr>
              <a:t>出荷・配送し、売上処理を実行</a:t>
            </a:r>
            <a:br>
              <a:rPr kumimoji="1" lang="en-US" altLang="ja-JP" sz="1200" dirty="0">
                <a:solidFill>
                  <a:schemeClr val="bg1">
                    <a:lumMod val="50000"/>
                  </a:schemeClr>
                </a:solidFill>
              </a:rPr>
            </a:br>
            <a:r>
              <a:rPr kumimoji="1" lang="ja-JP" altLang="en-US" sz="1200" dirty="0">
                <a:solidFill>
                  <a:schemeClr val="bg1">
                    <a:lumMod val="50000"/>
                  </a:schemeClr>
                </a:solidFill>
              </a:rPr>
              <a:t>アフターサービスも実施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15F1F942-CA95-050E-1214-A70B995D6F10}"/>
              </a:ext>
            </a:extLst>
          </p:cNvPr>
          <p:cNvSpPr/>
          <p:nvPr/>
        </p:nvSpPr>
        <p:spPr>
          <a:xfrm>
            <a:off x="4705694" y="3117657"/>
            <a:ext cx="2779437" cy="432048"/>
          </a:xfrm>
          <a:prstGeom prst="rect">
            <a:avLst/>
          </a:prstGeom>
          <a:solidFill>
            <a:schemeClr val="bg1"/>
          </a:solidFill>
          <a:ln w="1905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200" dirty="0">
                <a:solidFill>
                  <a:schemeClr val="bg1">
                    <a:lumMod val="50000"/>
                  </a:schemeClr>
                </a:solidFill>
              </a:rPr>
              <a:t>設計企画書を基にサンプルを確認し、工場と製品化に向けた微調整を実施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A9BB809B-7ED1-613D-A03C-58C361543756}"/>
              </a:ext>
            </a:extLst>
          </p:cNvPr>
          <p:cNvSpPr/>
          <p:nvPr/>
        </p:nvSpPr>
        <p:spPr>
          <a:xfrm>
            <a:off x="4705694" y="4478589"/>
            <a:ext cx="2779437" cy="432048"/>
          </a:xfrm>
          <a:prstGeom prst="rect">
            <a:avLst/>
          </a:prstGeom>
          <a:solidFill>
            <a:schemeClr val="bg1"/>
          </a:solidFill>
          <a:ln w="1905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200" dirty="0">
                <a:solidFill>
                  <a:schemeClr val="bg1">
                    <a:lumMod val="50000"/>
                  </a:schemeClr>
                </a:solidFill>
              </a:rPr>
              <a:t>納期が確定したら、新製品を自社</a:t>
            </a:r>
            <a:r>
              <a:rPr kumimoji="1" lang="en-US" altLang="ja-JP" sz="1200" dirty="0">
                <a:solidFill>
                  <a:schemeClr val="bg1">
                    <a:lumMod val="50000"/>
                  </a:schemeClr>
                </a:solidFill>
              </a:rPr>
              <a:t>EC</a:t>
            </a:r>
            <a:r>
              <a:rPr kumimoji="1" lang="ja-JP" altLang="en-US" sz="1200" dirty="0">
                <a:solidFill>
                  <a:schemeClr val="bg1">
                    <a:lumMod val="50000"/>
                  </a:schemeClr>
                </a:solidFill>
              </a:rPr>
              <a:t>サイトへアップ（ささげ）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12720404-AABC-70B3-8E29-D1EE1676725A}"/>
              </a:ext>
            </a:extLst>
          </p:cNvPr>
          <p:cNvSpPr/>
          <p:nvPr/>
        </p:nvSpPr>
        <p:spPr>
          <a:xfrm>
            <a:off x="4705694" y="5159055"/>
            <a:ext cx="2779437" cy="432048"/>
          </a:xfrm>
          <a:prstGeom prst="rect">
            <a:avLst/>
          </a:prstGeom>
          <a:solidFill>
            <a:schemeClr val="bg1"/>
          </a:solidFill>
          <a:ln w="1905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en-US" altLang="ja-JP" sz="1200" dirty="0">
                <a:solidFill>
                  <a:schemeClr val="bg1">
                    <a:lumMod val="50000"/>
                  </a:schemeClr>
                </a:solidFill>
              </a:rPr>
              <a:t>EC</a:t>
            </a:r>
            <a:r>
              <a:rPr kumimoji="1" lang="ja-JP" altLang="en-US" sz="1200" dirty="0">
                <a:solidFill>
                  <a:schemeClr val="bg1">
                    <a:lumMod val="50000"/>
                  </a:schemeClr>
                </a:solidFill>
              </a:rPr>
              <a:t>サイトからの注文受付・発送指示などの処理を実施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EB723885-CFFE-7FF2-8DC8-94FC245705BE}"/>
              </a:ext>
            </a:extLst>
          </p:cNvPr>
          <p:cNvSpPr/>
          <p:nvPr/>
        </p:nvSpPr>
        <p:spPr>
          <a:xfrm>
            <a:off x="7716769" y="2437191"/>
            <a:ext cx="2088232" cy="432048"/>
          </a:xfrm>
          <a:prstGeom prst="rect">
            <a:avLst/>
          </a:prstGeom>
          <a:solidFill>
            <a:schemeClr val="bg1"/>
          </a:solidFill>
          <a:ln w="19050" cap="rnd">
            <a:solidFill>
              <a:schemeClr val="tx2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tx2"/>
                </a:solidFill>
              </a:rPr>
              <a:t>商品企画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FB474DDF-654C-E56A-D463-DE40E374B219}"/>
              </a:ext>
            </a:extLst>
          </p:cNvPr>
          <p:cNvSpPr/>
          <p:nvPr/>
        </p:nvSpPr>
        <p:spPr>
          <a:xfrm>
            <a:off x="7716769" y="3798123"/>
            <a:ext cx="2088232" cy="432048"/>
          </a:xfrm>
          <a:prstGeom prst="rect">
            <a:avLst/>
          </a:prstGeom>
          <a:solidFill>
            <a:schemeClr val="bg1"/>
          </a:solidFill>
          <a:ln w="19050" cap="rnd">
            <a:solidFill>
              <a:schemeClr val="bg1">
                <a:lumMod val="50000"/>
              </a:schemeClr>
            </a:solidFill>
            <a:prstDash val="dash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CB6EC629-D73F-EF1D-F617-4B6C122C0E65}"/>
              </a:ext>
            </a:extLst>
          </p:cNvPr>
          <p:cNvSpPr/>
          <p:nvPr/>
        </p:nvSpPr>
        <p:spPr>
          <a:xfrm>
            <a:off x="7716769" y="5839523"/>
            <a:ext cx="2088232" cy="432048"/>
          </a:xfrm>
          <a:prstGeom prst="rect">
            <a:avLst/>
          </a:prstGeom>
          <a:solidFill>
            <a:schemeClr val="bg1"/>
          </a:solidFill>
          <a:ln w="19050" cap="rnd">
            <a:solidFill>
              <a:schemeClr val="tx2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tx2"/>
                </a:solidFill>
              </a:rPr>
              <a:t>出荷・配送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6144EBCD-B6C1-3CFE-B125-B5FD07279556}"/>
              </a:ext>
            </a:extLst>
          </p:cNvPr>
          <p:cNvSpPr/>
          <p:nvPr/>
        </p:nvSpPr>
        <p:spPr>
          <a:xfrm>
            <a:off x="7716769" y="3117657"/>
            <a:ext cx="2088232" cy="432048"/>
          </a:xfrm>
          <a:prstGeom prst="rect">
            <a:avLst/>
          </a:prstGeom>
          <a:solidFill>
            <a:schemeClr val="bg1"/>
          </a:solidFill>
          <a:ln w="19050" cap="rnd">
            <a:solidFill>
              <a:schemeClr val="tx2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tx2"/>
                </a:solidFill>
              </a:rPr>
              <a:t>サンプリング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C5DBD08C-E5BB-EE33-F327-6B5999BD2C79}"/>
              </a:ext>
            </a:extLst>
          </p:cNvPr>
          <p:cNvSpPr/>
          <p:nvPr/>
        </p:nvSpPr>
        <p:spPr>
          <a:xfrm>
            <a:off x="7716769" y="4478589"/>
            <a:ext cx="2088232" cy="432048"/>
          </a:xfrm>
          <a:prstGeom prst="rect">
            <a:avLst/>
          </a:prstGeom>
          <a:solidFill>
            <a:schemeClr val="bg1"/>
          </a:solidFill>
          <a:ln w="19050" cap="rnd">
            <a:solidFill>
              <a:schemeClr val="bg1">
                <a:lumMod val="50000"/>
              </a:schemeClr>
            </a:solidFill>
            <a:prstDash val="dash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68365124-CFA3-E4AB-39AE-81B6C38EBAD5}"/>
              </a:ext>
            </a:extLst>
          </p:cNvPr>
          <p:cNvSpPr/>
          <p:nvPr/>
        </p:nvSpPr>
        <p:spPr>
          <a:xfrm>
            <a:off x="7716769" y="5159055"/>
            <a:ext cx="2088232" cy="432048"/>
          </a:xfrm>
          <a:prstGeom prst="rect">
            <a:avLst/>
          </a:prstGeom>
          <a:solidFill>
            <a:schemeClr val="bg1"/>
          </a:solidFill>
          <a:ln w="19050" cap="rnd">
            <a:solidFill>
              <a:schemeClr val="bg1">
                <a:lumMod val="50000"/>
              </a:schemeClr>
            </a:solidFill>
            <a:prstDash val="dash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44731453-9422-C523-5269-F9A524A36969}"/>
              </a:ext>
            </a:extLst>
          </p:cNvPr>
          <p:cNvSpPr/>
          <p:nvPr/>
        </p:nvSpPr>
        <p:spPr>
          <a:xfrm>
            <a:off x="2387000" y="1763944"/>
            <a:ext cx="2088232" cy="432048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bg1"/>
                </a:solidFill>
              </a:rPr>
              <a:t>完全自社運営</a:t>
            </a:r>
          </a:p>
        </p:txBody>
      </p:sp>
      <p:sp>
        <p:nvSpPr>
          <p:cNvPr id="43" name="円弧 42">
            <a:extLst>
              <a:ext uri="{FF2B5EF4-FFF2-40B4-BE49-F238E27FC236}">
                <a16:creationId xmlns:a16="http://schemas.microsoft.com/office/drawing/2014/main" id="{249A7CC1-CD92-1D2A-00C4-CA8E00434E80}"/>
              </a:ext>
            </a:extLst>
          </p:cNvPr>
          <p:cNvSpPr/>
          <p:nvPr/>
        </p:nvSpPr>
        <p:spPr>
          <a:xfrm>
            <a:off x="8256240" y="3333681"/>
            <a:ext cx="2721284" cy="2721284"/>
          </a:xfrm>
          <a:prstGeom prst="arc">
            <a:avLst>
              <a:gd name="adj1" fmla="val 16847789"/>
              <a:gd name="adj2" fmla="val 4801781"/>
            </a:avLst>
          </a:prstGeom>
          <a:ln w="19050" cap="rnd">
            <a:solidFill>
              <a:schemeClr val="tx2"/>
            </a:solidFill>
            <a:round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1198937D-AFE6-F11A-ECA1-9BDFFCC4D66A}"/>
              </a:ext>
            </a:extLst>
          </p:cNvPr>
          <p:cNvSpPr txBox="1"/>
          <p:nvPr/>
        </p:nvSpPr>
        <p:spPr>
          <a:xfrm>
            <a:off x="9837265" y="4032059"/>
            <a:ext cx="2162808" cy="1180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200" dirty="0">
                <a:highlight>
                  <a:srgbClr val="FFFFFF"/>
                </a:highlight>
                <a:latin typeface="+mn-ea"/>
              </a:rPr>
              <a:t>工場とのやり取りやサイト更新・受発注業務が自動化され、</a:t>
            </a:r>
            <a:r>
              <a:rPr kumimoji="1" lang="en-US" altLang="ja-JP" sz="1200" dirty="0">
                <a:solidFill>
                  <a:schemeClr val="tx2"/>
                </a:solidFill>
                <a:highlight>
                  <a:srgbClr val="FFFFFF"/>
                </a:highlight>
                <a:latin typeface="+mn-ea"/>
              </a:rPr>
              <a:t>D2C</a:t>
            </a:r>
            <a:r>
              <a:rPr kumimoji="1" lang="ja-JP" altLang="en-US" sz="1200" dirty="0">
                <a:solidFill>
                  <a:schemeClr val="tx2"/>
                </a:solidFill>
                <a:highlight>
                  <a:srgbClr val="FFFFFF"/>
                </a:highlight>
                <a:latin typeface="+mn-ea"/>
              </a:rPr>
              <a:t>事業社は商品企画・マーケティングに注力が可能に！</a:t>
            </a:r>
          </a:p>
        </p:txBody>
      </p:sp>
      <p:sp>
        <p:nvSpPr>
          <p:cNvPr id="45" name="矢印: 下 44">
            <a:extLst>
              <a:ext uri="{FF2B5EF4-FFF2-40B4-BE49-F238E27FC236}">
                <a16:creationId xmlns:a16="http://schemas.microsoft.com/office/drawing/2014/main" id="{E4986A4C-25B9-6C12-E895-7A32F4BDDB1D}"/>
              </a:ext>
            </a:extLst>
          </p:cNvPr>
          <p:cNvSpPr/>
          <p:nvPr/>
        </p:nvSpPr>
        <p:spPr>
          <a:xfrm>
            <a:off x="1718986" y="2437191"/>
            <a:ext cx="436376" cy="3834380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A2F14235-2DA8-83A3-3849-3DB97369A304}"/>
              </a:ext>
            </a:extLst>
          </p:cNvPr>
          <p:cNvSpPr txBox="1"/>
          <p:nvPr/>
        </p:nvSpPr>
        <p:spPr>
          <a:xfrm>
            <a:off x="335113" y="3869757"/>
            <a:ext cx="2162808" cy="959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200" dirty="0">
                <a:highlight>
                  <a:srgbClr val="FFFFFF"/>
                </a:highlight>
                <a:latin typeface="+mn-ea"/>
              </a:rPr>
              <a:t>工程やステークホルダが</a:t>
            </a:r>
            <a:br>
              <a:rPr kumimoji="1" lang="en-US" altLang="ja-JP" sz="1200" dirty="0">
                <a:highlight>
                  <a:srgbClr val="FFFFFF"/>
                </a:highlight>
                <a:latin typeface="+mn-ea"/>
              </a:rPr>
            </a:br>
            <a:r>
              <a:rPr kumimoji="1" lang="ja-JP" altLang="en-US" sz="1200" dirty="0">
                <a:highlight>
                  <a:srgbClr val="FFFFFF"/>
                </a:highlight>
                <a:latin typeface="+mn-ea"/>
              </a:rPr>
              <a:t>多く、思うように商品企画・マーケティングに注力できていない事業社が多い</a:t>
            </a:r>
            <a:endParaRPr kumimoji="1" lang="ja-JP" altLang="en-US" sz="1200" dirty="0">
              <a:solidFill>
                <a:schemeClr val="tx2"/>
              </a:solidFill>
              <a:highlight>
                <a:srgbClr val="FFFFFF"/>
              </a:highlight>
              <a:latin typeface="+mn-ea"/>
            </a:endParaRPr>
          </a:p>
        </p:txBody>
      </p:sp>
      <p:pic>
        <p:nvPicPr>
          <p:cNvPr id="48" name="グラフィックス 47">
            <a:extLst>
              <a:ext uri="{FF2B5EF4-FFF2-40B4-BE49-F238E27FC236}">
                <a16:creationId xmlns:a16="http://schemas.microsoft.com/office/drawing/2014/main" id="{DCD20F5D-28E7-B20E-EDA6-10C4CC616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2001" y="3401892"/>
            <a:ext cx="457298" cy="432048"/>
          </a:xfrm>
          <a:prstGeom prst="rect">
            <a:avLst/>
          </a:prstGeom>
        </p:spPr>
      </p:pic>
      <p:sp>
        <p:nvSpPr>
          <p:cNvPr id="49" name="フリーフォーム: 図形 48">
            <a:extLst>
              <a:ext uri="{FF2B5EF4-FFF2-40B4-BE49-F238E27FC236}">
                <a16:creationId xmlns:a16="http://schemas.microsoft.com/office/drawing/2014/main" id="{76CB1039-B351-AE71-6AFA-8A8B9E2D93FC}"/>
              </a:ext>
            </a:extLst>
          </p:cNvPr>
          <p:cNvSpPr/>
          <p:nvPr/>
        </p:nvSpPr>
        <p:spPr>
          <a:xfrm>
            <a:off x="11038482" y="3795839"/>
            <a:ext cx="365760" cy="236220"/>
          </a:xfrm>
          <a:custGeom>
            <a:avLst/>
            <a:gdLst>
              <a:gd name="connsiteX0" fmla="*/ 0 w 365760"/>
              <a:gd name="connsiteY0" fmla="*/ 106680 h 236220"/>
              <a:gd name="connsiteX1" fmla="*/ 129540 w 365760"/>
              <a:gd name="connsiteY1" fmla="*/ 236220 h 236220"/>
              <a:gd name="connsiteX2" fmla="*/ 365760 w 365760"/>
              <a:gd name="connsiteY2" fmla="*/ 0 h 23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760" h="236220">
                <a:moveTo>
                  <a:pt x="0" y="106680"/>
                </a:moveTo>
                <a:lnTo>
                  <a:pt x="129540" y="236220"/>
                </a:lnTo>
                <a:lnTo>
                  <a:pt x="365760" y="0"/>
                </a:lnTo>
              </a:path>
            </a:pathLst>
          </a:custGeom>
          <a:noFill/>
          <a:ln w="38100" cap="rnd">
            <a:solidFill>
              <a:schemeClr val="tx2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090467A-B74C-C951-7669-6735AED44878}"/>
              </a:ext>
            </a:extLst>
          </p:cNvPr>
          <p:cNvSpPr/>
          <p:nvPr/>
        </p:nvSpPr>
        <p:spPr>
          <a:xfrm>
            <a:off x="7716768" y="1763944"/>
            <a:ext cx="2088232" cy="432048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bg1"/>
                </a:solidFill>
              </a:rPr>
              <a:t>イメージ</a:t>
            </a:r>
          </a:p>
        </p:txBody>
      </p:sp>
    </p:spTree>
    <p:extLst>
      <p:ext uri="{BB962C8B-B14F-4D97-AF65-F5344CB8AC3E}">
        <p14:creationId xmlns:p14="http://schemas.microsoft.com/office/powerpoint/2010/main" val="2957878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D21E1-5D03-3F81-8496-BAE5490EC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88EE1711-0020-CC58-7621-23CD79E47523}"/>
              </a:ext>
            </a:extLst>
          </p:cNvPr>
          <p:cNvSpPr/>
          <p:nvPr/>
        </p:nvSpPr>
        <p:spPr>
          <a:xfrm>
            <a:off x="1326251" y="6309320"/>
            <a:ext cx="10448962" cy="432048"/>
          </a:xfrm>
          <a:prstGeom prst="roundRect">
            <a:avLst/>
          </a:prstGeom>
          <a:solidFill>
            <a:schemeClr val="bg1"/>
          </a:solidFill>
          <a:ln w="38100" cap="rnd">
            <a:solidFill>
              <a:schemeClr val="tx2">
                <a:lumMod val="50000"/>
              </a:schemeClr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600" dirty="0">
                <a:solidFill>
                  <a:schemeClr val="tx1"/>
                </a:solidFill>
              </a:rPr>
              <a:t>どの業務から</a:t>
            </a:r>
            <a:r>
              <a:rPr kumimoji="1" lang="en-US" altLang="ja-JP" sz="1600" dirty="0">
                <a:solidFill>
                  <a:schemeClr val="tx1"/>
                </a:solidFill>
              </a:rPr>
              <a:t>AI</a:t>
            </a:r>
            <a:r>
              <a:rPr kumimoji="1" lang="ja-JP" altLang="en-US" sz="1600" dirty="0">
                <a:solidFill>
                  <a:schemeClr val="tx1"/>
                </a:solidFill>
              </a:rPr>
              <a:t>活用すべきか？という悩みから解放され、</a:t>
            </a:r>
            <a:r>
              <a:rPr kumimoji="1" lang="en-US" altLang="ja-JP" sz="1600" dirty="0">
                <a:solidFill>
                  <a:schemeClr val="tx2"/>
                </a:solidFill>
              </a:rPr>
              <a:t>AI</a:t>
            </a:r>
            <a:r>
              <a:rPr kumimoji="1" lang="ja-JP" altLang="en-US" sz="1600" dirty="0">
                <a:solidFill>
                  <a:schemeClr val="tx2"/>
                </a:solidFill>
              </a:rPr>
              <a:t>活用ベストプラクティスをまとめて導入可能！</a:t>
            </a:r>
          </a:p>
        </p:txBody>
      </p: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BC1D1472-066B-3804-3EAF-9E23A6188080}"/>
              </a:ext>
            </a:extLst>
          </p:cNvPr>
          <p:cNvCxnSpPr>
            <a:endCxn id="22" idx="1"/>
          </p:cNvCxnSpPr>
          <p:nvPr/>
        </p:nvCxnSpPr>
        <p:spPr>
          <a:xfrm>
            <a:off x="5578851" y="2276872"/>
            <a:ext cx="1034298" cy="0"/>
          </a:xfrm>
          <a:prstGeom prst="straightConnector1">
            <a:avLst/>
          </a:prstGeom>
          <a:ln w="38100" cap="rnd"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tx2"/>
                </a:gs>
              </a:gsLst>
              <a:lin ang="0" scaled="1"/>
              <a:tileRect/>
            </a:gradFill>
            <a:round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タイトル 5">
            <a:extLst>
              <a:ext uri="{FF2B5EF4-FFF2-40B4-BE49-F238E27FC236}">
                <a16:creationId xmlns:a16="http://schemas.microsoft.com/office/drawing/2014/main" id="{46CA4DB7-6AD9-0048-0732-08385EB04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サービス導入効果　～コア業務へのリソースシフト実現～</a:t>
            </a:r>
          </a:p>
        </p:txBody>
      </p:sp>
      <p:sp>
        <p:nvSpPr>
          <p:cNvPr id="69" name="テキスト プレースホルダー 68">
            <a:extLst>
              <a:ext uri="{FF2B5EF4-FFF2-40B4-BE49-F238E27FC236}">
                <a16:creationId xmlns:a16="http://schemas.microsoft.com/office/drawing/2014/main" id="{E45215C3-7780-E97B-A05E-CEC3BFCFAB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180000" rIns="180000" anchor="ctr">
            <a:normAutofit fontScale="62500" lnSpcReduction="20000"/>
          </a:bodyPr>
          <a:lstStyle/>
          <a:p>
            <a:endParaRPr kumimoji="1" lang="en-US" altLang="ja-JP" sz="1800" dirty="0">
              <a:latin typeface="+mn-ea"/>
            </a:endParaRPr>
          </a:p>
        </p:txBody>
      </p:sp>
      <p:sp>
        <p:nvSpPr>
          <p:cNvPr id="42" name="テキスト プレースホルダー 41">
            <a:extLst>
              <a:ext uri="{FF2B5EF4-FFF2-40B4-BE49-F238E27FC236}">
                <a16:creationId xmlns:a16="http://schemas.microsoft.com/office/drawing/2014/main" id="{BE8C6E65-E7CB-7A6F-4B19-6488180282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AI</a:t>
            </a:r>
            <a:r>
              <a:rPr lang="ja-JP" altLang="en-US" dirty="0"/>
              <a:t>活用した</a:t>
            </a:r>
            <a:r>
              <a:rPr lang="en-US" altLang="ja-JP" dirty="0"/>
              <a:t>BPO</a:t>
            </a:r>
            <a:r>
              <a:rPr lang="ja-JP" altLang="en-US" dirty="0"/>
              <a:t>により、コスト・期間を圧縮しつつ、コア業務へ集中できる業務運用を実現します。</a:t>
            </a: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2F6F3C04-7B6C-0472-5D59-BF6244A80C24}"/>
              </a:ext>
            </a:extLst>
          </p:cNvPr>
          <p:cNvSpPr/>
          <p:nvPr/>
        </p:nvSpPr>
        <p:spPr>
          <a:xfrm>
            <a:off x="9220037" y="3294336"/>
            <a:ext cx="2455475" cy="1512168"/>
          </a:xfrm>
          <a:prstGeom prst="roundRect">
            <a:avLst>
              <a:gd name="adj" fmla="val 3565"/>
            </a:avLst>
          </a:prstGeom>
          <a:solidFill>
            <a:schemeClr val="bg1">
              <a:lumMod val="85000"/>
            </a:schemeClr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D978590A-FEAF-A425-06D4-379E7A2BE18B}"/>
              </a:ext>
            </a:extLst>
          </p:cNvPr>
          <p:cNvSpPr/>
          <p:nvPr/>
        </p:nvSpPr>
        <p:spPr>
          <a:xfrm>
            <a:off x="6764567" y="4011139"/>
            <a:ext cx="4910945" cy="1512168"/>
          </a:xfrm>
          <a:prstGeom prst="roundRect">
            <a:avLst>
              <a:gd name="adj" fmla="val 3565"/>
            </a:avLst>
          </a:prstGeom>
          <a:solidFill>
            <a:schemeClr val="bg1">
              <a:lumMod val="85000"/>
            </a:schemeClr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358F7E9-44A1-4550-E5C3-52725DFA4910}"/>
              </a:ext>
            </a:extLst>
          </p:cNvPr>
          <p:cNvSpPr/>
          <p:nvPr/>
        </p:nvSpPr>
        <p:spPr>
          <a:xfrm>
            <a:off x="739712" y="3435075"/>
            <a:ext cx="2088232" cy="432048"/>
          </a:xfrm>
          <a:prstGeom prst="rect">
            <a:avLst/>
          </a:prstGeom>
          <a:solidFill>
            <a:schemeClr val="bg1"/>
          </a:solidFill>
          <a:ln w="19050" cap="rnd">
            <a:solidFill>
              <a:schemeClr val="bg1">
                <a:lumMod val="50000"/>
              </a:schemeClr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bg1">
                    <a:lumMod val="50000"/>
                  </a:schemeClr>
                </a:solidFill>
              </a:rPr>
              <a:t>商品企画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825A250-44F0-F746-A85E-D371FF48EE69}"/>
              </a:ext>
            </a:extLst>
          </p:cNvPr>
          <p:cNvSpPr/>
          <p:nvPr/>
        </p:nvSpPr>
        <p:spPr>
          <a:xfrm>
            <a:off x="739712" y="4203160"/>
            <a:ext cx="2088232" cy="432048"/>
          </a:xfrm>
          <a:prstGeom prst="rect">
            <a:avLst/>
          </a:prstGeom>
          <a:solidFill>
            <a:schemeClr val="bg1"/>
          </a:solidFill>
          <a:ln w="19050" cap="rnd">
            <a:solidFill>
              <a:schemeClr val="bg1">
                <a:lumMod val="50000"/>
              </a:schemeClr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bg1">
                    <a:lumMod val="50000"/>
                  </a:schemeClr>
                </a:solidFill>
              </a:rPr>
              <a:t>製造（仕入れ）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3674EDF-0DD2-76A3-4863-C724227BE1A1}"/>
              </a:ext>
            </a:extLst>
          </p:cNvPr>
          <p:cNvSpPr/>
          <p:nvPr/>
        </p:nvSpPr>
        <p:spPr>
          <a:xfrm>
            <a:off x="739712" y="4971245"/>
            <a:ext cx="2088232" cy="432048"/>
          </a:xfrm>
          <a:prstGeom prst="rect">
            <a:avLst/>
          </a:prstGeom>
          <a:solidFill>
            <a:schemeClr val="bg1"/>
          </a:solidFill>
          <a:ln w="19050" cap="rnd">
            <a:solidFill>
              <a:schemeClr val="bg1">
                <a:lumMod val="50000"/>
              </a:schemeClr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bg1">
                    <a:lumMod val="50000"/>
                  </a:schemeClr>
                </a:solidFill>
              </a:rPr>
              <a:t>マーケティング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DEAD9BF-27A9-2E52-5D8A-D79578FC9FDC}"/>
              </a:ext>
            </a:extLst>
          </p:cNvPr>
          <p:cNvSpPr/>
          <p:nvPr/>
        </p:nvSpPr>
        <p:spPr>
          <a:xfrm>
            <a:off x="739712" y="5739331"/>
            <a:ext cx="2088232" cy="432048"/>
          </a:xfrm>
          <a:prstGeom prst="rect">
            <a:avLst/>
          </a:prstGeom>
          <a:solidFill>
            <a:schemeClr val="bg1"/>
          </a:solidFill>
          <a:ln w="19050" cap="rnd">
            <a:solidFill>
              <a:schemeClr val="bg1">
                <a:lumMod val="50000"/>
              </a:schemeClr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bg1">
                    <a:lumMod val="50000"/>
                  </a:schemeClr>
                </a:solidFill>
              </a:rPr>
              <a:t>出荷・配送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8AA0BE3-BA8B-B116-1B9B-DDD4D73FB6BB}"/>
              </a:ext>
            </a:extLst>
          </p:cNvPr>
          <p:cNvSpPr/>
          <p:nvPr/>
        </p:nvSpPr>
        <p:spPr>
          <a:xfrm>
            <a:off x="3115976" y="3435075"/>
            <a:ext cx="2088232" cy="432048"/>
          </a:xfrm>
          <a:prstGeom prst="rect">
            <a:avLst/>
          </a:prstGeom>
          <a:solidFill>
            <a:schemeClr val="bg1"/>
          </a:solidFill>
          <a:ln w="19050" cap="rnd">
            <a:solidFill>
              <a:schemeClr val="bg1">
                <a:lumMod val="50000"/>
              </a:schemeClr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>
                <a:solidFill>
                  <a:schemeClr val="bg1">
                    <a:lumMod val="50000"/>
                  </a:schemeClr>
                </a:solidFill>
              </a:rPr>
              <a:t>サンプリング</a:t>
            </a:r>
            <a:endParaRPr kumimoji="1" lang="ja-JP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7CBE4F0-816F-160B-0A7C-DB004A2ACB9B}"/>
              </a:ext>
            </a:extLst>
          </p:cNvPr>
          <p:cNvSpPr/>
          <p:nvPr/>
        </p:nvSpPr>
        <p:spPr>
          <a:xfrm>
            <a:off x="3115976" y="4203160"/>
            <a:ext cx="2088232" cy="432048"/>
          </a:xfrm>
          <a:prstGeom prst="rect">
            <a:avLst/>
          </a:prstGeom>
          <a:solidFill>
            <a:schemeClr val="bg1"/>
          </a:solidFill>
          <a:ln w="19050" cap="rnd">
            <a:solidFill>
              <a:schemeClr val="bg1">
                <a:lumMod val="50000"/>
              </a:schemeClr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bg1">
                    <a:lumMod val="50000"/>
                  </a:schemeClr>
                </a:solidFill>
              </a:rPr>
              <a:t>サイト更新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6723167-64EB-A9BF-0743-58FAEA38D480}"/>
              </a:ext>
            </a:extLst>
          </p:cNvPr>
          <p:cNvSpPr/>
          <p:nvPr/>
        </p:nvSpPr>
        <p:spPr>
          <a:xfrm>
            <a:off x="3115976" y="4971245"/>
            <a:ext cx="2088232" cy="432048"/>
          </a:xfrm>
          <a:prstGeom prst="rect">
            <a:avLst/>
          </a:prstGeom>
          <a:solidFill>
            <a:schemeClr val="bg1"/>
          </a:solidFill>
          <a:ln w="19050" cap="rnd">
            <a:solidFill>
              <a:schemeClr val="bg1">
                <a:lumMod val="50000"/>
              </a:schemeClr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bg1">
                    <a:lumMod val="50000"/>
                  </a:schemeClr>
                </a:solidFill>
              </a:rPr>
              <a:t>受注処理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F6266A5-4682-A7D7-DE52-57D955E8782B}"/>
              </a:ext>
            </a:extLst>
          </p:cNvPr>
          <p:cNvSpPr/>
          <p:nvPr/>
        </p:nvSpPr>
        <p:spPr>
          <a:xfrm>
            <a:off x="3115976" y="5739331"/>
            <a:ext cx="2088232" cy="432048"/>
          </a:xfrm>
          <a:prstGeom prst="rect">
            <a:avLst/>
          </a:prstGeom>
          <a:solidFill>
            <a:schemeClr val="bg1"/>
          </a:solidFill>
          <a:ln w="19050" cap="rnd">
            <a:solidFill>
              <a:schemeClr val="bg1">
                <a:lumMod val="50000"/>
              </a:schemeClr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bg1">
                    <a:lumMod val="50000"/>
                  </a:schemeClr>
                </a:solidFill>
              </a:rPr>
              <a:t>アフターサービス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4322887-B273-7A56-5F5D-24C6F4CE89B2}"/>
              </a:ext>
            </a:extLst>
          </p:cNvPr>
          <p:cNvSpPr/>
          <p:nvPr/>
        </p:nvSpPr>
        <p:spPr>
          <a:xfrm>
            <a:off x="416785" y="2060848"/>
            <a:ext cx="5110351" cy="432048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 cap="rnd">
            <a:solidFill>
              <a:schemeClr val="bg1">
                <a:lumMod val="50000"/>
              </a:schemeClr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bg1"/>
                </a:solidFill>
              </a:rPr>
              <a:t>従来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14668A1-5699-074E-13C7-2C9DA9A535F7}"/>
              </a:ext>
            </a:extLst>
          </p:cNvPr>
          <p:cNvSpPr/>
          <p:nvPr/>
        </p:nvSpPr>
        <p:spPr>
          <a:xfrm>
            <a:off x="6987791" y="3435075"/>
            <a:ext cx="2088232" cy="432048"/>
          </a:xfrm>
          <a:prstGeom prst="rect">
            <a:avLst/>
          </a:prstGeom>
          <a:solidFill>
            <a:schemeClr val="bg1"/>
          </a:solidFill>
          <a:ln w="19050" cap="rnd">
            <a:solidFill>
              <a:schemeClr val="tx1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tx1"/>
                </a:solidFill>
              </a:rPr>
              <a:t>商品企画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EA82C21-2543-EEE1-887C-05283A88F0DC}"/>
              </a:ext>
            </a:extLst>
          </p:cNvPr>
          <p:cNvSpPr/>
          <p:nvPr/>
        </p:nvSpPr>
        <p:spPr>
          <a:xfrm>
            <a:off x="6987791" y="4203160"/>
            <a:ext cx="2088232" cy="432048"/>
          </a:xfrm>
          <a:prstGeom prst="rect">
            <a:avLst/>
          </a:prstGeom>
          <a:solidFill>
            <a:schemeClr val="bg1"/>
          </a:solidFill>
          <a:ln w="19050" cap="rnd">
            <a:solidFill>
              <a:schemeClr val="bg1">
                <a:lumMod val="75000"/>
              </a:schemeClr>
            </a:solidFill>
            <a:prstDash val="dash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bg1">
                    <a:lumMod val="75000"/>
                  </a:schemeClr>
                </a:solidFill>
              </a:rPr>
              <a:t>製造（仕入れ）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FDC661F-3476-8539-CD7D-82AC6030CFBD}"/>
              </a:ext>
            </a:extLst>
          </p:cNvPr>
          <p:cNvSpPr/>
          <p:nvPr/>
        </p:nvSpPr>
        <p:spPr>
          <a:xfrm>
            <a:off x="6987791" y="4971245"/>
            <a:ext cx="2088232" cy="432048"/>
          </a:xfrm>
          <a:prstGeom prst="rect">
            <a:avLst/>
          </a:prstGeom>
          <a:solidFill>
            <a:schemeClr val="bg1"/>
          </a:solidFill>
          <a:ln w="19050" cap="rnd">
            <a:solidFill>
              <a:schemeClr val="bg1">
                <a:lumMod val="75000"/>
              </a:schemeClr>
            </a:solidFill>
            <a:prstDash val="dash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bg1">
                    <a:lumMod val="75000"/>
                  </a:schemeClr>
                </a:solidFill>
              </a:rPr>
              <a:t>マーケティング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BB3B36E6-8702-9E47-7BAE-C3610AFFD15F}"/>
              </a:ext>
            </a:extLst>
          </p:cNvPr>
          <p:cNvSpPr/>
          <p:nvPr/>
        </p:nvSpPr>
        <p:spPr>
          <a:xfrm>
            <a:off x="6987791" y="5739331"/>
            <a:ext cx="2088232" cy="432048"/>
          </a:xfrm>
          <a:prstGeom prst="rect">
            <a:avLst/>
          </a:prstGeom>
          <a:solidFill>
            <a:schemeClr val="bg1"/>
          </a:solidFill>
          <a:ln w="19050" cap="rnd">
            <a:solidFill>
              <a:schemeClr val="tx1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tx1"/>
                </a:solidFill>
              </a:rPr>
              <a:t>出荷・配送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789B300E-DC70-256C-B54F-5B995D7BBB2F}"/>
              </a:ext>
            </a:extLst>
          </p:cNvPr>
          <p:cNvSpPr/>
          <p:nvPr/>
        </p:nvSpPr>
        <p:spPr>
          <a:xfrm>
            <a:off x="9364055" y="3435075"/>
            <a:ext cx="2088232" cy="432048"/>
          </a:xfrm>
          <a:prstGeom prst="rect">
            <a:avLst/>
          </a:prstGeom>
          <a:solidFill>
            <a:schemeClr val="bg1"/>
          </a:solidFill>
          <a:ln w="19050" cap="rnd">
            <a:solidFill>
              <a:schemeClr val="bg1">
                <a:lumMod val="75000"/>
              </a:schemeClr>
            </a:solidFill>
            <a:prstDash val="dash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>
                <a:solidFill>
                  <a:schemeClr val="bg1">
                    <a:lumMod val="75000"/>
                  </a:schemeClr>
                </a:solidFill>
              </a:rPr>
              <a:t>サンプリング</a:t>
            </a:r>
            <a:endParaRPr kumimoji="1" lang="ja-JP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91F271A-6119-3A0F-434C-A64471999D03}"/>
              </a:ext>
            </a:extLst>
          </p:cNvPr>
          <p:cNvSpPr/>
          <p:nvPr/>
        </p:nvSpPr>
        <p:spPr>
          <a:xfrm>
            <a:off x="9364055" y="4203160"/>
            <a:ext cx="2088232" cy="432048"/>
          </a:xfrm>
          <a:prstGeom prst="rect">
            <a:avLst/>
          </a:prstGeom>
          <a:solidFill>
            <a:schemeClr val="bg1"/>
          </a:solidFill>
          <a:ln w="19050" cap="rnd">
            <a:solidFill>
              <a:schemeClr val="bg1">
                <a:lumMod val="75000"/>
              </a:schemeClr>
            </a:solidFill>
            <a:prstDash val="dash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bg1">
                    <a:lumMod val="75000"/>
                  </a:schemeClr>
                </a:solidFill>
              </a:rPr>
              <a:t>サイト更新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8267A1E9-416E-9F19-C687-4A2755C7937C}"/>
              </a:ext>
            </a:extLst>
          </p:cNvPr>
          <p:cNvSpPr/>
          <p:nvPr/>
        </p:nvSpPr>
        <p:spPr>
          <a:xfrm>
            <a:off x="9364055" y="4971245"/>
            <a:ext cx="2088232" cy="432048"/>
          </a:xfrm>
          <a:prstGeom prst="rect">
            <a:avLst/>
          </a:prstGeom>
          <a:solidFill>
            <a:schemeClr val="bg1"/>
          </a:solidFill>
          <a:ln w="19050" cap="rnd">
            <a:solidFill>
              <a:schemeClr val="bg1">
                <a:lumMod val="75000"/>
              </a:schemeClr>
            </a:solidFill>
            <a:prstDash val="dash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bg1">
                    <a:lumMod val="75000"/>
                  </a:schemeClr>
                </a:solidFill>
              </a:rPr>
              <a:t>受注処理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7259A84F-BA40-74A6-9E3B-926F0C244A5A}"/>
              </a:ext>
            </a:extLst>
          </p:cNvPr>
          <p:cNvSpPr/>
          <p:nvPr/>
        </p:nvSpPr>
        <p:spPr>
          <a:xfrm>
            <a:off x="9364055" y="5739331"/>
            <a:ext cx="2088232" cy="432048"/>
          </a:xfrm>
          <a:prstGeom prst="rect">
            <a:avLst/>
          </a:prstGeom>
          <a:solidFill>
            <a:schemeClr val="bg1"/>
          </a:solidFill>
          <a:ln w="19050" cap="rnd">
            <a:solidFill>
              <a:schemeClr val="tx1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tx1"/>
                </a:solidFill>
              </a:rPr>
              <a:t>アフターサービス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B79517FA-2C21-3E61-7AE3-764D768BEAF0}"/>
              </a:ext>
            </a:extLst>
          </p:cNvPr>
          <p:cNvSpPr/>
          <p:nvPr/>
        </p:nvSpPr>
        <p:spPr>
          <a:xfrm>
            <a:off x="6664864" y="2060848"/>
            <a:ext cx="5110351" cy="432048"/>
          </a:xfrm>
          <a:prstGeom prst="rect">
            <a:avLst/>
          </a:prstGeom>
          <a:solidFill>
            <a:schemeClr val="tx2">
              <a:lumMod val="50000"/>
            </a:schemeClr>
          </a:solidFill>
          <a:ln w="19050" cap="rnd">
            <a:solidFill>
              <a:schemeClr val="tx2">
                <a:lumMod val="50000"/>
              </a:schemeClr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bg1"/>
                </a:solidFill>
              </a:rPr>
              <a:t>当社サービス利用時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F3733DE-5519-D828-090E-F592D25230B1}"/>
              </a:ext>
            </a:extLst>
          </p:cNvPr>
          <p:cNvSpPr txBox="1"/>
          <p:nvPr/>
        </p:nvSpPr>
        <p:spPr>
          <a:xfrm>
            <a:off x="416785" y="2564904"/>
            <a:ext cx="5110351" cy="657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600" dirty="0">
                <a:latin typeface="+mn-ea"/>
              </a:rPr>
              <a:t>各工程を自社運営・委託を組み合わせて運営することで、商品企画などのコア業務のリソースを圧迫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48D6364A-7452-A68D-40FC-4175146CB38A}"/>
              </a:ext>
            </a:extLst>
          </p:cNvPr>
          <p:cNvSpPr txBox="1"/>
          <p:nvPr/>
        </p:nvSpPr>
        <p:spPr>
          <a:xfrm>
            <a:off x="6664862" y="2564904"/>
            <a:ext cx="5110351" cy="657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600" dirty="0">
                <a:latin typeface="+mn-ea"/>
              </a:rPr>
              <a:t>サンプリング～受注処理までの業務をフルアウト</a:t>
            </a:r>
            <a:br>
              <a:rPr kumimoji="1" lang="en-US" altLang="ja-JP" sz="1600" dirty="0">
                <a:latin typeface="+mn-ea"/>
              </a:rPr>
            </a:br>
            <a:r>
              <a:rPr kumimoji="1" lang="ja-JP" altLang="en-US" sz="1600" dirty="0">
                <a:latin typeface="+mn-ea"/>
              </a:rPr>
              <a:t>ソースいただくことで、コア業務へ集中できる体制へ</a:t>
            </a: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5E2363BC-5BB8-95A9-1CCC-F05DBB91DE0B}"/>
              </a:ext>
            </a:extLst>
          </p:cNvPr>
          <p:cNvSpPr/>
          <p:nvPr/>
        </p:nvSpPr>
        <p:spPr>
          <a:xfrm>
            <a:off x="9220037" y="3279685"/>
            <a:ext cx="324605" cy="324605"/>
          </a:xfrm>
          <a:prstGeom prst="ellipse">
            <a:avLst/>
          </a:prstGeom>
          <a:solidFill>
            <a:schemeClr val="tx2"/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en-US" altLang="ja-JP" sz="1200" dirty="0">
                <a:solidFill>
                  <a:schemeClr val="bg1"/>
                </a:solidFill>
              </a:rPr>
              <a:t>AI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2D8D6D40-D1F0-3DFD-A8B9-A2101ADBFD32}"/>
              </a:ext>
            </a:extLst>
          </p:cNvPr>
          <p:cNvSpPr/>
          <p:nvPr/>
        </p:nvSpPr>
        <p:spPr>
          <a:xfrm>
            <a:off x="9220037" y="4040857"/>
            <a:ext cx="324605" cy="324605"/>
          </a:xfrm>
          <a:prstGeom prst="ellipse">
            <a:avLst/>
          </a:prstGeom>
          <a:solidFill>
            <a:schemeClr val="tx2"/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en-US" altLang="ja-JP" sz="1200" dirty="0">
                <a:solidFill>
                  <a:schemeClr val="bg1"/>
                </a:solidFill>
              </a:rPr>
              <a:t>AI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BA5BD6CD-302A-3EC5-B8F7-798E9ECE9A4E}"/>
              </a:ext>
            </a:extLst>
          </p:cNvPr>
          <p:cNvSpPr/>
          <p:nvPr/>
        </p:nvSpPr>
        <p:spPr>
          <a:xfrm>
            <a:off x="9220037" y="4836222"/>
            <a:ext cx="324605" cy="324605"/>
          </a:xfrm>
          <a:prstGeom prst="ellipse">
            <a:avLst/>
          </a:prstGeom>
          <a:solidFill>
            <a:schemeClr val="tx2"/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en-US" altLang="ja-JP" sz="1200" dirty="0">
                <a:solidFill>
                  <a:schemeClr val="bg1"/>
                </a:solidFill>
              </a:rPr>
              <a:t>AI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4C4A6599-4FAC-2873-3039-19F5D61A4A1F}"/>
              </a:ext>
            </a:extLst>
          </p:cNvPr>
          <p:cNvSpPr/>
          <p:nvPr/>
        </p:nvSpPr>
        <p:spPr>
          <a:xfrm>
            <a:off x="6825488" y="4836222"/>
            <a:ext cx="324605" cy="324605"/>
          </a:xfrm>
          <a:prstGeom prst="ellipse">
            <a:avLst/>
          </a:prstGeom>
          <a:solidFill>
            <a:schemeClr val="tx2"/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en-US" altLang="ja-JP" sz="1200" dirty="0">
                <a:solidFill>
                  <a:schemeClr val="bg1"/>
                </a:solidFill>
              </a:rPr>
              <a:t>AI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F7DDF692-492C-9B35-2916-3D8DA5B98C46}"/>
              </a:ext>
            </a:extLst>
          </p:cNvPr>
          <p:cNvSpPr txBox="1"/>
          <p:nvPr/>
        </p:nvSpPr>
        <p:spPr>
          <a:xfrm>
            <a:off x="5875564" y="2007726"/>
            <a:ext cx="440872" cy="4536504"/>
          </a:xfrm>
          <a:prstGeom prst="rect">
            <a:avLst/>
          </a:prstGeom>
          <a:noFill/>
        </p:spPr>
        <p:txBody>
          <a:bodyPr vert="eaVert" wrap="square" lIns="72000" tIns="72000" rIns="72000" bIns="72000" rtlCol="0" anchor="ctr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600" dirty="0">
                <a:solidFill>
                  <a:schemeClr val="tx2"/>
                </a:solidFill>
                <a:highlight>
                  <a:srgbClr val="FFFFFF"/>
                </a:highlight>
                <a:latin typeface="+mn-ea"/>
              </a:rPr>
              <a:t>ＡＩ活用したフルアウトソースサービス導入</a:t>
            </a:r>
          </a:p>
        </p:txBody>
      </p:sp>
      <p:sp>
        <p:nvSpPr>
          <p:cNvPr id="35" name="矢印: 五方向 34">
            <a:extLst>
              <a:ext uri="{FF2B5EF4-FFF2-40B4-BE49-F238E27FC236}">
                <a16:creationId xmlns:a16="http://schemas.microsoft.com/office/drawing/2014/main" id="{72324BB9-EE44-840A-0C6B-683B77503A1F}"/>
              </a:ext>
            </a:extLst>
          </p:cNvPr>
          <p:cNvSpPr/>
          <p:nvPr/>
        </p:nvSpPr>
        <p:spPr>
          <a:xfrm>
            <a:off x="416785" y="6309320"/>
            <a:ext cx="1214719" cy="432048"/>
          </a:xfrm>
          <a:prstGeom prst="homePlate">
            <a:avLst/>
          </a:prstGeom>
          <a:solidFill>
            <a:schemeClr val="tx2">
              <a:lumMod val="50000"/>
            </a:schemeClr>
          </a:solidFill>
          <a:ln w="38100" cap="rnd">
            <a:solidFill>
              <a:schemeClr val="tx2">
                <a:lumMod val="50000"/>
              </a:schemeClr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kumimoji="1" lang="en-US" altLang="ja-JP" dirty="0">
                <a:solidFill>
                  <a:schemeClr val="bg1"/>
                </a:solidFill>
              </a:rPr>
              <a:t>POINT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373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31906-DCCF-B3A2-AD36-A02917005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矢印: 下 36">
            <a:extLst>
              <a:ext uri="{FF2B5EF4-FFF2-40B4-BE49-F238E27FC236}">
                <a16:creationId xmlns:a16="http://schemas.microsoft.com/office/drawing/2014/main" id="{B7B2FDEF-886B-6BEF-5340-9797E8455264}"/>
              </a:ext>
            </a:extLst>
          </p:cNvPr>
          <p:cNvSpPr/>
          <p:nvPr/>
        </p:nvSpPr>
        <p:spPr>
          <a:xfrm>
            <a:off x="5807968" y="2335281"/>
            <a:ext cx="360040" cy="2461871"/>
          </a:xfrm>
          <a:prstGeom prst="downArrow">
            <a:avLst/>
          </a:prstGeom>
          <a:solidFill>
            <a:schemeClr val="bg1">
              <a:lumMod val="50000"/>
            </a:schemeClr>
          </a:solidFill>
          <a:ln w="38100" cap="rnd">
            <a:solidFill>
              <a:schemeClr val="bg1">
                <a:lumMod val="50000"/>
              </a:schemeClr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8" name="矢印: 下 37">
            <a:extLst>
              <a:ext uri="{FF2B5EF4-FFF2-40B4-BE49-F238E27FC236}">
                <a16:creationId xmlns:a16="http://schemas.microsoft.com/office/drawing/2014/main" id="{04F76B34-5C35-0093-4A1F-9761205E1C93}"/>
              </a:ext>
            </a:extLst>
          </p:cNvPr>
          <p:cNvSpPr/>
          <p:nvPr/>
        </p:nvSpPr>
        <p:spPr>
          <a:xfrm>
            <a:off x="8112224" y="2335281"/>
            <a:ext cx="360040" cy="2461871"/>
          </a:xfrm>
          <a:prstGeom prst="downArrow">
            <a:avLst/>
          </a:prstGeom>
          <a:solidFill>
            <a:schemeClr val="bg1">
              <a:lumMod val="50000"/>
            </a:schemeClr>
          </a:solidFill>
          <a:ln w="38100" cap="rnd">
            <a:solidFill>
              <a:schemeClr val="bg1">
                <a:lumMod val="50000"/>
              </a:schemeClr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9" name="矢印: 下 38">
            <a:extLst>
              <a:ext uri="{FF2B5EF4-FFF2-40B4-BE49-F238E27FC236}">
                <a16:creationId xmlns:a16="http://schemas.microsoft.com/office/drawing/2014/main" id="{B46D2A39-3AD1-91FA-C999-342BA2A65495}"/>
              </a:ext>
            </a:extLst>
          </p:cNvPr>
          <p:cNvSpPr/>
          <p:nvPr/>
        </p:nvSpPr>
        <p:spPr>
          <a:xfrm>
            <a:off x="10373500" y="2335281"/>
            <a:ext cx="360040" cy="3758015"/>
          </a:xfrm>
          <a:prstGeom prst="downArrow">
            <a:avLst/>
          </a:prstGeom>
          <a:solidFill>
            <a:schemeClr val="bg1">
              <a:lumMod val="50000"/>
            </a:schemeClr>
          </a:solidFill>
          <a:ln w="38100" cap="rnd">
            <a:solidFill>
              <a:schemeClr val="bg1">
                <a:lumMod val="50000"/>
              </a:schemeClr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6" name="矢印: 下 35">
            <a:extLst>
              <a:ext uri="{FF2B5EF4-FFF2-40B4-BE49-F238E27FC236}">
                <a16:creationId xmlns:a16="http://schemas.microsoft.com/office/drawing/2014/main" id="{81B7D77C-4BDA-7C2D-B06E-1ACAEBA3E225}"/>
              </a:ext>
            </a:extLst>
          </p:cNvPr>
          <p:cNvSpPr/>
          <p:nvPr/>
        </p:nvSpPr>
        <p:spPr>
          <a:xfrm>
            <a:off x="3575720" y="2335281"/>
            <a:ext cx="360040" cy="1165727"/>
          </a:xfrm>
          <a:prstGeom prst="downArrow">
            <a:avLst/>
          </a:prstGeom>
          <a:solidFill>
            <a:schemeClr val="tx2">
              <a:lumMod val="50000"/>
            </a:schemeClr>
          </a:solidFill>
          <a:ln w="38100" cap="rnd">
            <a:solidFill>
              <a:schemeClr val="tx2">
                <a:lumMod val="50000"/>
              </a:schemeClr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3043981-1A89-AD54-DB97-0DD2A7260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当社サービスの強み：導入期間の短さ</a:t>
            </a:r>
            <a:endParaRPr lang="ja-JP" altLang="en-US" dirty="0"/>
          </a:p>
        </p:txBody>
      </p:sp>
      <p:sp>
        <p:nvSpPr>
          <p:cNvPr id="69" name="テキスト プレースホルダー 68">
            <a:extLst>
              <a:ext uri="{FF2B5EF4-FFF2-40B4-BE49-F238E27FC236}">
                <a16:creationId xmlns:a16="http://schemas.microsoft.com/office/drawing/2014/main" id="{09217028-0D8C-5E24-8E84-FE93C70C79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180000" rIns="180000" anchor="ctr">
            <a:normAutofit fontScale="62500" lnSpcReduction="20000"/>
          </a:bodyPr>
          <a:lstStyle/>
          <a:p>
            <a:endParaRPr kumimoji="1" lang="en-US" altLang="ja-JP" sz="1800" dirty="0">
              <a:latin typeface="+mn-ea"/>
            </a:endParaRPr>
          </a:p>
        </p:txBody>
      </p:sp>
      <p:sp>
        <p:nvSpPr>
          <p:cNvPr id="42" name="テキスト プレースホルダー 41">
            <a:extLst>
              <a:ext uri="{FF2B5EF4-FFF2-40B4-BE49-F238E27FC236}">
                <a16:creationId xmlns:a16="http://schemas.microsoft.com/office/drawing/2014/main" id="{6E759F4A-4A74-FE35-99E0-A708E3248B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お申込みの翌日にアカウント発行されるため、利用機能の確認や操作感などをすぐに確認いただけます。</a:t>
            </a:r>
            <a:br>
              <a:rPr lang="en-US" altLang="ja-JP" dirty="0"/>
            </a:br>
            <a:r>
              <a:rPr lang="ja-JP" altLang="en-US" dirty="0"/>
              <a:t>また、環境提供まで４日間で対応可能となるため、機会を逃すことなくサービス利用が可能です。</a:t>
            </a:r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E9BF3FEC-EE1E-F19D-00D3-894C0ECDC5B0}"/>
              </a:ext>
            </a:extLst>
          </p:cNvPr>
          <p:cNvGraphicFramePr>
            <a:graphicFrameLocks noGrp="1"/>
          </p:cNvGraphicFramePr>
          <p:nvPr/>
        </p:nvGraphicFramePr>
        <p:xfrm>
          <a:off x="479376" y="1844824"/>
          <a:ext cx="11233248" cy="4728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8198">
                  <a:extLst>
                    <a:ext uri="{9D8B030D-6E8A-4147-A177-3AD203B41FA5}">
                      <a16:colId xmlns:a16="http://schemas.microsoft.com/office/drawing/2014/main" val="3679363925"/>
                    </a:ext>
                  </a:extLst>
                </a:gridCol>
                <a:gridCol w="372042">
                  <a:extLst>
                    <a:ext uri="{9D8B030D-6E8A-4147-A177-3AD203B41FA5}">
                      <a16:colId xmlns:a16="http://schemas.microsoft.com/office/drawing/2014/main" val="1541883086"/>
                    </a:ext>
                  </a:extLst>
                </a:gridCol>
                <a:gridCol w="2268252">
                  <a:extLst>
                    <a:ext uri="{9D8B030D-6E8A-4147-A177-3AD203B41FA5}">
                      <a16:colId xmlns:a16="http://schemas.microsoft.com/office/drawing/2014/main" val="3519860788"/>
                    </a:ext>
                  </a:extLst>
                </a:gridCol>
                <a:gridCol w="2268252">
                  <a:extLst>
                    <a:ext uri="{9D8B030D-6E8A-4147-A177-3AD203B41FA5}">
                      <a16:colId xmlns:a16="http://schemas.microsoft.com/office/drawing/2014/main" val="1751803501"/>
                    </a:ext>
                  </a:extLst>
                </a:gridCol>
                <a:gridCol w="2268252">
                  <a:extLst>
                    <a:ext uri="{9D8B030D-6E8A-4147-A177-3AD203B41FA5}">
                      <a16:colId xmlns:a16="http://schemas.microsoft.com/office/drawing/2014/main" val="1093916741"/>
                    </a:ext>
                  </a:extLst>
                </a:gridCol>
                <a:gridCol w="2268252">
                  <a:extLst>
                    <a:ext uri="{9D8B030D-6E8A-4147-A177-3AD203B41FA5}">
                      <a16:colId xmlns:a16="http://schemas.microsoft.com/office/drawing/2014/main" val="9589798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bg1"/>
                          </a:solidFill>
                        </a:rPr>
                        <a:t>導入日数</a:t>
                      </a:r>
                    </a:p>
                  </a:txBody>
                  <a:tcPr marL="108000" marR="108000" marT="72000" marB="72000" anchor="ctr">
                    <a:lnR w="12700" cmpd="sng">
                      <a:noFill/>
                    </a:ln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当社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A</a:t>
                      </a:r>
                      <a:r>
                        <a:rPr kumimoji="1" lang="ja-JP" altLang="en-US" dirty="0"/>
                        <a:t>社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83838"/>
                          </a:solidFill>
                          <a:effectLst/>
                          <a:uLnTx/>
                          <a:uFillTx/>
                          <a:latin typeface="FOT-筑紫A丸ゴシック Std B"/>
                          <a:ea typeface="FOT-筑紫A丸ゴシック Std B"/>
                          <a:cs typeface="+mn-cs"/>
                        </a:rPr>
                        <a:t>B</a:t>
                      </a:r>
                      <a:r>
                        <a:rPr kumimoji="1" lang="ja-JP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83838"/>
                          </a:solidFill>
                          <a:effectLst/>
                          <a:uLnTx/>
                          <a:uFillTx/>
                          <a:latin typeface="FOT-筑紫A丸ゴシック Std B"/>
                          <a:ea typeface="FOT-筑紫A丸ゴシック Std B"/>
                          <a:cs typeface="+mn-cs"/>
                        </a:rPr>
                        <a:t>社</a:t>
                      </a:r>
                      <a:endParaRPr kumimoji="1" lang="ja-JP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83838"/>
                          </a:solidFill>
                          <a:effectLst/>
                          <a:uLnTx/>
                          <a:uFillTx/>
                          <a:latin typeface="FOT-筑紫A丸ゴシック Std B"/>
                          <a:ea typeface="FOT-筑紫A丸ゴシック Std B"/>
                          <a:cs typeface="+mn-cs"/>
                        </a:rPr>
                        <a:t>C</a:t>
                      </a:r>
                      <a:r>
                        <a:rPr kumimoji="1" lang="ja-JP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83838"/>
                          </a:solidFill>
                          <a:effectLst/>
                          <a:uLnTx/>
                          <a:uFillTx/>
                          <a:latin typeface="FOT-筑紫A丸ゴシック Std B"/>
                          <a:ea typeface="FOT-筑紫A丸ゴシック Std B"/>
                          <a:cs typeface="+mn-cs"/>
                        </a:rPr>
                        <a:t>社</a:t>
                      </a:r>
                      <a:endParaRPr kumimoji="1" lang="ja-JP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34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bg1"/>
                          </a:solidFill>
                        </a:rPr>
                        <a:t>申込み当日</a:t>
                      </a:r>
                    </a:p>
                  </a:txBody>
                  <a:tcPr marL="108000" marR="108000" marT="72000" marB="72000" anchor="ctr">
                    <a:lnR w="12700" cmpd="sng">
                      <a:noFill/>
                    </a:ln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4111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kumimoji="1" lang="ja-JP" altLang="en-US" dirty="0">
                          <a:solidFill>
                            <a:schemeClr val="bg1"/>
                          </a:solidFill>
                        </a:rPr>
                        <a:t>日</a:t>
                      </a:r>
                    </a:p>
                  </a:txBody>
                  <a:tcPr marL="108000" marR="108000" marT="72000" marB="72000" anchor="ctr">
                    <a:lnR w="12700" cmpd="sng">
                      <a:noFill/>
                    </a:ln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アカウント発行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3290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bg1"/>
                          </a:solidFill>
                        </a:rPr>
                        <a:t>３日</a:t>
                      </a:r>
                    </a:p>
                  </a:txBody>
                  <a:tcPr marL="108000" marR="108000" marT="72000" marB="72000" anchor="ctr">
                    <a:lnR w="12700" cmpd="sng">
                      <a:noFill/>
                    </a:ln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アカウント発行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9688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bg1"/>
                          </a:solidFill>
                        </a:rPr>
                        <a:t>４日</a:t>
                      </a:r>
                    </a:p>
                  </a:txBody>
                  <a:tcPr marL="108000" marR="108000" marT="72000" marB="72000" anchor="ctr">
                    <a:lnR w="12700" cmpd="sng">
                      <a:noFill/>
                    </a:ln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利用開始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アカウント発行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039553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bg1"/>
                          </a:solidFill>
                        </a:rPr>
                        <a:t>・・・</a:t>
                      </a:r>
                    </a:p>
                  </a:txBody>
                  <a:tcPr marL="108000" marR="108000" marT="72000" marB="72000" vert="eaVert" anchor="ctr">
                    <a:lnR w="12700" cmpd="sng">
                      <a:noFill/>
                    </a:ln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642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bg1"/>
                          </a:solidFill>
                        </a:rPr>
                        <a:t>１０日</a:t>
                      </a:r>
                    </a:p>
                  </a:txBody>
                  <a:tcPr marL="108000" marR="108000" marT="72000" marB="72000" anchor="ctr">
                    <a:lnR w="12700" cmpd="sng">
                      <a:noFill/>
                    </a:ln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利用開始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利用開始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アカウント発行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373062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bg1"/>
                          </a:solidFill>
                        </a:rPr>
                        <a:t>・・・</a:t>
                      </a:r>
                    </a:p>
                  </a:txBody>
                  <a:tcPr marL="108000" marR="108000" marT="72000" marB="72000" vert="eaVert" anchor="ctr">
                    <a:lnR w="12700" cmpd="sng">
                      <a:noFill/>
                    </a:ln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89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bg1"/>
                          </a:solidFill>
                        </a:rPr>
                        <a:t>１か月</a:t>
                      </a:r>
                    </a:p>
                  </a:txBody>
                  <a:tcPr marL="108000" marR="108000" marT="72000" marB="72000" anchor="ctr">
                    <a:lnR w="12700" cmpd="sng">
                      <a:noFill/>
                    </a:ln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利用開始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5533348"/>
                  </a:ext>
                </a:extLst>
              </a:tr>
            </a:tbl>
          </a:graphicData>
        </a:graphic>
      </p:graphicFrame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5131B235-B6DA-8854-5720-05F8F7895696}"/>
              </a:ext>
            </a:extLst>
          </p:cNvPr>
          <p:cNvSpPr/>
          <p:nvPr/>
        </p:nvSpPr>
        <p:spPr>
          <a:xfrm>
            <a:off x="2639885" y="1844824"/>
            <a:ext cx="2254570" cy="2088232"/>
          </a:xfrm>
          <a:prstGeom prst="roundRect">
            <a:avLst>
              <a:gd name="adj" fmla="val 1941"/>
            </a:avLst>
          </a:prstGeom>
          <a:noFill/>
          <a:ln w="57150" cap="rnd">
            <a:solidFill>
              <a:schemeClr val="tx2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0D4D9C28-F09D-290F-D323-887B6C7615F0}"/>
              </a:ext>
            </a:extLst>
          </p:cNvPr>
          <p:cNvSpPr txBox="1"/>
          <p:nvPr/>
        </p:nvSpPr>
        <p:spPr>
          <a:xfrm>
            <a:off x="2520675" y="3983514"/>
            <a:ext cx="2492991" cy="3956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tx2"/>
                </a:solidFill>
                <a:latin typeface="+mn-ea"/>
              </a:rPr>
              <a:t>最短４日で利用開始！</a:t>
            </a:r>
          </a:p>
        </p:txBody>
      </p:sp>
    </p:spTree>
    <p:extLst>
      <p:ext uri="{BB962C8B-B14F-4D97-AF65-F5344CB8AC3E}">
        <p14:creationId xmlns:p14="http://schemas.microsoft.com/office/powerpoint/2010/main" val="2769842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B6076-0A24-9F36-F761-ABF48C52B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5D6F9DD8-F916-C77E-A37F-BE66DB8D8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当社サービスの強み：導入期間の短さ</a:t>
            </a:r>
            <a:endParaRPr lang="ja-JP" altLang="en-US" dirty="0"/>
          </a:p>
        </p:txBody>
      </p:sp>
      <p:sp>
        <p:nvSpPr>
          <p:cNvPr id="42" name="テキスト プレースホルダー 41">
            <a:extLst>
              <a:ext uri="{FF2B5EF4-FFF2-40B4-BE49-F238E27FC236}">
                <a16:creationId xmlns:a16="http://schemas.microsoft.com/office/drawing/2014/main" id="{C64B7AD5-E2D4-F9F0-95A4-17698471F3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901" y="750900"/>
            <a:ext cx="11523307" cy="1130169"/>
          </a:xfrm>
        </p:spPr>
        <p:txBody>
          <a:bodyPr/>
          <a:lstStyle/>
          <a:p>
            <a:r>
              <a:rPr lang="ja-JP" altLang="en-US" dirty="0"/>
              <a:t>外部委託しない自社ワンストップ体制により、プラン作成～見積の期間を従来比で１</a:t>
            </a:r>
            <a:r>
              <a:rPr lang="en-US" altLang="ja-JP" dirty="0"/>
              <a:t>/</a:t>
            </a:r>
            <a:r>
              <a:rPr lang="ja-JP" altLang="en-US" dirty="0"/>
              <a:t>３へ圧縮</a:t>
            </a:r>
            <a:br>
              <a:rPr lang="en-US" altLang="ja-JP" dirty="0"/>
            </a:br>
            <a:r>
              <a:rPr lang="ja-JP" altLang="en-US" dirty="0"/>
              <a:t>これにより①タイムリーな施策実行、②施策費用の削減が可能です</a:t>
            </a: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BCB0513B-2541-423A-7289-081CF87B5121}"/>
              </a:ext>
            </a:extLst>
          </p:cNvPr>
          <p:cNvSpPr/>
          <p:nvPr/>
        </p:nvSpPr>
        <p:spPr>
          <a:xfrm>
            <a:off x="475631" y="1975671"/>
            <a:ext cx="11240738" cy="3879700"/>
          </a:xfrm>
          <a:prstGeom prst="roundRect">
            <a:avLst>
              <a:gd name="adj" fmla="val 5008"/>
            </a:avLst>
          </a:prstGeom>
          <a:solidFill>
            <a:schemeClr val="bg1">
              <a:lumMod val="95000"/>
            </a:schemeClr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" name="矢印: 五方向 2">
            <a:extLst>
              <a:ext uri="{FF2B5EF4-FFF2-40B4-BE49-F238E27FC236}">
                <a16:creationId xmlns:a16="http://schemas.microsoft.com/office/drawing/2014/main" id="{6319780C-C6B9-7A13-BE46-1E826F65952D}"/>
              </a:ext>
            </a:extLst>
          </p:cNvPr>
          <p:cNvSpPr/>
          <p:nvPr/>
        </p:nvSpPr>
        <p:spPr>
          <a:xfrm>
            <a:off x="695400" y="2448093"/>
            <a:ext cx="1440160" cy="792088"/>
          </a:xfrm>
          <a:prstGeom prst="homePlate">
            <a:avLst>
              <a:gd name="adj" fmla="val 37173"/>
            </a:avLst>
          </a:prstGeom>
          <a:solidFill>
            <a:schemeClr val="tx2">
              <a:lumMod val="20000"/>
              <a:lumOff val="80000"/>
            </a:schemeClr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600" dirty="0">
                <a:solidFill>
                  <a:schemeClr val="tx1"/>
                </a:solidFill>
              </a:rPr>
              <a:t>ヒアリング</a:t>
            </a:r>
          </a:p>
        </p:txBody>
      </p:sp>
      <p:sp>
        <p:nvSpPr>
          <p:cNvPr id="4" name="矢印: 五方向 3">
            <a:extLst>
              <a:ext uri="{FF2B5EF4-FFF2-40B4-BE49-F238E27FC236}">
                <a16:creationId xmlns:a16="http://schemas.microsoft.com/office/drawing/2014/main" id="{2BCCA012-5407-0AD2-4C4A-3C9C9C9568F4}"/>
              </a:ext>
            </a:extLst>
          </p:cNvPr>
          <p:cNvSpPr/>
          <p:nvPr/>
        </p:nvSpPr>
        <p:spPr>
          <a:xfrm>
            <a:off x="2255573" y="2448093"/>
            <a:ext cx="1440160" cy="792088"/>
          </a:xfrm>
          <a:prstGeom prst="homePlate">
            <a:avLst>
              <a:gd name="adj" fmla="val 37173"/>
            </a:avLst>
          </a:prstGeom>
          <a:solidFill>
            <a:schemeClr val="tx2">
              <a:lumMod val="20000"/>
              <a:lumOff val="80000"/>
            </a:schemeClr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600" dirty="0">
                <a:solidFill>
                  <a:schemeClr val="tx1"/>
                </a:solidFill>
              </a:rPr>
              <a:t>プラン作成</a:t>
            </a:r>
          </a:p>
        </p:txBody>
      </p:sp>
      <p:sp>
        <p:nvSpPr>
          <p:cNvPr id="5" name="矢印: 五方向 4">
            <a:extLst>
              <a:ext uri="{FF2B5EF4-FFF2-40B4-BE49-F238E27FC236}">
                <a16:creationId xmlns:a16="http://schemas.microsoft.com/office/drawing/2014/main" id="{5EF92602-5738-17A5-DA9C-040322CFA25F}"/>
              </a:ext>
            </a:extLst>
          </p:cNvPr>
          <p:cNvSpPr/>
          <p:nvPr/>
        </p:nvSpPr>
        <p:spPr>
          <a:xfrm>
            <a:off x="3815746" y="2448093"/>
            <a:ext cx="1440160" cy="792088"/>
          </a:xfrm>
          <a:prstGeom prst="homePlate">
            <a:avLst>
              <a:gd name="adj" fmla="val 37173"/>
            </a:avLst>
          </a:prstGeom>
          <a:solidFill>
            <a:schemeClr val="tx2">
              <a:lumMod val="20000"/>
              <a:lumOff val="80000"/>
            </a:schemeClr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600" dirty="0">
                <a:solidFill>
                  <a:schemeClr val="tx1"/>
                </a:solidFill>
              </a:rPr>
              <a:t>委託先への見積依頼</a:t>
            </a:r>
          </a:p>
        </p:txBody>
      </p:sp>
      <p:sp>
        <p:nvSpPr>
          <p:cNvPr id="7" name="矢印: 五方向 6">
            <a:extLst>
              <a:ext uri="{FF2B5EF4-FFF2-40B4-BE49-F238E27FC236}">
                <a16:creationId xmlns:a16="http://schemas.microsoft.com/office/drawing/2014/main" id="{674238AD-F7F4-197B-E095-38AB872756C9}"/>
              </a:ext>
            </a:extLst>
          </p:cNvPr>
          <p:cNvSpPr/>
          <p:nvPr/>
        </p:nvSpPr>
        <p:spPr>
          <a:xfrm>
            <a:off x="5375919" y="2448093"/>
            <a:ext cx="1440160" cy="792088"/>
          </a:xfrm>
          <a:prstGeom prst="homePlate">
            <a:avLst>
              <a:gd name="adj" fmla="val 37173"/>
            </a:avLst>
          </a:prstGeom>
          <a:solidFill>
            <a:schemeClr val="tx2">
              <a:lumMod val="20000"/>
              <a:lumOff val="80000"/>
            </a:schemeClr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600" dirty="0">
                <a:solidFill>
                  <a:schemeClr val="tx1"/>
                </a:solidFill>
              </a:rPr>
              <a:t>委託先</a:t>
            </a:r>
            <a:br>
              <a:rPr kumimoji="1" lang="en-US" altLang="ja-JP" sz="1600" dirty="0">
                <a:solidFill>
                  <a:schemeClr val="tx1"/>
                </a:solidFill>
              </a:rPr>
            </a:br>
            <a:r>
              <a:rPr kumimoji="1" lang="ja-JP" altLang="en-US" sz="1600" dirty="0">
                <a:solidFill>
                  <a:schemeClr val="tx1"/>
                </a:solidFill>
              </a:rPr>
              <a:t>見積受領</a:t>
            </a:r>
          </a:p>
        </p:txBody>
      </p:sp>
      <p:sp>
        <p:nvSpPr>
          <p:cNvPr id="9" name="矢印: 五方向 8">
            <a:extLst>
              <a:ext uri="{FF2B5EF4-FFF2-40B4-BE49-F238E27FC236}">
                <a16:creationId xmlns:a16="http://schemas.microsoft.com/office/drawing/2014/main" id="{F504CA25-5283-262F-7F35-B01ACF7F5625}"/>
              </a:ext>
            </a:extLst>
          </p:cNvPr>
          <p:cNvSpPr/>
          <p:nvPr/>
        </p:nvSpPr>
        <p:spPr>
          <a:xfrm>
            <a:off x="6936092" y="2448093"/>
            <a:ext cx="1440160" cy="792088"/>
          </a:xfrm>
          <a:prstGeom prst="homePlate">
            <a:avLst>
              <a:gd name="adj" fmla="val 37173"/>
            </a:avLst>
          </a:prstGeom>
          <a:solidFill>
            <a:schemeClr val="tx2">
              <a:lumMod val="20000"/>
              <a:lumOff val="80000"/>
            </a:schemeClr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600" dirty="0">
                <a:solidFill>
                  <a:schemeClr val="tx1"/>
                </a:solidFill>
              </a:rPr>
              <a:t>見積作成</a:t>
            </a:r>
            <a:endParaRPr kumimoji="1" lang="en-US" altLang="ja-JP" sz="16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600" dirty="0">
                <a:solidFill>
                  <a:schemeClr val="tx1"/>
                </a:solidFill>
              </a:rPr>
              <a:t>／説明</a:t>
            </a:r>
          </a:p>
        </p:txBody>
      </p:sp>
      <p:sp>
        <p:nvSpPr>
          <p:cNvPr id="10" name="矢印: 五方向 9">
            <a:extLst>
              <a:ext uri="{FF2B5EF4-FFF2-40B4-BE49-F238E27FC236}">
                <a16:creationId xmlns:a16="http://schemas.microsoft.com/office/drawing/2014/main" id="{00E32819-168E-6E60-9983-EC96ED058D3D}"/>
              </a:ext>
            </a:extLst>
          </p:cNvPr>
          <p:cNvSpPr/>
          <p:nvPr/>
        </p:nvSpPr>
        <p:spPr>
          <a:xfrm>
            <a:off x="8496265" y="2448093"/>
            <a:ext cx="1440160" cy="792088"/>
          </a:xfrm>
          <a:prstGeom prst="homePlate">
            <a:avLst>
              <a:gd name="adj" fmla="val 37173"/>
            </a:avLst>
          </a:prstGeom>
          <a:solidFill>
            <a:schemeClr val="tx2">
              <a:lumMod val="20000"/>
              <a:lumOff val="80000"/>
            </a:schemeClr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600" dirty="0">
                <a:solidFill>
                  <a:schemeClr val="tx1"/>
                </a:solidFill>
              </a:rPr>
              <a:t>契約</a:t>
            </a:r>
          </a:p>
        </p:txBody>
      </p:sp>
      <p:sp>
        <p:nvSpPr>
          <p:cNvPr id="14" name="矢印: 五方向 13">
            <a:extLst>
              <a:ext uri="{FF2B5EF4-FFF2-40B4-BE49-F238E27FC236}">
                <a16:creationId xmlns:a16="http://schemas.microsoft.com/office/drawing/2014/main" id="{6C1DA09B-9F87-15F4-2A5D-CAB9149E282B}"/>
              </a:ext>
            </a:extLst>
          </p:cNvPr>
          <p:cNvSpPr/>
          <p:nvPr/>
        </p:nvSpPr>
        <p:spPr>
          <a:xfrm>
            <a:off x="695400" y="4647225"/>
            <a:ext cx="1440160" cy="792088"/>
          </a:xfrm>
          <a:prstGeom prst="homePlate">
            <a:avLst>
              <a:gd name="adj" fmla="val 37173"/>
            </a:avLst>
          </a:prstGeom>
          <a:solidFill>
            <a:schemeClr val="tx2">
              <a:lumMod val="20000"/>
              <a:lumOff val="80000"/>
            </a:schemeClr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600" dirty="0">
                <a:solidFill>
                  <a:schemeClr val="tx1"/>
                </a:solidFill>
              </a:rPr>
              <a:t>ヒアリング</a:t>
            </a:r>
          </a:p>
        </p:txBody>
      </p:sp>
      <p:sp>
        <p:nvSpPr>
          <p:cNvPr id="18" name="矢印: 五方向 17">
            <a:extLst>
              <a:ext uri="{FF2B5EF4-FFF2-40B4-BE49-F238E27FC236}">
                <a16:creationId xmlns:a16="http://schemas.microsoft.com/office/drawing/2014/main" id="{ABDFA40C-104C-C0F6-F286-A9F417C2A449}"/>
              </a:ext>
            </a:extLst>
          </p:cNvPr>
          <p:cNvSpPr/>
          <p:nvPr/>
        </p:nvSpPr>
        <p:spPr>
          <a:xfrm>
            <a:off x="2255573" y="4647225"/>
            <a:ext cx="3000333" cy="792088"/>
          </a:xfrm>
          <a:prstGeom prst="homePlate">
            <a:avLst>
              <a:gd name="adj" fmla="val 37173"/>
            </a:avLst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7000">
                <a:schemeClr val="tx2"/>
              </a:gs>
            </a:gsLst>
            <a:lin ang="2700000" scaled="1"/>
            <a:tileRect/>
          </a:gra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600" dirty="0">
                <a:solidFill>
                  <a:schemeClr val="bg1"/>
                </a:solidFill>
              </a:rPr>
              <a:t>ラクプレ社</a:t>
            </a:r>
            <a:endParaRPr kumimoji="1" lang="en-US" altLang="ja-JP" sz="1600" dirty="0">
              <a:solidFill>
                <a:schemeClr val="bg1"/>
              </a:solidFill>
            </a:endParaRPr>
          </a:p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400" dirty="0">
                <a:solidFill>
                  <a:schemeClr val="bg1"/>
                </a:solidFill>
              </a:rPr>
              <a:t>プラン作成・見積・ご提案</a:t>
            </a:r>
          </a:p>
        </p:txBody>
      </p:sp>
      <p:sp>
        <p:nvSpPr>
          <p:cNvPr id="20" name="矢印: 五方向 19">
            <a:extLst>
              <a:ext uri="{FF2B5EF4-FFF2-40B4-BE49-F238E27FC236}">
                <a16:creationId xmlns:a16="http://schemas.microsoft.com/office/drawing/2014/main" id="{71DC6439-051D-465D-8251-6C97A0203D3C}"/>
              </a:ext>
            </a:extLst>
          </p:cNvPr>
          <p:cNvSpPr/>
          <p:nvPr/>
        </p:nvSpPr>
        <p:spPr>
          <a:xfrm>
            <a:off x="5375919" y="4647225"/>
            <a:ext cx="1440160" cy="792088"/>
          </a:xfrm>
          <a:prstGeom prst="homePlate">
            <a:avLst>
              <a:gd name="adj" fmla="val 37173"/>
            </a:avLst>
          </a:prstGeom>
          <a:solidFill>
            <a:schemeClr val="tx2">
              <a:lumMod val="20000"/>
              <a:lumOff val="80000"/>
            </a:schemeClr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600" dirty="0">
                <a:solidFill>
                  <a:schemeClr val="tx1"/>
                </a:solidFill>
              </a:rPr>
              <a:t>契約</a:t>
            </a:r>
          </a:p>
        </p:txBody>
      </p:sp>
      <p:sp>
        <p:nvSpPr>
          <p:cNvPr id="21" name="右大かっこ 20">
            <a:extLst>
              <a:ext uri="{FF2B5EF4-FFF2-40B4-BE49-F238E27FC236}">
                <a16:creationId xmlns:a16="http://schemas.microsoft.com/office/drawing/2014/main" id="{74632027-D6EC-D09A-3ABC-6E24771A6FFC}"/>
              </a:ext>
            </a:extLst>
          </p:cNvPr>
          <p:cNvSpPr/>
          <p:nvPr/>
        </p:nvSpPr>
        <p:spPr>
          <a:xfrm rot="5400000">
            <a:off x="5247171" y="319573"/>
            <a:ext cx="144016" cy="6162153"/>
          </a:xfrm>
          <a:prstGeom prst="rightBracket">
            <a:avLst>
              <a:gd name="adj" fmla="val 0"/>
            </a:avLst>
          </a:prstGeom>
          <a:ln w="1905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2C9CBF4F-3A06-8C87-F8C9-717C4047F3BF}"/>
              </a:ext>
            </a:extLst>
          </p:cNvPr>
          <p:cNvCxnSpPr>
            <a:cxnSpLocks/>
          </p:cNvCxnSpPr>
          <p:nvPr/>
        </p:nvCxnSpPr>
        <p:spPr>
          <a:xfrm>
            <a:off x="3695733" y="3472658"/>
            <a:ext cx="0" cy="1080120"/>
          </a:xfrm>
          <a:prstGeom prst="straightConnector1">
            <a:avLst/>
          </a:prstGeom>
          <a:ln w="19050" cap="rnd">
            <a:solidFill>
              <a:schemeClr val="tx2"/>
            </a:solidFill>
            <a:round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71D32FF-5100-890C-B773-0BA921A604E0}"/>
              </a:ext>
            </a:extLst>
          </p:cNvPr>
          <p:cNvSpPr txBox="1"/>
          <p:nvPr/>
        </p:nvSpPr>
        <p:spPr>
          <a:xfrm>
            <a:off x="10004546" y="2448093"/>
            <a:ext cx="1399932" cy="79208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600" dirty="0">
                <a:latin typeface="+mn-ea"/>
              </a:rPr>
              <a:t>約</a:t>
            </a:r>
            <a:r>
              <a:rPr kumimoji="1" lang="en-US" altLang="ja-JP" sz="4400" dirty="0">
                <a:latin typeface="+mn-ea"/>
              </a:rPr>
              <a:t>30</a:t>
            </a:r>
            <a:r>
              <a:rPr kumimoji="1" lang="ja-JP" altLang="en-US" sz="1600" dirty="0">
                <a:latin typeface="+mn-ea"/>
              </a:rPr>
              <a:t>日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23BADA77-B5CF-5C39-07B2-91C03EF18677}"/>
              </a:ext>
            </a:extLst>
          </p:cNvPr>
          <p:cNvSpPr txBox="1"/>
          <p:nvPr/>
        </p:nvSpPr>
        <p:spPr>
          <a:xfrm>
            <a:off x="6812190" y="4613193"/>
            <a:ext cx="1399932" cy="79208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600" dirty="0">
                <a:latin typeface="+mn-ea"/>
              </a:rPr>
              <a:t>約</a:t>
            </a:r>
            <a:r>
              <a:rPr kumimoji="1" lang="en-US" altLang="ja-JP" sz="4400" dirty="0">
                <a:solidFill>
                  <a:schemeClr val="tx2"/>
                </a:solidFill>
                <a:latin typeface="+mn-ea"/>
              </a:rPr>
              <a:t>10</a:t>
            </a:r>
            <a:r>
              <a:rPr kumimoji="1" lang="ja-JP" altLang="en-US" sz="1600" dirty="0">
                <a:latin typeface="+mn-ea"/>
              </a:rPr>
              <a:t>日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4FF35976-0BBE-4312-206E-6913C420FDFE}"/>
              </a:ext>
            </a:extLst>
          </p:cNvPr>
          <p:cNvSpPr txBox="1"/>
          <p:nvPr/>
        </p:nvSpPr>
        <p:spPr>
          <a:xfrm>
            <a:off x="3757773" y="3530727"/>
            <a:ext cx="3185487" cy="96398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latin typeface="+mn-ea"/>
              </a:rPr>
              <a:t>ワンストップでの提供により</a:t>
            </a:r>
            <a:br>
              <a:rPr kumimoji="1" lang="en-US" altLang="ja-JP" dirty="0">
                <a:latin typeface="+mn-ea"/>
              </a:rPr>
            </a:br>
            <a:r>
              <a:rPr kumimoji="1" lang="ja-JP" altLang="en-US" sz="3200" dirty="0">
                <a:solidFill>
                  <a:schemeClr val="tx2"/>
                </a:solidFill>
                <a:latin typeface="+mn-ea"/>
              </a:rPr>
              <a:t>１</a:t>
            </a:r>
            <a:r>
              <a:rPr kumimoji="1" lang="en-US" altLang="ja-JP" sz="3200" dirty="0">
                <a:solidFill>
                  <a:schemeClr val="tx2"/>
                </a:solidFill>
                <a:latin typeface="+mn-ea"/>
              </a:rPr>
              <a:t>/</a:t>
            </a:r>
            <a:r>
              <a:rPr kumimoji="1" lang="ja-JP" altLang="en-US" sz="3200" dirty="0">
                <a:solidFill>
                  <a:schemeClr val="tx2"/>
                </a:solidFill>
                <a:latin typeface="+mn-ea"/>
              </a:rPr>
              <a:t>３</a:t>
            </a:r>
            <a:r>
              <a:rPr kumimoji="1" lang="ja-JP" altLang="en-US" dirty="0">
                <a:latin typeface="+mn-ea"/>
              </a:rPr>
              <a:t>への圧縮を実現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8F5F8321-BD41-82DE-18B9-371C01FEE134}"/>
              </a:ext>
            </a:extLst>
          </p:cNvPr>
          <p:cNvSpPr/>
          <p:nvPr/>
        </p:nvSpPr>
        <p:spPr>
          <a:xfrm>
            <a:off x="0" y="6021288"/>
            <a:ext cx="12192000" cy="864087"/>
          </a:xfrm>
          <a:prstGeom prst="rect">
            <a:avLst/>
          </a:prstGeom>
          <a:solidFill>
            <a:schemeClr val="tx2"/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2400" dirty="0">
                <a:solidFill>
                  <a:schemeClr val="bg1"/>
                </a:solidFill>
              </a:rPr>
              <a:t>圧倒的なスピード感、コスト競争力により業界シェア</a:t>
            </a:r>
            <a:r>
              <a:rPr kumimoji="1" lang="en-US" altLang="ja-JP" sz="2400" dirty="0">
                <a:solidFill>
                  <a:schemeClr val="bg1"/>
                </a:solidFill>
              </a:rPr>
              <a:t>No1</a:t>
            </a:r>
            <a:r>
              <a:rPr kumimoji="1" lang="ja-JP" altLang="en-US" sz="2400" dirty="0">
                <a:solidFill>
                  <a:schemeClr val="bg1"/>
                </a:solidFill>
              </a:rPr>
              <a:t>を獲得しています</a:t>
            </a:r>
          </a:p>
        </p:txBody>
      </p:sp>
    </p:spTree>
    <p:extLst>
      <p:ext uri="{BB962C8B-B14F-4D97-AF65-F5344CB8AC3E}">
        <p14:creationId xmlns:p14="http://schemas.microsoft.com/office/powerpoint/2010/main" val="2051182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2">
      <a:dk1>
        <a:srgbClr val="383838"/>
      </a:dk1>
      <a:lt1>
        <a:srgbClr val="FFFFFF"/>
      </a:lt1>
      <a:dk2>
        <a:srgbClr val="196ECA"/>
      </a:dk2>
      <a:lt2>
        <a:srgbClr val="E7E6E6"/>
      </a:lt2>
      <a:accent1>
        <a:srgbClr val="E46970"/>
      </a:accent1>
      <a:accent2>
        <a:srgbClr val="8977D7"/>
      </a:accent2>
      <a:accent3>
        <a:srgbClr val="A5A5A5"/>
      </a:accent3>
      <a:accent4>
        <a:srgbClr val="EBC83C"/>
      </a:accent4>
      <a:accent5>
        <a:srgbClr val="00A08C"/>
      </a:accent5>
      <a:accent6>
        <a:srgbClr val="3B5998"/>
      </a:accent6>
      <a:hlink>
        <a:srgbClr val="0563C1"/>
      </a:hlink>
      <a:folHlink>
        <a:srgbClr val="954F72"/>
      </a:folHlink>
    </a:clrScheme>
    <a:fontScheme name="ユーザー定義 2">
      <a:majorFont>
        <a:latin typeface="FOT-筑紫A丸ゴシック Std B"/>
        <a:ea typeface="FOT-筑紫A丸ゴシック Std B"/>
        <a:cs typeface=""/>
      </a:majorFont>
      <a:minorFont>
        <a:latin typeface="FOT-筑紫A丸ゴシック Std B"/>
        <a:ea typeface="FOT-筑紫A丸ゴシック Std B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cap="rnd">
          <a:solidFill>
            <a:schemeClr val="tx2"/>
          </a:solidFill>
          <a:round/>
        </a:ln>
        <a:effectLst/>
      </a:spPr>
      <a:bodyPr rtlCol="0" anchor="ctr"/>
      <a:lstStyle>
        <a:defPPr algn="l">
          <a:lnSpc>
            <a:spcPct val="120000"/>
          </a:lnSpc>
          <a:spcAft>
            <a:spcPts val="300"/>
          </a:spcAft>
          <a:defRPr kumimoji="1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bg1">
              <a:lumMod val="75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20000"/>
          </a:lnSpc>
          <a:spcAft>
            <a:spcPts val="300"/>
          </a:spcAft>
          <a:defRPr kumimoji="1" sz="1600" dirty="0" smtClean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719</Words>
  <Application>Microsoft Office PowerPoint</Application>
  <PresentationFormat>ワイド画面</PresentationFormat>
  <Paragraphs>98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FOT-筑紫A丸ゴシック Std B</vt:lpstr>
      <vt:lpstr>游ゴシック</vt:lpstr>
      <vt:lpstr>Arial</vt:lpstr>
      <vt:lpstr>Office テーマ</vt:lpstr>
      <vt:lpstr>プレゼン資料の作成で使える 削減表現のテンプレート②</vt:lpstr>
      <vt:lpstr>サービス導入効果　～コア業務へのリソースシフト実現～</vt:lpstr>
      <vt:lpstr>サービス導入効果　～コア業務へのリソースシフト実現～</vt:lpstr>
      <vt:lpstr>当社サービスの強み：導入期間の短さ</vt:lpstr>
      <vt:lpstr>当社サービスの強み：導入期間の短さ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2021-01-28T13:14:54Z</dcterms:created>
  <dcterms:modified xsi:type="dcterms:W3CDTF">2025-11-03T04:15:07Z</dcterms:modified>
</cp:coreProperties>
</file>