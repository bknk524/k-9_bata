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6" r:id="rId1"/>
  </p:sldMasterIdLst>
  <p:notesMasterIdLst>
    <p:notesMasterId r:id="rId7"/>
  </p:notesMasterIdLst>
  <p:sldIdLst>
    <p:sldId id="289" r:id="rId2"/>
    <p:sldId id="390" r:id="rId3"/>
    <p:sldId id="344" r:id="rId4"/>
    <p:sldId id="342" r:id="rId5"/>
    <p:sldId id="38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A9D057B8-64A1-4855-900E-FD16F1CBBFA6}">
          <p14:sldIdLst>
            <p14:sldId id="289"/>
            <p14:sldId id="390"/>
            <p14:sldId id="344"/>
            <p14:sldId id="342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838"/>
    <a:srgbClr val="B9FFF6"/>
    <a:srgbClr val="8579EC"/>
    <a:srgbClr val="CDB7F7"/>
    <a:srgbClr val="A6610E"/>
    <a:srgbClr val="E7E6E7"/>
    <a:srgbClr val="E8AF07"/>
    <a:srgbClr val="E7C41A"/>
    <a:srgbClr val="AB6700"/>
    <a:srgbClr val="F4F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4C1CB3-38F4-4AD6-900E-2DE70BE3C0AC}" v="2" dt="2025-08-31T06:49:00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2" autoAdjust="0"/>
    <p:restoredTop sz="95397" autoAdjust="0"/>
  </p:normalViewPr>
  <p:slideViewPr>
    <p:cSldViewPr>
      <p:cViewPr>
        <p:scale>
          <a:sx n="66" d="100"/>
          <a:sy n="66" d="100"/>
        </p:scale>
        <p:origin x="1029" y="4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9738D-D75D-40B1-BF46-FC9ACBB15E7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5198F-549A-4508-B579-8CA394E94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26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E827E-404A-42BE-A160-655696A5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466" y="3429000"/>
            <a:ext cx="7155068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bIns="360000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46F9050E-5634-4EA3-B360-83633D8E58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8575" y="3778250"/>
            <a:ext cx="4383088" cy="1190561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社名を入力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CB53B960-D380-426E-B01A-8F0A5A8AD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575" y="5318060"/>
            <a:ext cx="4383088" cy="691536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YYYY</a:t>
            </a:r>
            <a:r>
              <a:rPr kumimoji="1" lang="ja-JP" altLang="en-US" dirty="0"/>
              <a:t>年</a:t>
            </a:r>
            <a:r>
              <a:rPr kumimoji="1" lang="en-US" altLang="ja-JP" dirty="0"/>
              <a:t>MM</a:t>
            </a:r>
            <a:r>
              <a:rPr kumimoji="1" lang="ja-JP" altLang="en-US" dirty="0"/>
              <a:t>月</a:t>
            </a:r>
            <a:r>
              <a:rPr kumimoji="1" lang="en-US" altLang="ja-JP" dirty="0"/>
              <a:t>DD</a:t>
            </a:r>
            <a:r>
              <a:rPr kumimoji="1" lang="ja-JP" altLang="en-US" dirty="0"/>
              <a:t>日</a:t>
            </a: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88AEADF3-2BA5-5977-F621-B2B6F5B9A12A}"/>
              </a:ext>
            </a:extLst>
          </p:cNvPr>
          <p:cNvSpPr/>
          <p:nvPr userDrawn="1"/>
        </p:nvSpPr>
        <p:spPr>
          <a:xfrm>
            <a:off x="0" y="0"/>
            <a:ext cx="1690222" cy="6858000"/>
          </a:xfrm>
          <a:custGeom>
            <a:avLst/>
            <a:gdLst>
              <a:gd name="connsiteX0" fmla="*/ 0 w 1690222"/>
              <a:gd name="connsiteY0" fmla="*/ 0 h 6858000"/>
              <a:gd name="connsiteX1" fmla="*/ 1690222 w 1690222"/>
              <a:gd name="connsiteY1" fmla="*/ 0 h 6858000"/>
              <a:gd name="connsiteX2" fmla="*/ 1621167 w 1690222"/>
              <a:gd name="connsiteY2" fmla="*/ 87873 h 6858000"/>
              <a:gd name="connsiteX3" fmla="*/ 511780 w 1690222"/>
              <a:gd name="connsiteY3" fmla="*/ 3429001 h 6858000"/>
              <a:gd name="connsiteX4" fmla="*/ 1621167 w 1690222"/>
              <a:gd name="connsiteY4" fmla="*/ 6770129 h 6858000"/>
              <a:gd name="connsiteX5" fmla="*/ 1690220 w 1690222"/>
              <a:gd name="connsiteY5" fmla="*/ 6858000 h 6858000"/>
              <a:gd name="connsiteX6" fmla="*/ 0 w 1690222"/>
              <a:gd name="connsiteY6" fmla="*/ 6858000 h 6858000"/>
              <a:gd name="connsiteX7" fmla="*/ 0 w 169022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2" h="6858000">
                <a:moveTo>
                  <a:pt x="0" y="0"/>
                </a:moveTo>
                <a:lnTo>
                  <a:pt x="1690222" y="0"/>
                </a:lnTo>
                <a:lnTo>
                  <a:pt x="1621167" y="87873"/>
                </a:lnTo>
                <a:cubicBezTo>
                  <a:pt x="924401" y="1019559"/>
                  <a:pt x="511780" y="2176094"/>
                  <a:pt x="511780" y="3429001"/>
                </a:cubicBezTo>
                <a:cubicBezTo>
                  <a:pt x="511780" y="4681909"/>
                  <a:pt x="924401" y="5838444"/>
                  <a:pt x="1621167" y="6770129"/>
                </a:cubicBezTo>
                <a:lnTo>
                  <a:pt x="169022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2CA04C08-36E1-7C02-A6C9-BCF92D0EA01D}"/>
              </a:ext>
            </a:extLst>
          </p:cNvPr>
          <p:cNvSpPr/>
          <p:nvPr userDrawn="1"/>
        </p:nvSpPr>
        <p:spPr>
          <a:xfrm>
            <a:off x="10501780" y="0"/>
            <a:ext cx="1690220" cy="6858000"/>
          </a:xfrm>
          <a:custGeom>
            <a:avLst/>
            <a:gdLst>
              <a:gd name="connsiteX0" fmla="*/ 0 w 1690220"/>
              <a:gd name="connsiteY0" fmla="*/ 0 h 6858000"/>
              <a:gd name="connsiteX1" fmla="*/ 1690220 w 1690220"/>
              <a:gd name="connsiteY1" fmla="*/ 0 h 6858000"/>
              <a:gd name="connsiteX2" fmla="*/ 1690220 w 1690220"/>
              <a:gd name="connsiteY2" fmla="*/ 6858000 h 6858000"/>
              <a:gd name="connsiteX3" fmla="*/ 2 w 1690220"/>
              <a:gd name="connsiteY3" fmla="*/ 6858000 h 6858000"/>
              <a:gd name="connsiteX4" fmla="*/ 69055 w 1690220"/>
              <a:gd name="connsiteY4" fmla="*/ 6770129 h 6858000"/>
              <a:gd name="connsiteX5" fmla="*/ 1178442 w 1690220"/>
              <a:gd name="connsiteY5" fmla="*/ 3429001 h 6858000"/>
              <a:gd name="connsiteX6" fmla="*/ 69055 w 1690220"/>
              <a:gd name="connsiteY6" fmla="*/ 87873 h 6858000"/>
              <a:gd name="connsiteX7" fmla="*/ 0 w 169022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0" h="6858000">
                <a:moveTo>
                  <a:pt x="0" y="0"/>
                </a:moveTo>
                <a:lnTo>
                  <a:pt x="1690220" y="0"/>
                </a:lnTo>
                <a:lnTo>
                  <a:pt x="1690220" y="6858000"/>
                </a:lnTo>
                <a:lnTo>
                  <a:pt x="2" y="6858000"/>
                </a:lnTo>
                <a:lnTo>
                  <a:pt x="69055" y="6770129"/>
                </a:lnTo>
                <a:cubicBezTo>
                  <a:pt x="765821" y="5838444"/>
                  <a:pt x="1178442" y="4681909"/>
                  <a:pt x="1178442" y="3429001"/>
                </a:cubicBezTo>
                <a:cubicBezTo>
                  <a:pt x="1178442" y="2176094"/>
                  <a:pt x="765821" y="1019559"/>
                  <a:pt x="69055" y="8787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888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グラフィックス 18" descr="有機的な角の図形">
            <a:extLst>
              <a:ext uri="{FF2B5EF4-FFF2-40B4-BE49-F238E27FC236}">
                <a16:creationId xmlns:a16="http://schemas.microsoft.com/office/drawing/2014/main" id="{ED18916B-53A8-5C94-D3A4-BF441740AE90}"/>
              </a:ext>
            </a:extLst>
          </p:cNvPr>
          <p:cNvSpPr/>
          <p:nvPr/>
        </p:nvSpPr>
        <p:spPr>
          <a:xfrm flipV="1">
            <a:off x="5303912" y="0"/>
            <a:ext cx="6936035" cy="4146411"/>
          </a:xfrm>
          <a:custGeom>
            <a:avLst/>
            <a:gdLst>
              <a:gd name="connsiteX0" fmla="*/ 6936002 w 6936035"/>
              <a:gd name="connsiteY0" fmla="*/ 4146395 h 4146411"/>
              <a:gd name="connsiteX1" fmla="*/ 0 w 6936035"/>
              <a:gd name="connsiteY1" fmla="*/ 4146412 h 4146411"/>
              <a:gd name="connsiteX2" fmla="*/ 694657 w 6936035"/>
              <a:gd name="connsiteY2" fmla="*/ 3505825 h 4146411"/>
              <a:gd name="connsiteX3" fmla="*/ 3503271 w 6936035"/>
              <a:gd name="connsiteY3" fmla="*/ 3128037 h 4146411"/>
              <a:gd name="connsiteX4" fmla="*/ 4028869 w 6936035"/>
              <a:gd name="connsiteY4" fmla="*/ 2126098 h 4146411"/>
              <a:gd name="connsiteX5" fmla="*/ 5457823 w 6936035"/>
              <a:gd name="connsiteY5" fmla="*/ 1403394 h 4146411"/>
              <a:gd name="connsiteX6" fmla="*/ 6180509 w 6936035"/>
              <a:gd name="connsiteY6" fmla="*/ 237208 h 4146411"/>
              <a:gd name="connsiteX7" fmla="*/ 6936035 w 6936035"/>
              <a:gd name="connsiteY7" fmla="*/ 0 h 4146411"/>
              <a:gd name="connsiteX8" fmla="*/ 6936002 w 6936035"/>
              <a:gd name="connsiteY8" fmla="*/ 4146395 h 414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6035" h="4146411">
                <a:moveTo>
                  <a:pt x="6936002" y="4146395"/>
                </a:moveTo>
                <a:lnTo>
                  <a:pt x="0" y="4146412"/>
                </a:lnTo>
                <a:cubicBezTo>
                  <a:pt x="0" y="4146412"/>
                  <a:pt x="354303" y="3691501"/>
                  <a:pt x="694657" y="3505825"/>
                </a:cubicBezTo>
                <a:cubicBezTo>
                  <a:pt x="1768163" y="2920235"/>
                  <a:pt x="2848618" y="3731688"/>
                  <a:pt x="3503271" y="3128037"/>
                </a:cubicBezTo>
                <a:cubicBezTo>
                  <a:pt x="3841087" y="2816525"/>
                  <a:pt x="3607793" y="2550276"/>
                  <a:pt x="4028869" y="2126098"/>
                </a:cubicBezTo>
                <a:cubicBezTo>
                  <a:pt x="4537336" y="1613900"/>
                  <a:pt x="4985298" y="1893550"/>
                  <a:pt x="5457823" y="1403394"/>
                </a:cubicBezTo>
                <a:cubicBezTo>
                  <a:pt x="5868998" y="976862"/>
                  <a:pt x="5721153" y="566599"/>
                  <a:pt x="6180509" y="237208"/>
                </a:cubicBezTo>
                <a:cubicBezTo>
                  <a:pt x="6440025" y="51117"/>
                  <a:pt x="6936035" y="0"/>
                  <a:pt x="6936035" y="0"/>
                </a:cubicBezTo>
                <a:lnTo>
                  <a:pt x="6936002" y="4146395"/>
                </a:lnTo>
                <a:close/>
              </a:path>
            </a:pathLst>
          </a:custGeom>
          <a:solidFill>
            <a:schemeClr val="tx2"/>
          </a:solidFill>
          <a:ln w="1657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5560" y="2097088"/>
            <a:ext cx="7920880" cy="2663825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8" name="フリーフォーム: 図形 7" descr="有機的な角の図形">
            <a:extLst>
              <a:ext uri="{FF2B5EF4-FFF2-40B4-BE49-F238E27FC236}">
                <a16:creationId xmlns:a16="http://schemas.microsoft.com/office/drawing/2014/main" id="{BDFD2059-C5A0-64A6-776D-DA047DB9902F}"/>
              </a:ext>
            </a:extLst>
          </p:cNvPr>
          <p:cNvSpPr/>
          <p:nvPr userDrawn="1"/>
        </p:nvSpPr>
        <p:spPr>
          <a:xfrm rot="10800000" flipV="1">
            <a:off x="0" y="2297593"/>
            <a:ext cx="4575008" cy="4560407"/>
          </a:xfrm>
          <a:custGeom>
            <a:avLst/>
            <a:gdLst>
              <a:gd name="connsiteX0" fmla="*/ 4575008 w 4575008"/>
              <a:gd name="connsiteY0" fmla="*/ 0 h 4560407"/>
              <a:gd name="connsiteX1" fmla="*/ 4503754 w 4575008"/>
              <a:gd name="connsiteY1" fmla="*/ 42836 h 4560407"/>
              <a:gd name="connsiteX2" fmla="*/ 3516573 w 4575008"/>
              <a:gd name="connsiteY2" fmla="*/ 1635833 h 4560407"/>
              <a:gd name="connsiteX3" fmla="*/ 1564637 w 4575008"/>
              <a:gd name="connsiteY3" fmla="*/ 2623038 h 4560407"/>
              <a:gd name="connsiteX4" fmla="*/ 846676 w 4575008"/>
              <a:gd name="connsiteY4" fmla="*/ 3991676 h 4560407"/>
              <a:gd name="connsiteX5" fmla="*/ 129667 w 4575008"/>
              <a:gd name="connsiteY5" fmla="*/ 4499838 h 4560407"/>
              <a:gd name="connsiteX6" fmla="*/ 0 w 4575008"/>
              <a:gd name="connsiteY6" fmla="*/ 4560407 h 4560407"/>
              <a:gd name="connsiteX7" fmla="*/ 4575008 w 4575008"/>
              <a:gd name="connsiteY7" fmla="*/ 4560407 h 456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5008" h="4560407">
                <a:moveTo>
                  <a:pt x="4575008" y="0"/>
                </a:moveTo>
                <a:lnTo>
                  <a:pt x="4503754" y="42836"/>
                </a:lnTo>
                <a:cubicBezTo>
                  <a:pt x="3876279" y="492780"/>
                  <a:pt x="4078233" y="1053195"/>
                  <a:pt x="3516573" y="1635833"/>
                </a:cubicBezTo>
                <a:cubicBezTo>
                  <a:pt x="2871109" y="2305380"/>
                  <a:pt x="2259198" y="1923382"/>
                  <a:pt x="1564637" y="2623038"/>
                </a:cubicBezTo>
                <a:cubicBezTo>
                  <a:pt x="989452" y="3202461"/>
                  <a:pt x="1308129" y="3566154"/>
                  <a:pt x="846676" y="3991676"/>
                </a:cubicBezTo>
                <a:cubicBezTo>
                  <a:pt x="637087" y="4184937"/>
                  <a:pt x="395546" y="4359781"/>
                  <a:pt x="129667" y="4499838"/>
                </a:cubicBezTo>
                <a:lnTo>
                  <a:pt x="0" y="4560407"/>
                </a:lnTo>
                <a:lnTo>
                  <a:pt x="4575008" y="4560407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657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0047761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C04C0961-51A9-28BA-95ED-A24EFA92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2924944"/>
            <a:ext cx="11523307" cy="1008112"/>
          </a:xfrm>
          <a:ln>
            <a:noFill/>
          </a:ln>
        </p:spPr>
        <p:txBody>
          <a:bodyPr anchor="ctr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2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レーム 2">
            <a:extLst>
              <a:ext uri="{FF2B5EF4-FFF2-40B4-BE49-F238E27FC236}">
                <a16:creationId xmlns:a16="http://schemas.microsoft.com/office/drawing/2014/main" id="{F591FD1E-8BEC-FE49-3A6E-DD7945D838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3321"/>
            </a:avLst>
          </a:prstGeom>
          <a:solidFill>
            <a:schemeClr val="tx2"/>
          </a:solidFill>
          <a:ln w="142875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523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44BA1B0E-7DFE-DA65-9D4A-990974A2A5BB}"/>
              </a:ext>
            </a:extLst>
          </p:cNvPr>
          <p:cNvSpPr/>
          <p:nvPr userDrawn="1"/>
        </p:nvSpPr>
        <p:spPr>
          <a:xfrm flipV="1">
            <a:off x="8666343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7E706537-DD65-C835-53BB-8B80CD9CD438}"/>
              </a:ext>
            </a:extLst>
          </p:cNvPr>
          <p:cNvSpPr/>
          <p:nvPr userDrawn="1"/>
        </p:nvSpPr>
        <p:spPr>
          <a:xfrm flipV="1">
            <a:off x="9237966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A5C3842D-0C6C-1AC4-8F4E-9E5A8F2D6F1C}"/>
              </a:ext>
            </a:extLst>
          </p:cNvPr>
          <p:cNvSpPr/>
          <p:nvPr userDrawn="1"/>
        </p:nvSpPr>
        <p:spPr>
          <a:xfrm flipV="1">
            <a:off x="9809589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400" y="2097088"/>
            <a:ext cx="8496944" cy="2663825"/>
          </a:xfr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419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44BA1B0E-7DFE-DA65-9D4A-990974A2A5BB}"/>
              </a:ext>
            </a:extLst>
          </p:cNvPr>
          <p:cNvSpPr/>
          <p:nvPr userDrawn="1"/>
        </p:nvSpPr>
        <p:spPr>
          <a:xfrm flipH="1" flipV="1">
            <a:off x="1143246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7E706537-DD65-C835-53BB-8B80CD9CD438}"/>
              </a:ext>
            </a:extLst>
          </p:cNvPr>
          <p:cNvSpPr/>
          <p:nvPr userDrawn="1"/>
        </p:nvSpPr>
        <p:spPr>
          <a:xfrm flipH="1" flipV="1">
            <a:off x="571623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A5C3842D-0C6C-1AC4-8F4E-9E5A8F2D6F1C}"/>
              </a:ext>
            </a:extLst>
          </p:cNvPr>
          <p:cNvSpPr/>
          <p:nvPr userDrawn="1"/>
        </p:nvSpPr>
        <p:spPr>
          <a:xfrm flipH="1" flipV="1">
            <a:off x="0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287688" y="2097088"/>
            <a:ext cx="8496944" cy="2663825"/>
          </a:xfr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4257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826C8E36-967D-3C1B-DC58-F40951909CA5}"/>
              </a:ext>
            </a:extLst>
          </p:cNvPr>
          <p:cNvSpPr/>
          <p:nvPr userDrawn="1"/>
        </p:nvSpPr>
        <p:spPr>
          <a:xfrm flipV="1">
            <a:off x="8666343" y="-9838"/>
            <a:ext cx="3525657" cy="6867838"/>
          </a:xfrm>
          <a:custGeom>
            <a:avLst/>
            <a:gdLst>
              <a:gd name="connsiteX0" fmla="*/ 1004831 w 3525657"/>
              <a:gd name="connsiteY0" fmla="*/ 6867838 h 6867838"/>
              <a:gd name="connsiteX1" fmla="*/ 1351764 w 3525657"/>
              <a:gd name="connsiteY1" fmla="*/ 6867838 h 6867838"/>
              <a:gd name="connsiteX2" fmla="*/ 2382411 w 3525657"/>
              <a:gd name="connsiteY2" fmla="*/ 6867838 h 6867838"/>
              <a:gd name="connsiteX3" fmla="*/ 3525657 w 3525657"/>
              <a:gd name="connsiteY3" fmla="*/ 6867838 h 6867838"/>
              <a:gd name="connsiteX4" fmla="*/ 3525657 w 3525657"/>
              <a:gd name="connsiteY4" fmla="*/ 0 h 6867838"/>
              <a:gd name="connsiteX5" fmla="*/ 1351764 w 3525657"/>
              <a:gd name="connsiteY5" fmla="*/ 0 h 6867838"/>
              <a:gd name="connsiteX6" fmla="*/ 1351764 w 3525657"/>
              <a:gd name="connsiteY6" fmla="*/ 9838 h 6867838"/>
              <a:gd name="connsiteX7" fmla="*/ 822377 w 3525657"/>
              <a:gd name="connsiteY7" fmla="*/ 9838 h 6867838"/>
              <a:gd name="connsiteX8" fmla="*/ 788179 w 3525657"/>
              <a:gd name="connsiteY8" fmla="*/ 59236 h 6867838"/>
              <a:gd name="connsiteX9" fmla="*/ 25886 w 3525657"/>
              <a:gd name="connsiteY9" fmla="*/ 1849606 h 6867838"/>
              <a:gd name="connsiteX10" fmla="*/ 998947 w 3525657"/>
              <a:gd name="connsiteY10" fmla="*/ 3687363 h 6867838"/>
              <a:gd name="connsiteX11" fmla="*/ 618723 w 3525657"/>
              <a:gd name="connsiteY11" fmla="*/ 4637924 h 6867838"/>
              <a:gd name="connsiteX12" fmla="*/ 1125689 w 3525657"/>
              <a:gd name="connsiteY12" fmla="*/ 6412308 h 6867838"/>
              <a:gd name="connsiteX13" fmla="*/ 1008565 w 3525657"/>
              <a:gd name="connsiteY13" fmla="*/ 6861619 h 686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25657" h="6867838">
                <a:moveTo>
                  <a:pt x="1004831" y="6867838"/>
                </a:moveTo>
                <a:lnTo>
                  <a:pt x="1351764" y="6867838"/>
                </a:lnTo>
                <a:lnTo>
                  <a:pt x="2382411" y="6867838"/>
                </a:lnTo>
                <a:lnTo>
                  <a:pt x="3525657" y="6867838"/>
                </a:lnTo>
                <a:lnTo>
                  <a:pt x="3525657" y="0"/>
                </a:lnTo>
                <a:lnTo>
                  <a:pt x="1351764" y="0"/>
                </a:lnTo>
                <a:lnTo>
                  <a:pt x="1351764" y="9838"/>
                </a:lnTo>
                <a:lnTo>
                  <a:pt x="822377" y="9838"/>
                </a:lnTo>
                <a:lnTo>
                  <a:pt x="788179" y="59236"/>
                </a:lnTo>
                <a:cubicBezTo>
                  <a:pt x="384849" y="622346"/>
                  <a:pt x="-120636" y="1199919"/>
                  <a:pt x="25886" y="1849606"/>
                </a:cubicBezTo>
                <a:cubicBezTo>
                  <a:pt x="202943" y="2634615"/>
                  <a:pt x="1015963" y="2894370"/>
                  <a:pt x="998947" y="3687363"/>
                </a:cubicBezTo>
                <a:cubicBezTo>
                  <a:pt x="990707" y="4071957"/>
                  <a:pt x="727403" y="4173289"/>
                  <a:pt x="618723" y="4637924"/>
                </a:cubicBezTo>
                <a:cubicBezTo>
                  <a:pt x="444199" y="5383990"/>
                  <a:pt x="1133767" y="5601414"/>
                  <a:pt x="1125689" y="6412308"/>
                </a:cubicBezTo>
                <a:cubicBezTo>
                  <a:pt x="1123953" y="6586451"/>
                  <a:pt x="1075413" y="6732047"/>
                  <a:pt x="1008565" y="6861619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  <a:alpha val="6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CD4A2C1B-A9CF-98CC-B01B-5B5144FD9E21}"/>
              </a:ext>
            </a:extLst>
          </p:cNvPr>
          <p:cNvSpPr/>
          <p:nvPr userDrawn="1"/>
        </p:nvSpPr>
        <p:spPr>
          <a:xfrm>
            <a:off x="9237967" y="-9838"/>
            <a:ext cx="2974292" cy="6867838"/>
          </a:xfrm>
          <a:custGeom>
            <a:avLst/>
            <a:gdLst>
              <a:gd name="connsiteX0" fmla="*/ 1004830 w 2974292"/>
              <a:gd name="connsiteY0" fmla="*/ 0 h 6867838"/>
              <a:gd name="connsiteX1" fmla="*/ 1407110 w 2974292"/>
              <a:gd name="connsiteY1" fmla="*/ 0 h 6867838"/>
              <a:gd name="connsiteX2" fmla="*/ 2382410 w 2974292"/>
              <a:gd name="connsiteY2" fmla="*/ 0 h 6867838"/>
              <a:gd name="connsiteX3" fmla="*/ 2974292 w 2974292"/>
              <a:gd name="connsiteY3" fmla="*/ 0 h 6867838"/>
              <a:gd name="connsiteX4" fmla="*/ 2974292 w 2974292"/>
              <a:gd name="connsiteY4" fmla="*/ 6867838 h 6867838"/>
              <a:gd name="connsiteX5" fmla="*/ 1407110 w 2974292"/>
              <a:gd name="connsiteY5" fmla="*/ 6867838 h 6867838"/>
              <a:gd name="connsiteX6" fmla="*/ 1407110 w 2974292"/>
              <a:gd name="connsiteY6" fmla="*/ 6858000 h 6867838"/>
              <a:gd name="connsiteX7" fmla="*/ 822376 w 2974292"/>
              <a:gd name="connsiteY7" fmla="*/ 6858000 h 6867838"/>
              <a:gd name="connsiteX8" fmla="*/ 788178 w 2974292"/>
              <a:gd name="connsiteY8" fmla="*/ 6808602 h 6867838"/>
              <a:gd name="connsiteX9" fmla="*/ 25885 w 2974292"/>
              <a:gd name="connsiteY9" fmla="*/ 5018232 h 6867838"/>
              <a:gd name="connsiteX10" fmla="*/ 998946 w 2974292"/>
              <a:gd name="connsiteY10" fmla="*/ 3180475 h 6867838"/>
              <a:gd name="connsiteX11" fmla="*/ 618722 w 2974292"/>
              <a:gd name="connsiteY11" fmla="*/ 2229914 h 6867838"/>
              <a:gd name="connsiteX12" fmla="*/ 1125688 w 2974292"/>
              <a:gd name="connsiteY12" fmla="*/ 455530 h 6867838"/>
              <a:gd name="connsiteX13" fmla="*/ 1008564 w 2974292"/>
              <a:gd name="connsiteY13" fmla="*/ 6219 h 686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74292" h="6867838">
                <a:moveTo>
                  <a:pt x="1004830" y="0"/>
                </a:moveTo>
                <a:lnTo>
                  <a:pt x="1407110" y="0"/>
                </a:lnTo>
                <a:lnTo>
                  <a:pt x="2382410" y="0"/>
                </a:lnTo>
                <a:lnTo>
                  <a:pt x="2974292" y="0"/>
                </a:lnTo>
                <a:lnTo>
                  <a:pt x="2974292" y="6867838"/>
                </a:lnTo>
                <a:lnTo>
                  <a:pt x="1407110" y="6867838"/>
                </a:lnTo>
                <a:lnTo>
                  <a:pt x="1407110" y="6858000"/>
                </a:lnTo>
                <a:lnTo>
                  <a:pt x="822376" y="6858000"/>
                </a:lnTo>
                <a:lnTo>
                  <a:pt x="788178" y="6808602"/>
                </a:lnTo>
                <a:cubicBezTo>
                  <a:pt x="384848" y="6245492"/>
                  <a:pt x="-120637" y="5667919"/>
                  <a:pt x="25885" y="5018232"/>
                </a:cubicBezTo>
                <a:cubicBezTo>
                  <a:pt x="202942" y="4233223"/>
                  <a:pt x="1015962" y="3973468"/>
                  <a:pt x="998946" y="3180475"/>
                </a:cubicBezTo>
                <a:cubicBezTo>
                  <a:pt x="990706" y="2795881"/>
                  <a:pt x="727402" y="2694549"/>
                  <a:pt x="618722" y="2229914"/>
                </a:cubicBezTo>
                <a:cubicBezTo>
                  <a:pt x="444198" y="1483848"/>
                  <a:pt x="1133766" y="1266424"/>
                  <a:pt x="1125688" y="455530"/>
                </a:cubicBezTo>
                <a:cubicBezTo>
                  <a:pt x="1123952" y="281387"/>
                  <a:pt x="1075412" y="135791"/>
                  <a:pt x="1008564" y="6219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  <a:alpha val="6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400" y="2097088"/>
            <a:ext cx="8424936" cy="2663825"/>
          </a:xfr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A5C3842D-0C6C-1AC4-8F4E-9E5A8F2D6F1C}"/>
              </a:ext>
            </a:extLst>
          </p:cNvPr>
          <p:cNvSpPr/>
          <p:nvPr userDrawn="1"/>
        </p:nvSpPr>
        <p:spPr>
          <a:xfrm flipV="1">
            <a:off x="9809589" y="-9838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  <a:alpha val="6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07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9311E-F68C-4701-8498-2CBBFCEB10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目次</a:t>
            </a:r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B232D7A6-1B18-4CC4-A924-F02DD2F66F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773" y="1278865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1D37A1EA-B107-467D-9EA7-A3D6FABE26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853" y="1805677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A45A46C7-FB65-47F1-94C1-05E67F7DF2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4773" y="2466164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2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BDA459BE-460D-4F78-B310-CBE8E344E1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88853" y="2992976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7DFE000D-6490-4E4D-9F07-B21C1565A6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4773" y="3653463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3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テキスト プレースホルダー 10">
            <a:extLst>
              <a:ext uri="{FF2B5EF4-FFF2-40B4-BE49-F238E27FC236}">
                <a16:creationId xmlns:a16="http://schemas.microsoft.com/office/drawing/2014/main" id="{51BD221F-7778-4158-AD40-43DC207610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88853" y="4180275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672ECA52-B525-4ECC-9C17-A987198017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4773" y="4840761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4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F4E1AEC3-31B1-442D-AC49-AE95461064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88853" y="5367573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3" name="テキスト プレースホルダー 10">
            <a:extLst>
              <a:ext uri="{FF2B5EF4-FFF2-40B4-BE49-F238E27FC236}">
                <a16:creationId xmlns:a16="http://schemas.microsoft.com/office/drawing/2014/main" id="{3174BAEE-3703-4FAF-9CE2-38E78FAF84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10709" y="1278865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5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4" name="テキスト プレースホルダー 10">
            <a:extLst>
              <a:ext uri="{FF2B5EF4-FFF2-40B4-BE49-F238E27FC236}">
                <a16:creationId xmlns:a16="http://schemas.microsoft.com/office/drawing/2014/main" id="{8C0D46B9-C098-4D3C-9E08-F8230D32C2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04789" y="1805677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5" name="テキスト プレースホルダー 10">
            <a:extLst>
              <a:ext uri="{FF2B5EF4-FFF2-40B4-BE49-F238E27FC236}">
                <a16:creationId xmlns:a16="http://schemas.microsoft.com/office/drawing/2014/main" id="{D92F9985-ADEF-46FC-9E07-EDED4BBAEC7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10709" y="2466164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6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6" name="テキスト プレースホルダー 10">
            <a:extLst>
              <a:ext uri="{FF2B5EF4-FFF2-40B4-BE49-F238E27FC236}">
                <a16:creationId xmlns:a16="http://schemas.microsoft.com/office/drawing/2014/main" id="{8DD7843F-0DD5-4CD6-8DE3-D446C4AB15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04789" y="2992976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7" name="テキスト プレースホルダー 10">
            <a:extLst>
              <a:ext uri="{FF2B5EF4-FFF2-40B4-BE49-F238E27FC236}">
                <a16:creationId xmlns:a16="http://schemas.microsoft.com/office/drawing/2014/main" id="{E3B37C08-FD62-45B5-B86A-B33221D080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10709" y="3653463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7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8" name="テキスト プレースホルダー 10">
            <a:extLst>
              <a:ext uri="{FF2B5EF4-FFF2-40B4-BE49-F238E27FC236}">
                <a16:creationId xmlns:a16="http://schemas.microsoft.com/office/drawing/2014/main" id="{1D15F835-CF97-486F-9613-085CA72CEF4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404789" y="4180275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9" name="テキスト プレースホルダー 10">
            <a:extLst>
              <a:ext uri="{FF2B5EF4-FFF2-40B4-BE49-F238E27FC236}">
                <a16:creationId xmlns:a16="http://schemas.microsoft.com/office/drawing/2014/main" id="{F2C67A84-1E01-4055-BF39-C79D941903C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10709" y="4840761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8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30" name="テキスト プレースホルダー 10">
            <a:extLst>
              <a:ext uri="{FF2B5EF4-FFF2-40B4-BE49-F238E27FC236}">
                <a16:creationId xmlns:a16="http://schemas.microsoft.com/office/drawing/2014/main" id="{1B3DBAB1-B141-4CC4-94E2-42A670EE266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04789" y="5367573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9068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A1F23-6C64-4634-BF2B-AD12EC7D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E9887C17-8B9A-47B2-A86D-F88C21E78B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8364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649C9-9451-4710-BBC0-5FF3CE6D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FF6A98DB-7857-49EC-A11C-28A89071BE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0137" y="2570511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61643707-E63B-4303-BBA0-B3E17558AD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39EC3E60-5FF9-43F9-8AD4-F033A66A8E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9838" y="2561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5ED937E5-48EC-4A82-B3AA-E9FC891BD4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9838" y="3079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3" name="図プレースホルダー 5">
            <a:extLst>
              <a:ext uri="{FF2B5EF4-FFF2-40B4-BE49-F238E27FC236}">
                <a16:creationId xmlns:a16="http://schemas.microsoft.com/office/drawing/2014/main" id="{F368B07E-D19D-4FD9-B132-3AF05B9CBD6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60137" y="4551495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EA776627-E2E3-4A45-BFBB-46BB399FF5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09838" y="4552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2B8986B2-EC3B-4774-A78B-4174DB6AE6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09838" y="5070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6" name="図プレースホルダー 5">
            <a:extLst>
              <a:ext uri="{FF2B5EF4-FFF2-40B4-BE49-F238E27FC236}">
                <a16:creationId xmlns:a16="http://schemas.microsoft.com/office/drawing/2014/main" id="{C1F940A7-7255-42E4-A9AD-2018D8DC61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99884" y="2570511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9533D2B4-C674-46B8-8FCA-13D1DA479A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49585" y="2561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A1C4A968-9834-4D2F-9D2C-2BE825D8D50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49585" y="3079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図プレースホルダー 5">
            <a:extLst>
              <a:ext uri="{FF2B5EF4-FFF2-40B4-BE49-F238E27FC236}">
                <a16:creationId xmlns:a16="http://schemas.microsoft.com/office/drawing/2014/main" id="{C1A95DD1-3B80-4F92-BD21-822E9638A63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99884" y="4551495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8A087231-1587-4E2B-8255-4BFC170F3F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49585" y="4552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400C5617-C855-4741-879A-0DBA54454F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49585" y="5070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4553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325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6"/>
            <a:ext cx="12192000" cy="365125"/>
          </a:xfrm>
          <a:prstGeom prst="rect">
            <a:avLst/>
          </a:prstGeom>
          <a:ln>
            <a:noFill/>
          </a:ln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78F0D8D-D645-581F-360E-ECAF126FB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450"/>
            <a:ext cx="12191223" cy="320675"/>
          </a:xfrm>
        </p:spPr>
        <p:txBody>
          <a:bodyPr lIns="216000" tIns="72000" rIns="216000" bIns="72000" anchor="ctr">
            <a:norm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897B4945-C808-E480-EA09-7721F1CD5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30441"/>
            <a:ext cx="12192000" cy="892149"/>
          </a:xfrm>
          <a:solidFill>
            <a:schemeClr val="bg1">
              <a:lumMod val="95000"/>
            </a:schemeClr>
          </a:solidFill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/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1032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6"/>
            <a:ext cx="12192000" cy="365125"/>
          </a:xfrm>
          <a:prstGeom prst="rect">
            <a:avLst/>
          </a:prstGeom>
          <a:ln>
            <a:noFill/>
          </a:ln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78F0D8D-D645-581F-360E-ECAF126FB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450"/>
            <a:ext cx="12191223" cy="320675"/>
          </a:xfrm>
        </p:spPr>
        <p:txBody>
          <a:bodyPr lIns="216000" tIns="72000" rIns="216000" bIns="72000" anchor="ctr">
            <a:norm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897B4945-C808-E480-EA09-7721F1CD5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19478"/>
            <a:ext cx="12192000" cy="737314"/>
          </a:xfrm>
          <a:noFill/>
        </p:spPr>
        <p:txBody>
          <a:bodyPr lIns="216000" tIns="72000" rIns="216000" bIns="72000" anchor="ctr"/>
          <a:lstStyle>
            <a:lvl1pPr algn="ctr">
              <a:lnSpc>
                <a:spcPct val="12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B576A7-DCB3-3932-8B22-7FE0B79E17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1628290"/>
            <a:ext cx="12192000" cy="539539"/>
          </a:xfrm>
          <a:ln>
            <a:noFill/>
          </a:ln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spcAft>
                <a:spcPts val="30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7311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2FB4DB5-4780-8345-F7EA-2C3C959F2DB7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6"/>
            <a:ext cx="12192000" cy="365125"/>
          </a:xfrm>
          <a:prstGeom prst="rect">
            <a:avLst/>
          </a:prstGeom>
          <a:ln>
            <a:noFill/>
          </a:ln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78F0D8D-D645-581F-360E-ECAF126FB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450"/>
            <a:ext cx="12191223" cy="320675"/>
          </a:xfrm>
        </p:spPr>
        <p:txBody>
          <a:bodyPr lIns="216000" tIns="72000" rIns="216000" bIns="72000" anchor="ctr">
            <a:norm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46383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02334"/>
            <a:ext cx="11523307" cy="302330"/>
          </a:xfrm>
          <a:custGeom>
            <a:avLst/>
            <a:gdLst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4" fmla="*/ 11523307 w 11523307"/>
              <a:gd name="connsiteY4" fmla="*/ 648072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4" fmla="*/ 11523307 w 11523307"/>
              <a:gd name="connsiteY4" fmla="*/ 648072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4" fmla="*/ 11523307 w 11523307"/>
              <a:gd name="connsiteY4" fmla="*/ 648072 h 648072"/>
              <a:gd name="connsiteX0" fmla="*/ 0 w 11523307"/>
              <a:gd name="connsiteY0" fmla="*/ 648066 h 648072"/>
              <a:gd name="connsiteX1" fmla="*/ 0 w 11523307"/>
              <a:gd name="connsiteY1" fmla="*/ 6 h 6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3307" h="648072" stroke="0" extrusionOk="0">
                <a:moveTo>
                  <a:pt x="11523307" y="648072"/>
                </a:moveTo>
                <a:lnTo>
                  <a:pt x="0" y="648066"/>
                </a:lnTo>
                <a:lnTo>
                  <a:pt x="0" y="6"/>
                </a:lnTo>
                <a:cubicBezTo>
                  <a:pt x="0" y="3"/>
                  <a:pt x="5159160" y="0"/>
                  <a:pt x="11523307" y="0"/>
                </a:cubicBezTo>
                <a:lnTo>
                  <a:pt x="11523307" y="648072"/>
                </a:lnTo>
                <a:close/>
              </a:path>
              <a:path w="11523307" h="648072" fill="none">
                <a:moveTo>
                  <a:pt x="0" y="648066"/>
                </a:moveTo>
                <a:lnTo>
                  <a:pt x="0" y="6"/>
                </a:lnTo>
              </a:path>
            </a:pathLst>
          </a:custGeom>
          <a:ln w="76200">
            <a:solidFill>
              <a:schemeClr val="tx1"/>
            </a:solidFill>
          </a:ln>
        </p:spPr>
        <p:txBody>
          <a:bodyPr lIns="180000" anchor="ctr"/>
          <a:lstStyle>
            <a:lvl1pPr>
              <a:lnSpc>
                <a:spcPct val="120000"/>
              </a:lnSpc>
              <a:spcAft>
                <a:spcPts val="300"/>
              </a:spcAft>
              <a:defRPr sz="14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62545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4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01" y="1124744"/>
            <a:ext cx="11523307" cy="5047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349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  <p:sldLayoutId id="2147483704" r:id="rId3"/>
    <p:sldLayoutId id="2147483699" r:id="rId4"/>
    <p:sldLayoutId id="2147483701" r:id="rId5"/>
    <p:sldLayoutId id="2147483700" r:id="rId6"/>
    <p:sldLayoutId id="2147483692" r:id="rId7"/>
    <p:sldLayoutId id="2147483693" r:id="rId8"/>
    <p:sldLayoutId id="2147483689" r:id="rId9"/>
    <p:sldLayoutId id="2147483691" r:id="rId10"/>
    <p:sldLayoutId id="2147483694" r:id="rId11"/>
    <p:sldLayoutId id="2147483703" r:id="rId12"/>
    <p:sldLayoutId id="2147483702" r:id="rId13"/>
    <p:sldLayoutId id="2147483697" r:id="rId14"/>
    <p:sldLayoutId id="214748369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300"/>
        </a:spcAft>
        <a:buFont typeface="+mj-lt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4065">
          <p15:clr>
            <a:srgbClr val="F26B43"/>
          </p15:clr>
        </p15:guide>
        <p15:guide id="6" orient="horz" pos="39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35932-8827-4A8A-A11F-B3AAE733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713" y="2420888"/>
            <a:ext cx="7870575" cy="0"/>
          </a:xfrm>
        </p:spPr>
        <p:txBody>
          <a:bodyPr bIns="360000"/>
          <a:lstStyle/>
          <a:p>
            <a:r>
              <a:rPr kumimoji="1" lang="ja-JP" altLang="en-US" sz="2000" dirty="0"/>
              <a:t>プレゼン資料</a:t>
            </a:r>
            <a:r>
              <a:rPr lang="ja-JP" altLang="en-US" sz="2000" dirty="0"/>
              <a:t>の作成で使える</a:t>
            </a:r>
            <a:br>
              <a:rPr lang="en-US" altLang="ja-JP" dirty="0"/>
            </a:br>
            <a:r>
              <a:rPr lang="ja-JP" altLang="en-US" dirty="0"/>
              <a:t>事業紹介のテンプレート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EB05169-A1B2-413C-B27C-4C21FF83DB6B}"/>
              </a:ext>
            </a:extLst>
          </p:cNvPr>
          <p:cNvSpPr txBox="1"/>
          <p:nvPr/>
        </p:nvSpPr>
        <p:spPr>
          <a:xfrm>
            <a:off x="4531894" y="3962737"/>
            <a:ext cx="3128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/>
              <a:t>https://raku-pre.com/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FEFD9C-FB23-4498-BEAD-D4D60EB86C15}"/>
              </a:ext>
            </a:extLst>
          </p:cNvPr>
          <p:cNvSpPr txBox="1"/>
          <p:nvPr/>
        </p:nvSpPr>
        <p:spPr>
          <a:xfrm>
            <a:off x="2166109" y="4389310"/>
            <a:ext cx="7524836" cy="2296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本ファイルのスライドは個人・商用目的ともに無料でご自由に利用いただけます。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また、カスタマイズもご自由にいただけます。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本ファイルは参考資料であり、掲載してる企業、サービス、アンケート結果等は実在しておりません。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著作権はラクプレが保有しているため、本ファイル自体を再配布したり、販売することはできません。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上記通り、本ファイル自体の商用を目的とした大量の再配布は、原則禁止させていただいております。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再配布をご検討の際には、サイト内のお問い合わせフォーム（</a:t>
            </a:r>
            <a:r>
              <a:rPr kumimoji="1" lang="en-US" altLang="ja-JP" sz="1200" dirty="0">
                <a:latin typeface="+mn-ea"/>
              </a:rPr>
              <a:t>https://raku-pre.com/contact/</a:t>
            </a:r>
            <a:r>
              <a:rPr kumimoji="1" lang="ja-JP" altLang="en-US" sz="1200" dirty="0">
                <a:latin typeface="+mn-ea"/>
              </a:rPr>
              <a:t>）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よりご連絡いただきますようお願いいたします。</a:t>
            </a:r>
            <a:endParaRPr kumimoji="1" lang="en-US" altLang="ja-JP" sz="1200" dirty="0">
              <a:latin typeface="+mn-ea"/>
            </a:endParaRP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+mn-ea"/>
                <a:cs typeface="+mn-cs"/>
              </a:rPr>
              <a:t>フリー素材の画像は一部差し換え、削除しています。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084C629-13AD-6AB3-E281-9A2A7589B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259" y="2460943"/>
            <a:ext cx="4921483" cy="19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3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2F3F-5817-9A62-2C97-749144EA9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楕円 63">
            <a:extLst>
              <a:ext uri="{FF2B5EF4-FFF2-40B4-BE49-F238E27FC236}">
                <a16:creationId xmlns:a16="http://schemas.microsoft.com/office/drawing/2014/main" id="{40629242-4F5A-9852-97DF-D2E738636D6B}"/>
              </a:ext>
            </a:extLst>
          </p:cNvPr>
          <p:cNvSpPr/>
          <p:nvPr/>
        </p:nvSpPr>
        <p:spPr>
          <a:xfrm flipH="1">
            <a:off x="-600744" y="2708920"/>
            <a:ext cx="6480720" cy="2992659"/>
          </a:xfrm>
          <a:prstGeom prst="ellipse">
            <a:avLst/>
          </a:prstGeom>
          <a:noFill/>
          <a:ln w="76200" cap="rnd">
            <a:gradFill flip="none" rotWithShape="1">
              <a:gsLst>
                <a:gs pos="19000">
                  <a:schemeClr val="tx2">
                    <a:alpha val="0"/>
                    <a:lumMod val="29000"/>
                    <a:lumOff val="71000"/>
                  </a:schemeClr>
                </a:gs>
                <a:gs pos="100000">
                  <a:schemeClr val="tx2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round/>
            <a:headEnd type="arrow" w="lg" len="sm"/>
            <a:tailEnd type="none"/>
          </a:ln>
          <a:effectLst/>
          <a:scene3d>
            <a:camera prst="perspectiveContrastingLeftFacing">
              <a:rot lat="1800000" lon="2400000" rev="21000000"/>
            </a:camera>
            <a:lightRig rig="contrasting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5" name="平行四辺形 44">
            <a:extLst>
              <a:ext uri="{FF2B5EF4-FFF2-40B4-BE49-F238E27FC236}">
                <a16:creationId xmlns:a16="http://schemas.microsoft.com/office/drawing/2014/main" id="{2AEAEA11-AAB3-8916-9C6C-DB0BCB8FFE9C}"/>
              </a:ext>
            </a:extLst>
          </p:cNvPr>
          <p:cNvSpPr/>
          <p:nvPr/>
        </p:nvSpPr>
        <p:spPr>
          <a:xfrm>
            <a:off x="5663952" y="1583266"/>
            <a:ext cx="6048672" cy="1037564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0" rtlCol="0" anchor="ctr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ja-JP" altLang="en-US" dirty="0">
                <a:solidFill>
                  <a:schemeClr val="tx1"/>
                </a:solidFill>
              </a:rPr>
              <a:t>テンプレート選択とドラッグ＆ドロップで、誰でも短期間でストアを開設可能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B04F1CCD-FCC5-1960-C46C-D07FFB4791BC}"/>
              </a:ext>
            </a:extLst>
          </p:cNvPr>
          <p:cNvSpPr/>
          <p:nvPr/>
        </p:nvSpPr>
        <p:spPr>
          <a:xfrm>
            <a:off x="1631504" y="1661434"/>
            <a:ext cx="2808312" cy="2808312"/>
          </a:xfrm>
          <a:prstGeom prst="ellipse">
            <a:avLst/>
          </a:prstGeom>
          <a:solidFill>
            <a:schemeClr val="tx2">
              <a:lumMod val="20000"/>
              <a:lumOff val="80000"/>
              <a:alpha val="7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75C47363-D785-4E90-E6C5-45D9D28FC199}"/>
              </a:ext>
            </a:extLst>
          </p:cNvPr>
          <p:cNvSpPr/>
          <p:nvPr/>
        </p:nvSpPr>
        <p:spPr>
          <a:xfrm>
            <a:off x="623392" y="3317618"/>
            <a:ext cx="2808312" cy="2808312"/>
          </a:xfrm>
          <a:prstGeom prst="ellipse">
            <a:avLst/>
          </a:prstGeom>
          <a:solidFill>
            <a:schemeClr val="tx2">
              <a:lumMod val="40000"/>
              <a:lumOff val="60000"/>
              <a:alpha val="7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F8E5686B-2A4D-7EDB-9813-D8B67935483B}"/>
              </a:ext>
            </a:extLst>
          </p:cNvPr>
          <p:cNvSpPr/>
          <p:nvPr/>
        </p:nvSpPr>
        <p:spPr>
          <a:xfrm>
            <a:off x="2639616" y="3317618"/>
            <a:ext cx="2808312" cy="2808312"/>
          </a:xfrm>
          <a:prstGeom prst="ellipse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61614F0D-E5F4-DF8A-1309-C30587D9E17C}"/>
              </a:ext>
            </a:extLst>
          </p:cNvPr>
          <p:cNvSpPr/>
          <p:nvPr/>
        </p:nvSpPr>
        <p:spPr>
          <a:xfrm>
            <a:off x="6096000" y="1364437"/>
            <a:ext cx="2448272" cy="437659"/>
          </a:xfrm>
          <a:prstGeom prst="roundRect">
            <a:avLst/>
          </a:prstGeom>
          <a:solidFill>
            <a:srgbClr val="DCEBFB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2"/>
                </a:solidFill>
              </a:rPr>
              <a:t>開発工数の大幅削減</a:t>
            </a:r>
            <a:endParaRPr lang="ja-JP" altLang="en-US" dirty="0">
              <a:solidFill>
                <a:schemeClr val="tx2"/>
              </a:solidFill>
            </a:endParaRPr>
          </a:p>
        </p:txBody>
      </p:sp>
      <p:sp>
        <p:nvSpPr>
          <p:cNvPr id="50" name="平行四辺形 49">
            <a:extLst>
              <a:ext uri="{FF2B5EF4-FFF2-40B4-BE49-F238E27FC236}">
                <a16:creationId xmlns:a16="http://schemas.microsoft.com/office/drawing/2014/main" id="{A13DCCA2-FA10-4E74-2299-3BE77174EDC3}"/>
              </a:ext>
            </a:extLst>
          </p:cNvPr>
          <p:cNvSpPr/>
          <p:nvPr/>
        </p:nvSpPr>
        <p:spPr>
          <a:xfrm>
            <a:off x="5663952" y="3258167"/>
            <a:ext cx="6048672" cy="1037564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0"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>
                <a:solidFill>
                  <a:schemeClr val="tx1"/>
                </a:solidFill>
              </a:rPr>
              <a:t>複数チャネルの在庫・受注を一元管理し、業務効率を大幅向上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7B51DEC5-0A1C-4896-6C8B-DF804FDFF611}"/>
              </a:ext>
            </a:extLst>
          </p:cNvPr>
          <p:cNvSpPr/>
          <p:nvPr/>
        </p:nvSpPr>
        <p:spPr>
          <a:xfrm>
            <a:off x="6096000" y="3039338"/>
            <a:ext cx="2448272" cy="437659"/>
          </a:xfrm>
          <a:prstGeom prst="roundRect">
            <a:avLst/>
          </a:prstGeom>
          <a:solidFill>
            <a:srgbClr val="B8D6F7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2"/>
                </a:solidFill>
              </a:rPr>
              <a:t>運用効率の最大化</a:t>
            </a:r>
            <a:endParaRPr lang="ja-JP" altLang="en-US" dirty="0">
              <a:solidFill>
                <a:schemeClr val="tx2"/>
              </a:solidFill>
            </a:endParaRPr>
          </a:p>
        </p:txBody>
      </p:sp>
      <p:sp>
        <p:nvSpPr>
          <p:cNvPr id="52" name="平行四辺形 51">
            <a:extLst>
              <a:ext uri="{FF2B5EF4-FFF2-40B4-BE49-F238E27FC236}">
                <a16:creationId xmlns:a16="http://schemas.microsoft.com/office/drawing/2014/main" id="{91B9BFF3-3DE9-72D9-EB22-2BFF52966442}"/>
              </a:ext>
            </a:extLst>
          </p:cNvPr>
          <p:cNvSpPr/>
          <p:nvPr/>
        </p:nvSpPr>
        <p:spPr>
          <a:xfrm>
            <a:off x="5663952" y="5033341"/>
            <a:ext cx="6048672" cy="1037564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0"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>
                <a:solidFill>
                  <a:schemeClr val="tx1"/>
                </a:solidFill>
              </a:rPr>
              <a:t>クーポン発行・リピート促進・カゴ落ち対策など、売上向上施策を自動で実行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857FF89A-0910-C699-9821-653D96FF13FB}"/>
              </a:ext>
            </a:extLst>
          </p:cNvPr>
          <p:cNvSpPr/>
          <p:nvPr/>
        </p:nvSpPr>
        <p:spPr>
          <a:xfrm>
            <a:off x="6096000" y="4814512"/>
            <a:ext cx="2448272" cy="437659"/>
          </a:xfrm>
          <a:prstGeom prst="roundRect">
            <a:avLst/>
          </a:prstGeom>
          <a:solidFill>
            <a:srgbClr val="95C1F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2"/>
                </a:solidFill>
              </a:rPr>
              <a:t>リピート率向上</a:t>
            </a:r>
            <a:endParaRPr lang="ja-JP" altLang="en-US" dirty="0">
              <a:solidFill>
                <a:schemeClr val="tx2"/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DD0A30D-9D46-0420-31EE-E2F4C6690D1F}"/>
              </a:ext>
            </a:extLst>
          </p:cNvPr>
          <p:cNvSpPr txBox="1"/>
          <p:nvPr/>
        </p:nvSpPr>
        <p:spPr>
          <a:xfrm>
            <a:off x="1963891" y="1997409"/>
            <a:ext cx="2143536" cy="9399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lang="ja-JP" altLang="en-US" sz="2400" dirty="0"/>
              <a:t>ノーコード</a:t>
            </a:r>
            <a:br>
              <a:rPr lang="en-US" altLang="ja-JP" sz="2400" dirty="0"/>
            </a:br>
            <a:r>
              <a:rPr lang="en-US" altLang="ja-JP" sz="2400" dirty="0"/>
              <a:t>EC</a:t>
            </a:r>
            <a:r>
              <a:rPr lang="ja-JP" altLang="en-US" sz="2400" dirty="0"/>
              <a:t>サイト構築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91A46583-F0C6-B5D9-041A-E00DD4722B79}"/>
              </a:ext>
            </a:extLst>
          </p:cNvPr>
          <p:cNvSpPr txBox="1"/>
          <p:nvPr/>
        </p:nvSpPr>
        <p:spPr>
          <a:xfrm>
            <a:off x="757824" y="4705634"/>
            <a:ext cx="1723549" cy="9399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lang="ja-JP" altLang="en-US" sz="2400" dirty="0"/>
              <a:t>統合型在庫</a:t>
            </a:r>
            <a:br>
              <a:rPr lang="en-US" altLang="ja-JP" sz="2400" dirty="0"/>
            </a:br>
            <a:r>
              <a:rPr lang="ja-JP" altLang="en-US" sz="2400" dirty="0"/>
              <a:t>受注管理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14D5B8E2-49DC-C35B-7A46-A436DE5CA05C}"/>
              </a:ext>
            </a:extLst>
          </p:cNvPr>
          <p:cNvSpPr txBox="1"/>
          <p:nvPr/>
        </p:nvSpPr>
        <p:spPr>
          <a:xfrm>
            <a:off x="3353954" y="4705634"/>
            <a:ext cx="2031325" cy="9399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lang="ja-JP" altLang="en-US" sz="2400" dirty="0"/>
              <a:t>自動化された</a:t>
            </a:r>
            <a:br>
              <a:rPr lang="en-US" altLang="ja-JP" sz="2400" dirty="0"/>
            </a:br>
            <a:r>
              <a:rPr lang="ja-JP" altLang="en-US" sz="2400" dirty="0"/>
              <a:t>販促機能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3B742820-5D3B-BD72-DBD2-CEFF115E6C4E}"/>
              </a:ext>
            </a:extLst>
          </p:cNvPr>
          <p:cNvSpPr/>
          <p:nvPr/>
        </p:nvSpPr>
        <p:spPr>
          <a:xfrm>
            <a:off x="1738212" y="3631354"/>
            <a:ext cx="2538450" cy="678039"/>
          </a:xfrm>
          <a:prstGeom prst="roundRect">
            <a:avLst>
              <a:gd name="adj" fmla="val 22607"/>
            </a:avLst>
          </a:prstGeom>
          <a:solidFill>
            <a:schemeClr val="bg1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0B30BD3C-DB5D-A631-1EDC-634B36D6329D}"/>
              </a:ext>
            </a:extLst>
          </p:cNvPr>
          <p:cNvSpPr txBox="1"/>
          <p:nvPr/>
        </p:nvSpPr>
        <p:spPr>
          <a:xfrm>
            <a:off x="-111040" y="-455170"/>
            <a:ext cx="5222905" cy="1709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9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About us</a:t>
            </a:r>
            <a:endParaRPr kumimoji="1" lang="ja-JP" altLang="en-US" sz="96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6CCCB066-34B3-995D-AD99-0DC30410255D}"/>
              </a:ext>
            </a:extLst>
          </p:cNvPr>
          <p:cNvSpPr txBox="1"/>
          <p:nvPr/>
        </p:nvSpPr>
        <p:spPr>
          <a:xfrm>
            <a:off x="5111865" y="310522"/>
            <a:ext cx="4687502" cy="496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2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プロダクト概要  </a:t>
            </a:r>
            <a:r>
              <a:rPr kumimoji="1" lang="en-US" altLang="ja-JP" sz="2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-  </a:t>
            </a:r>
            <a:r>
              <a:rPr kumimoji="1" lang="en-US" altLang="ja-JP" sz="2400" dirty="0" err="1">
                <a:solidFill>
                  <a:schemeClr val="tx2">
                    <a:lumMod val="50000"/>
                  </a:schemeClr>
                </a:solidFill>
                <a:latin typeface="+mn-ea"/>
              </a:rPr>
              <a:t>RakuRakuEC</a:t>
            </a:r>
            <a:endParaRPr kumimoji="1" lang="en-US" altLang="ja-JP" sz="24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D9EA524-5751-9A5A-AD1A-F133BDE30C22}"/>
              </a:ext>
            </a:extLst>
          </p:cNvPr>
          <p:cNvSpPr txBox="1"/>
          <p:nvPr/>
        </p:nvSpPr>
        <p:spPr>
          <a:xfrm>
            <a:off x="2135560" y="3741583"/>
            <a:ext cx="1872208" cy="3619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bg1"/>
                </a:solidFill>
                <a:latin typeface="+mn-ea"/>
              </a:rPr>
              <a:t>イメージ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80BBE6-7F79-7CDC-6F54-38779C915852}"/>
              </a:ext>
            </a:extLst>
          </p:cNvPr>
          <p:cNvSpPr txBox="1"/>
          <p:nvPr/>
        </p:nvSpPr>
        <p:spPr>
          <a:xfrm>
            <a:off x="2080418" y="3776949"/>
            <a:ext cx="1872208" cy="3619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bg1"/>
                </a:solidFill>
                <a:latin typeface="+mn-ea"/>
              </a:rPr>
              <a:t>イメージ</a:t>
            </a:r>
          </a:p>
        </p:txBody>
      </p:sp>
    </p:spTree>
    <p:extLst>
      <p:ext uri="{BB962C8B-B14F-4D97-AF65-F5344CB8AC3E}">
        <p14:creationId xmlns:p14="http://schemas.microsoft.com/office/powerpoint/2010/main" val="204773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4A4F4-6831-B6FB-AE67-C8828DC6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BED541-88C3-D7B1-A01C-D4F46A1ADD4F}"/>
              </a:ext>
            </a:extLst>
          </p:cNvPr>
          <p:cNvSpPr/>
          <p:nvPr/>
        </p:nvSpPr>
        <p:spPr>
          <a:xfrm>
            <a:off x="407368" y="908720"/>
            <a:ext cx="5040560" cy="1440156"/>
          </a:xfrm>
          <a:prstGeom prst="rect">
            <a:avLst/>
          </a:prstGeom>
          <a:solidFill>
            <a:schemeClr val="tx2">
              <a:lumMod val="5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43A9374B-48FD-C784-2D65-E78985A6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RakuRakuEC</a:t>
            </a:r>
            <a:r>
              <a:rPr lang="ja-JP" altLang="en-US" dirty="0"/>
              <a:t>の概要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61718274-8627-1870-A4F7-8E4B24DD1A4E}"/>
              </a:ext>
            </a:extLst>
          </p:cNvPr>
          <p:cNvSpPr txBox="1"/>
          <p:nvPr/>
        </p:nvSpPr>
        <p:spPr>
          <a:xfrm>
            <a:off x="407368" y="908720"/>
            <a:ext cx="5040559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3600" dirty="0">
                <a:solidFill>
                  <a:schemeClr val="bg1"/>
                </a:solidFill>
                <a:latin typeface="+mn-ea"/>
              </a:rPr>
              <a:t>EC</a:t>
            </a:r>
            <a:r>
              <a:rPr kumimoji="1" lang="ja-JP" altLang="en-US" sz="3600" dirty="0">
                <a:solidFill>
                  <a:schemeClr val="bg1"/>
                </a:solidFill>
                <a:latin typeface="+mn-ea"/>
              </a:rPr>
              <a:t>市場シェア</a:t>
            </a:r>
            <a:r>
              <a:rPr kumimoji="1" lang="en-US" altLang="ja-JP" sz="3600" dirty="0">
                <a:solidFill>
                  <a:schemeClr val="bg1"/>
                </a:solidFill>
                <a:latin typeface="+mn-ea"/>
              </a:rPr>
              <a:t>20</a:t>
            </a:r>
            <a:r>
              <a:rPr kumimoji="1" lang="ja-JP" altLang="en-US" sz="3600" dirty="0">
                <a:solidFill>
                  <a:schemeClr val="bg1"/>
                </a:solidFill>
                <a:latin typeface="+mn-ea"/>
              </a:rPr>
              <a:t>％超</a:t>
            </a:r>
            <a:br>
              <a:rPr kumimoji="1" lang="en-US" altLang="ja-JP" sz="3600" dirty="0">
                <a:solidFill>
                  <a:schemeClr val="bg1"/>
                </a:solidFill>
                <a:latin typeface="+mn-ea"/>
              </a:rPr>
            </a:br>
            <a:r>
              <a:rPr kumimoji="1" lang="ja-JP" altLang="en-US" sz="3600" dirty="0">
                <a:solidFill>
                  <a:schemeClr val="bg1"/>
                </a:solidFill>
                <a:latin typeface="+mn-ea"/>
              </a:rPr>
              <a:t>業界をリードする</a:t>
            </a:r>
            <a:r>
              <a:rPr kumimoji="1" lang="en-US" altLang="ja-JP" sz="3600" dirty="0">
                <a:solidFill>
                  <a:schemeClr val="bg1"/>
                </a:solidFill>
                <a:latin typeface="+mn-ea"/>
              </a:rPr>
              <a:t>PKG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en-US" altLang="ja-JP" sz="2000" dirty="0">
              <a:latin typeface="+mn-ea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2000" dirty="0">
                <a:latin typeface="+mn-ea"/>
              </a:rPr>
              <a:t>EC</a:t>
            </a:r>
            <a:r>
              <a:rPr kumimoji="1" lang="ja-JP" altLang="en-US" sz="2000" dirty="0">
                <a:latin typeface="+mn-ea"/>
              </a:rPr>
              <a:t>市場で後発にも関わらず、独自の機能と運営ノウハウ提供により創業</a:t>
            </a:r>
            <a:r>
              <a:rPr kumimoji="1" lang="en-US" altLang="ja-JP" sz="2000" dirty="0">
                <a:latin typeface="+mn-ea"/>
              </a:rPr>
              <a:t>5</a:t>
            </a:r>
            <a:r>
              <a:rPr kumimoji="1" lang="ja-JP" altLang="en-US" sz="2000" dirty="0">
                <a:latin typeface="+mn-ea"/>
              </a:rPr>
              <a:t>年で業界</a:t>
            </a:r>
            <a:r>
              <a:rPr kumimoji="1" lang="en-US" altLang="ja-JP" sz="2000" dirty="0">
                <a:latin typeface="+mn-ea"/>
              </a:rPr>
              <a:t>2</a:t>
            </a:r>
            <a:r>
              <a:rPr kumimoji="1" lang="ja-JP" altLang="en-US" sz="2000" dirty="0">
                <a:latin typeface="+mn-ea"/>
              </a:rPr>
              <a:t>位のポジションを確立。</a:t>
            </a:r>
            <a:endParaRPr kumimoji="1" lang="en-US" altLang="ja-JP" sz="2000" dirty="0">
              <a:latin typeface="+mn-ea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ja-JP" altLang="en-US" sz="2000" dirty="0"/>
              <a:t>中小</a:t>
            </a:r>
            <a:r>
              <a:rPr lang="en-US" altLang="ja-JP" sz="2000" dirty="0"/>
              <a:t>〜</a:t>
            </a:r>
            <a:r>
              <a:rPr lang="ja-JP" altLang="en-US" sz="2000" dirty="0"/>
              <a:t>中堅企業では、シェア・満足度ともに</a:t>
            </a:r>
            <a:r>
              <a:rPr lang="en-US" altLang="ja-JP" sz="2000" dirty="0"/>
              <a:t>No1</a:t>
            </a:r>
            <a:r>
              <a:rPr lang="ja-JP" altLang="en-US" sz="2000" dirty="0"/>
              <a:t>を獲得。</a:t>
            </a:r>
            <a:endParaRPr kumimoji="1" lang="ja-JP" altLang="en-US" sz="2000" dirty="0">
              <a:latin typeface="+mn-ea"/>
            </a:endParaRP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1B3E9AE4-D158-11A9-C20B-CAF552F8C875}"/>
              </a:ext>
            </a:extLst>
          </p:cNvPr>
          <p:cNvSpPr/>
          <p:nvPr/>
        </p:nvSpPr>
        <p:spPr>
          <a:xfrm rot="5400000">
            <a:off x="5578460" y="2502240"/>
            <a:ext cx="921126" cy="462111"/>
          </a:xfrm>
          <a:custGeom>
            <a:avLst/>
            <a:gdLst>
              <a:gd name="connsiteX0" fmla="*/ 0 w 3306761"/>
              <a:gd name="connsiteY0" fmla="*/ 1658937 h 1658937"/>
              <a:gd name="connsiteX1" fmla="*/ 1658937 w 3306761"/>
              <a:gd name="connsiteY1" fmla="*/ 0 h 1658937"/>
              <a:gd name="connsiteX2" fmla="*/ 3306761 w 3306761"/>
              <a:gd name="connsiteY2" fmla="*/ 1647824 h 1658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6761" h="1658937">
                <a:moveTo>
                  <a:pt x="0" y="1658937"/>
                </a:moveTo>
                <a:lnTo>
                  <a:pt x="1658937" y="0"/>
                </a:lnTo>
                <a:lnTo>
                  <a:pt x="3306761" y="1647824"/>
                </a:lnTo>
              </a:path>
            </a:pathLst>
          </a:custGeom>
          <a:noFill/>
          <a:ln w="133350" cap="rnd">
            <a:solidFill>
              <a:schemeClr val="bg1">
                <a:lumMod val="75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ADA3FFC8-A1C6-8476-E5EA-7E722502711F}"/>
              </a:ext>
            </a:extLst>
          </p:cNvPr>
          <p:cNvSpPr/>
          <p:nvPr/>
        </p:nvSpPr>
        <p:spPr>
          <a:xfrm rot="5400000">
            <a:off x="6082516" y="2502241"/>
            <a:ext cx="921126" cy="462111"/>
          </a:xfrm>
          <a:custGeom>
            <a:avLst/>
            <a:gdLst>
              <a:gd name="connsiteX0" fmla="*/ 0 w 3306761"/>
              <a:gd name="connsiteY0" fmla="*/ 1658937 h 1658937"/>
              <a:gd name="connsiteX1" fmla="*/ 1658937 w 3306761"/>
              <a:gd name="connsiteY1" fmla="*/ 0 h 1658937"/>
              <a:gd name="connsiteX2" fmla="*/ 3306761 w 3306761"/>
              <a:gd name="connsiteY2" fmla="*/ 1647824 h 1658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6761" h="1658937">
                <a:moveTo>
                  <a:pt x="0" y="1658937"/>
                </a:moveTo>
                <a:lnTo>
                  <a:pt x="1658937" y="0"/>
                </a:lnTo>
                <a:lnTo>
                  <a:pt x="3306761" y="1647824"/>
                </a:lnTo>
              </a:path>
            </a:pathLst>
          </a:custGeom>
          <a:noFill/>
          <a:ln w="133350" cap="rnd">
            <a:solidFill>
              <a:schemeClr val="bg1">
                <a:lumMod val="75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4CD1389-51A9-C0C3-1EBA-42E7FA94922E}"/>
              </a:ext>
            </a:extLst>
          </p:cNvPr>
          <p:cNvSpPr/>
          <p:nvPr/>
        </p:nvSpPr>
        <p:spPr>
          <a:xfrm>
            <a:off x="7062165" y="908720"/>
            <a:ext cx="576064" cy="3888432"/>
          </a:xfrm>
          <a:prstGeom prst="rect">
            <a:avLst/>
          </a:prstGeom>
          <a:solidFill>
            <a:schemeClr val="tx2">
              <a:lumMod val="5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2400" dirty="0">
                <a:solidFill>
                  <a:schemeClr val="bg1"/>
                </a:solidFill>
              </a:rPr>
              <a:t>Value Proposition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2157323-2D61-C3FF-81D3-B96EC4C9E042}"/>
              </a:ext>
            </a:extLst>
          </p:cNvPr>
          <p:cNvSpPr/>
          <p:nvPr/>
        </p:nvSpPr>
        <p:spPr>
          <a:xfrm>
            <a:off x="7926259" y="1192612"/>
            <a:ext cx="648072" cy="648072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2800" dirty="0">
                <a:solidFill>
                  <a:schemeClr val="bg1"/>
                </a:solidFill>
              </a:rPr>
              <a:t>1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BB10B39A-BD26-B9AB-A417-52CB5A3882A1}"/>
              </a:ext>
            </a:extLst>
          </p:cNvPr>
          <p:cNvSpPr/>
          <p:nvPr/>
        </p:nvSpPr>
        <p:spPr>
          <a:xfrm>
            <a:off x="7926259" y="2539500"/>
            <a:ext cx="648072" cy="648072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2800" dirty="0">
                <a:solidFill>
                  <a:schemeClr val="bg1"/>
                </a:solidFill>
              </a:rPr>
              <a:t>2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D7E38DA4-F99E-1A63-CF9F-BFB9285E03D2}"/>
              </a:ext>
            </a:extLst>
          </p:cNvPr>
          <p:cNvSpPr/>
          <p:nvPr/>
        </p:nvSpPr>
        <p:spPr>
          <a:xfrm>
            <a:off x="7926259" y="3886387"/>
            <a:ext cx="648072" cy="648072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2800" dirty="0">
                <a:solidFill>
                  <a:schemeClr val="bg1"/>
                </a:solidFill>
              </a:rPr>
              <a:t>3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D1A36F-81D7-F7F2-7EEA-F69EAFA3137B}"/>
              </a:ext>
            </a:extLst>
          </p:cNvPr>
          <p:cNvSpPr txBox="1"/>
          <p:nvPr/>
        </p:nvSpPr>
        <p:spPr>
          <a:xfrm>
            <a:off x="8710797" y="1285815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 sz="2400" dirty="0">
                <a:solidFill>
                  <a:schemeClr val="tx2"/>
                </a:solidFill>
              </a:rPr>
              <a:t>開発工数の大幅削減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5B3C834-8A5B-1A94-FD56-29EF05757FD8}"/>
              </a:ext>
            </a:extLst>
          </p:cNvPr>
          <p:cNvSpPr txBox="1"/>
          <p:nvPr/>
        </p:nvSpPr>
        <p:spPr>
          <a:xfrm>
            <a:off x="8710797" y="2632703"/>
            <a:ext cx="26468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 sz="2400" dirty="0">
                <a:solidFill>
                  <a:schemeClr val="tx2"/>
                </a:solidFill>
              </a:rPr>
              <a:t>運用効率の最大化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AB018D5-C335-FB90-06E1-826B202D521B}"/>
              </a:ext>
            </a:extLst>
          </p:cNvPr>
          <p:cNvSpPr txBox="1"/>
          <p:nvPr/>
        </p:nvSpPr>
        <p:spPr>
          <a:xfrm>
            <a:off x="8710797" y="3979591"/>
            <a:ext cx="23391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 sz="2400" dirty="0">
                <a:solidFill>
                  <a:schemeClr val="tx2"/>
                </a:solidFill>
              </a:rPr>
              <a:t>リピート率向上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26501AE-D958-39D0-704E-41B52C9C3AE6}"/>
              </a:ext>
            </a:extLst>
          </p:cNvPr>
          <p:cNvSpPr/>
          <p:nvPr/>
        </p:nvSpPr>
        <p:spPr>
          <a:xfrm>
            <a:off x="332793" y="5013176"/>
            <a:ext cx="11526416" cy="1512159"/>
          </a:xfrm>
          <a:prstGeom prst="roundRect">
            <a:avLst>
              <a:gd name="adj" fmla="val 2487"/>
            </a:avLst>
          </a:prstGeom>
          <a:solidFill>
            <a:schemeClr val="bg1"/>
          </a:solidFill>
          <a:ln w="1905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71E4E952-2C27-DBA2-E193-36930EFEFCDF}"/>
              </a:ext>
            </a:extLst>
          </p:cNvPr>
          <p:cNvSpPr/>
          <p:nvPr/>
        </p:nvSpPr>
        <p:spPr>
          <a:xfrm>
            <a:off x="407368" y="5188805"/>
            <a:ext cx="332563" cy="332563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dirty="0">
                <a:solidFill>
                  <a:schemeClr val="bg1"/>
                </a:solidFill>
              </a:rPr>
              <a:t>1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0EB2A81-C6DD-9874-4DB4-E86227E37148}"/>
              </a:ext>
            </a:extLst>
          </p:cNvPr>
          <p:cNvSpPr txBox="1"/>
          <p:nvPr/>
        </p:nvSpPr>
        <p:spPr>
          <a:xfrm>
            <a:off x="739930" y="5159537"/>
            <a:ext cx="3267837" cy="1219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latin typeface="+mn-ea"/>
              </a:rPr>
              <a:t>ノーコード・モジュール化された仕組みにより、従来数か月かかっていた</a:t>
            </a:r>
            <a:r>
              <a:rPr kumimoji="1" lang="en-US" altLang="ja-JP" sz="1200" dirty="0">
                <a:latin typeface="+mn-ea"/>
              </a:rPr>
              <a:t>EC</a:t>
            </a:r>
            <a:r>
              <a:rPr kumimoji="1" lang="ja-JP" altLang="en-US" sz="1200" dirty="0">
                <a:latin typeface="+mn-ea"/>
              </a:rPr>
              <a:t>サイト開発を大幅に短縮。専門的なエンジニアリソースに依存せず、スピーディーかつ低コストでの立ち上げを実現します。</a:t>
            </a: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2231523B-031B-A6D6-E5BD-0A87D8656F64}"/>
              </a:ext>
            </a:extLst>
          </p:cNvPr>
          <p:cNvSpPr/>
          <p:nvPr/>
        </p:nvSpPr>
        <p:spPr>
          <a:xfrm>
            <a:off x="4247357" y="5188805"/>
            <a:ext cx="332563" cy="332563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dirty="0">
                <a:solidFill>
                  <a:schemeClr val="bg1"/>
                </a:solidFill>
              </a:rPr>
              <a:t>2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C36B8F1-C19D-B9E0-D8B7-14AD517F35C2}"/>
              </a:ext>
            </a:extLst>
          </p:cNvPr>
          <p:cNvSpPr txBox="1"/>
          <p:nvPr/>
        </p:nvSpPr>
        <p:spPr>
          <a:xfrm>
            <a:off x="4579919" y="5159537"/>
            <a:ext cx="3267837" cy="95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latin typeface="+mn-ea"/>
              </a:rPr>
              <a:t>受注管理、在庫連携、顧客対応、分析までを一元化。煩雑になりがちな日々の運営業務を自動化・効率化し、少人数体制でも高品質な</a:t>
            </a:r>
            <a:r>
              <a:rPr kumimoji="1" lang="en-US" altLang="ja-JP" sz="1200" dirty="0">
                <a:latin typeface="+mn-ea"/>
              </a:rPr>
              <a:t>EC</a:t>
            </a:r>
            <a:r>
              <a:rPr kumimoji="1" lang="ja-JP" altLang="en-US" sz="1200" dirty="0">
                <a:latin typeface="+mn-ea"/>
              </a:rPr>
              <a:t>運営を継続できる体制を構築します。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1762FC71-BAB2-F2EF-83C2-006E4470713F}"/>
              </a:ext>
            </a:extLst>
          </p:cNvPr>
          <p:cNvSpPr/>
          <p:nvPr/>
        </p:nvSpPr>
        <p:spPr>
          <a:xfrm>
            <a:off x="8087347" y="5188805"/>
            <a:ext cx="332563" cy="332563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dirty="0">
                <a:solidFill>
                  <a:schemeClr val="bg1"/>
                </a:solidFill>
              </a:rPr>
              <a:t>3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95BDE0F-6665-2388-137F-62F760C21D28}"/>
              </a:ext>
            </a:extLst>
          </p:cNvPr>
          <p:cNvSpPr txBox="1"/>
          <p:nvPr/>
        </p:nvSpPr>
        <p:spPr>
          <a:xfrm>
            <a:off x="8419909" y="5159537"/>
            <a:ext cx="3267837" cy="95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latin typeface="+mn-ea"/>
              </a:rPr>
              <a:t>購買データを活用したパーソナライズ配信やポイント・会員制度により、顧客一人ひとりに最適な体験を提供。継続購入やファン化を促進し、</a:t>
            </a:r>
            <a:r>
              <a:rPr kumimoji="1" lang="en-US" altLang="ja-JP" sz="1200" dirty="0">
                <a:latin typeface="+mn-ea"/>
              </a:rPr>
              <a:t>LTV</a:t>
            </a:r>
            <a:r>
              <a:rPr kumimoji="1" lang="ja-JP" altLang="en-US" sz="1200" dirty="0">
                <a:latin typeface="+mn-ea"/>
              </a:rPr>
              <a:t>向上を後押しします。</a:t>
            </a:r>
          </a:p>
        </p:txBody>
      </p:sp>
    </p:spTree>
    <p:extLst>
      <p:ext uri="{BB962C8B-B14F-4D97-AF65-F5344CB8AC3E}">
        <p14:creationId xmlns:p14="http://schemas.microsoft.com/office/powerpoint/2010/main" val="298834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21BD-4090-E39C-3D92-11E895DB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EA88F1D8-98F0-66F5-E45F-5937FBD376B8}"/>
              </a:ext>
            </a:extLst>
          </p:cNvPr>
          <p:cNvSpPr/>
          <p:nvPr/>
        </p:nvSpPr>
        <p:spPr>
          <a:xfrm>
            <a:off x="671061" y="1205118"/>
            <a:ext cx="5156324" cy="2710684"/>
          </a:xfrm>
          <a:custGeom>
            <a:avLst/>
            <a:gdLst>
              <a:gd name="connsiteX0" fmla="*/ 0 w 3106057"/>
              <a:gd name="connsiteY0" fmla="*/ 1603829 h 1632857"/>
              <a:gd name="connsiteX1" fmla="*/ 965200 w 3106057"/>
              <a:gd name="connsiteY1" fmla="*/ 638629 h 1632857"/>
              <a:gd name="connsiteX2" fmla="*/ 1211943 w 3106057"/>
              <a:gd name="connsiteY2" fmla="*/ 1632857 h 1632857"/>
              <a:gd name="connsiteX3" fmla="*/ 3106057 w 3106057"/>
              <a:gd name="connsiteY3" fmla="*/ 0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6057" h="1632857">
                <a:moveTo>
                  <a:pt x="0" y="1603829"/>
                </a:moveTo>
                <a:lnTo>
                  <a:pt x="965200" y="638629"/>
                </a:lnTo>
                <a:lnTo>
                  <a:pt x="1211943" y="1632857"/>
                </a:lnTo>
                <a:lnTo>
                  <a:pt x="3106057" y="0"/>
                </a:lnTo>
              </a:path>
            </a:pathLst>
          </a:custGeom>
          <a:noFill/>
          <a:ln w="231775" cap="rnd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8BB48018-06F1-304D-0CC1-3ACC4DB2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RakuRakuEC</a:t>
            </a:r>
            <a:r>
              <a:rPr lang="ja-JP" altLang="en-US" dirty="0"/>
              <a:t>とは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A42BD142-07A2-A943-D80E-784068A0172D}"/>
              </a:ext>
            </a:extLst>
          </p:cNvPr>
          <p:cNvSpPr/>
          <p:nvPr/>
        </p:nvSpPr>
        <p:spPr>
          <a:xfrm>
            <a:off x="0" y="460134"/>
            <a:ext cx="12192000" cy="1037564"/>
          </a:xfrm>
          <a:prstGeom prst="rect">
            <a:avLst/>
          </a:prstGeom>
          <a:noFill/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endParaRPr kumimoji="1" lang="ja-JP" altLang="en-US" sz="2400" dirty="0">
              <a:solidFill>
                <a:schemeClr val="tx1"/>
              </a:solidFill>
            </a:endParaRPr>
          </a:p>
        </p:txBody>
      </p:sp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9D50829F-527B-E5BE-F8FC-7C51B5F55502}"/>
              </a:ext>
            </a:extLst>
          </p:cNvPr>
          <p:cNvGrpSpPr/>
          <p:nvPr/>
        </p:nvGrpSpPr>
        <p:grpSpPr>
          <a:xfrm>
            <a:off x="6352071" y="1658252"/>
            <a:ext cx="5400600" cy="792076"/>
            <a:chOff x="6352071" y="1651781"/>
            <a:chExt cx="5400600" cy="792076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73BC3AE4-3BF4-8A71-314F-477B6901A362}"/>
                </a:ext>
              </a:extLst>
            </p:cNvPr>
            <p:cNvSpPr/>
            <p:nvPr/>
          </p:nvSpPr>
          <p:spPr>
            <a:xfrm>
              <a:off x="6352071" y="1651781"/>
              <a:ext cx="5400600" cy="792076"/>
            </a:xfrm>
            <a:prstGeom prst="roundRect">
              <a:avLst>
                <a:gd name="adj" fmla="val 13272"/>
              </a:avLst>
            </a:prstGeom>
            <a:solidFill>
              <a:schemeClr val="bg1"/>
            </a:solidFill>
            <a:ln w="19050" cap="rnd">
              <a:solidFill>
                <a:schemeClr val="bg1">
                  <a:lumMod val="85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6325" algn="l">
                <a:lnSpc>
                  <a:spcPct val="120000"/>
                </a:lnSpc>
                <a:spcAft>
                  <a:spcPts val="300"/>
                </a:spcAft>
                <a:tabLst>
                  <a:tab pos="5038725" algn="r"/>
                </a:tabLst>
              </a:pPr>
              <a:r>
                <a:rPr kumimoji="1" lang="en-US" altLang="ja-JP" dirty="0">
                  <a:solidFill>
                    <a:schemeClr val="tx1"/>
                  </a:solidFill>
                </a:rPr>
                <a:t>EC</a:t>
              </a:r>
              <a:r>
                <a:rPr kumimoji="1" lang="ja-JP" altLang="en-US" dirty="0">
                  <a:solidFill>
                    <a:schemeClr val="tx1"/>
                  </a:solidFill>
                </a:rPr>
                <a:t>クリエイト</a:t>
              </a:r>
              <a:r>
                <a:rPr kumimoji="1" lang="en-US" altLang="ja-JP" dirty="0">
                  <a:solidFill>
                    <a:schemeClr val="tx1"/>
                  </a:solidFill>
                </a:rPr>
                <a:t>	22%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星: 8 pt 4">
              <a:extLst>
                <a:ext uri="{FF2B5EF4-FFF2-40B4-BE49-F238E27FC236}">
                  <a16:creationId xmlns:a16="http://schemas.microsoft.com/office/drawing/2014/main" id="{9B61151B-4EB4-B680-F4E9-0BA388856F97}"/>
                </a:ext>
              </a:extLst>
            </p:cNvPr>
            <p:cNvSpPr/>
            <p:nvPr/>
          </p:nvSpPr>
          <p:spPr>
            <a:xfrm>
              <a:off x="6456040" y="1745067"/>
              <a:ext cx="605504" cy="605504"/>
            </a:xfrm>
            <a:prstGeom prst="star8">
              <a:avLst/>
            </a:prstGeom>
            <a:noFill/>
            <a:ln w="38100" cap="rnd">
              <a:solidFill>
                <a:schemeClr val="bg1">
                  <a:lumMod val="85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52BCBAE0-2F00-1E8E-2965-EEBFE952A7B3}"/>
              </a:ext>
            </a:extLst>
          </p:cNvPr>
          <p:cNvGrpSpPr/>
          <p:nvPr/>
        </p:nvGrpSpPr>
        <p:grpSpPr>
          <a:xfrm>
            <a:off x="6352071" y="3536988"/>
            <a:ext cx="5400600" cy="792076"/>
            <a:chOff x="6352071" y="3443795"/>
            <a:chExt cx="5400600" cy="792076"/>
          </a:xfrm>
        </p:grpSpPr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63AEDCE5-5E78-AA39-71FA-C137BBE252E5}"/>
                </a:ext>
              </a:extLst>
            </p:cNvPr>
            <p:cNvSpPr/>
            <p:nvPr/>
          </p:nvSpPr>
          <p:spPr>
            <a:xfrm>
              <a:off x="6352071" y="3443795"/>
              <a:ext cx="5400600" cy="792076"/>
            </a:xfrm>
            <a:prstGeom prst="roundRect">
              <a:avLst>
                <a:gd name="adj" fmla="val 13272"/>
              </a:avLst>
            </a:prstGeom>
            <a:solidFill>
              <a:schemeClr val="bg1"/>
            </a:solidFill>
            <a:ln w="19050" cap="rnd">
              <a:solidFill>
                <a:schemeClr val="bg1">
                  <a:lumMod val="85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6325" algn="l">
                <a:lnSpc>
                  <a:spcPct val="120000"/>
                </a:lnSpc>
                <a:spcAft>
                  <a:spcPts val="300"/>
                </a:spcAft>
                <a:tabLst>
                  <a:tab pos="5038725" algn="r"/>
                </a:tabLst>
              </a:pPr>
              <a:r>
                <a:rPr kumimoji="1" lang="ja-JP" altLang="en-US" dirty="0">
                  <a:solidFill>
                    <a:schemeClr val="tx1"/>
                  </a:solidFill>
                </a:rPr>
                <a:t>スマートネット</a:t>
              </a:r>
              <a:r>
                <a:rPr kumimoji="1" lang="en-US" altLang="ja-JP" dirty="0">
                  <a:solidFill>
                    <a:schemeClr val="tx1"/>
                  </a:solidFill>
                </a:rPr>
                <a:t>	13%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星: 8 pt 15">
              <a:extLst>
                <a:ext uri="{FF2B5EF4-FFF2-40B4-BE49-F238E27FC236}">
                  <a16:creationId xmlns:a16="http://schemas.microsoft.com/office/drawing/2014/main" id="{25050000-A575-D32A-D276-BE3919B6CDE2}"/>
                </a:ext>
              </a:extLst>
            </p:cNvPr>
            <p:cNvSpPr/>
            <p:nvPr/>
          </p:nvSpPr>
          <p:spPr>
            <a:xfrm>
              <a:off x="6456040" y="3537081"/>
              <a:ext cx="605504" cy="605504"/>
            </a:xfrm>
            <a:prstGeom prst="star8">
              <a:avLst/>
            </a:prstGeom>
            <a:noFill/>
            <a:ln w="38100" cap="rnd">
              <a:solidFill>
                <a:schemeClr val="bg1">
                  <a:lumMod val="85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8A972672-4B32-C866-F636-219D60BAD197}"/>
              </a:ext>
            </a:extLst>
          </p:cNvPr>
          <p:cNvGrpSpPr/>
          <p:nvPr/>
        </p:nvGrpSpPr>
        <p:grpSpPr>
          <a:xfrm>
            <a:off x="6352071" y="4476356"/>
            <a:ext cx="5400600" cy="792076"/>
            <a:chOff x="6352071" y="4329157"/>
            <a:chExt cx="5400600" cy="792076"/>
          </a:xfrm>
        </p:grpSpPr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D409808E-3144-524A-10DC-A2D1EEBA0FCC}"/>
                </a:ext>
              </a:extLst>
            </p:cNvPr>
            <p:cNvSpPr/>
            <p:nvPr/>
          </p:nvSpPr>
          <p:spPr>
            <a:xfrm>
              <a:off x="6352071" y="4329157"/>
              <a:ext cx="5400600" cy="792076"/>
            </a:xfrm>
            <a:prstGeom prst="roundRect">
              <a:avLst>
                <a:gd name="adj" fmla="val 13272"/>
              </a:avLst>
            </a:prstGeom>
            <a:solidFill>
              <a:schemeClr val="bg1"/>
            </a:solidFill>
            <a:ln w="19050" cap="rnd">
              <a:solidFill>
                <a:schemeClr val="bg1">
                  <a:lumMod val="85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6325" algn="l">
                <a:lnSpc>
                  <a:spcPct val="120000"/>
                </a:lnSpc>
                <a:spcAft>
                  <a:spcPts val="300"/>
                </a:spcAft>
                <a:tabLst>
                  <a:tab pos="5038725" algn="r"/>
                </a:tabLst>
              </a:pPr>
              <a:r>
                <a:rPr kumimoji="1" lang="en-US" altLang="ja-JP" dirty="0">
                  <a:solidFill>
                    <a:schemeClr val="tx1"/>
                  </a:solidFill>
                </a:rPr>
                <a:t>NOWEC</a:t>
              </a:r>
              <a:r>
                <a:rPr kumimoji="1" lang="ja-JP" altLang="en-US" dirty="0">
                  <a:solidFill>
                    <a:schemeClr val="tx1"/>
                  </a:solidFill>
                </a:rPr>
                <a:t>ｰ</a:t>
              </a:r>
              <a:r>
                <a:rPr kumimoji="1" lang="en-US" altLang="ja-JP" dirty="0">
                  <a:solidFill>
                    <a:schemeClr val="tx1"/>
                  </a:solidFill>
                </a:rPr>
                <a:t>Z	8%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星: 8 pt 17">
              <a:extLst>
                <a:ext uri="{FF2B5EF4-FFF2-40B4-BE49-F238E27FC236}">
                  <a16:creationId xmlns:a16="http://schemas.microsoft.com/office/drawing/2014/main" id="{4330D96A-FF94-F187-F6CD-D35B29582731}"/>
                </a:ext>
              </a:extLst>
            </p:cNvPr>
            <p:cNvSpPr/>
            <p:nvPr/>
          </p:nvSpPr>
          <p:spPr>
            <a:xfrm>
              <a:off x="6456040" y="4422443"/>
              <a:ext cx="605504" cy="605504"/>
            </a:xfrm>
            <a:prstGeom prst="star8">
              <a:avLst/>
            </a:prstGeom>
            <a:noFill/>
            <a:ln w="381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767B5E81-7285-F23E-12C3-B7B1539ABA82}"/>
              </a:ext>
            </a:extLst>
          </p:cNvPr>
          <p:cNvGrpSpPr/>
          <p:nvPr/>
        </p:nvGrpSpPr>
        <p:grpSpPr>
          <a:xfrm>
            <a:off x="6352071" y="5415724"/>
            <a:ext cx="5400600" cy="792076"/>
            <a:chOff x="6352071" y="5210825"/>
            <a:chExt cx="5400600" cy="792076"/>
          </a:xfrm>
        </p:grpSpPr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DFF1A584-9E19-1223-6154-C6E6DE8F82F7}"/>
                </a:ext>
              </a:extLst>
            </p:cNvPr>
            <p:cNvSpPr/>
            <p:nvPr/>
          </p:nvSpPr>
          <p:spPr>
            <a:xfrm>
              <a:off x="6352071" y="5210825"/>
              <a:ext cx="5400600" cy="792076"/>
            </a:xfrm>
            <a:prstGeom prst="roundRect">
              <a:avLst>
                <a:gd name="adj" fmla="val 13272"/>
              </a:avLst>
            </a:prstGeom>
            <a:solidFill>
              <a:schemeClr val="bg1"/>
            </a:solidFill>
            <a:ln w="19050" cap="rnd">
              <a:solidFill>
                <a:schemeClr val="bg1">
                  <a:lumMod val="85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6325" algn="l">
                <a:lnSpc>
                  <a:spcPct val="120000"/>
                </a:lnSpc>
                <a:spcAft>
                  <a:spcPts val="300"/>
                </a:spcAft>
                <a:tabLst>
                  <a:tab pos="5038725" algn="r"/>
                </a:tabLst>
              </a:pPr>
              <a:r>
                <a:rPr kumimoji="1" lang="ja-JP" altLang="en-US" dirty="0">
                  <a:solidFill>
                    <a:schemeClr val="tx1"/>
                  </a:solidFill>
                </a:rPr>
                <a:t>レジラクネット</a:t>
              </a:r>
              <a:r>
                <a:rPr kumimoji="1" lang="en-US" altLang="ja-JP" dirty="0">
                  <a:solidFill>
                    <a:schemeClr val="tx1"/>
                  </a:solidFill>
                </a:rPr>
                <a:t>	5%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星: 8 pt 19">
              <a:extLst>
                <a:ext uri="{FF2B5EF4-FFF2-40B4-BE49-F238E27FC236}">
                  <a16:creationId xmlns:a16="http://schemas.microsoft.com/office/drawing/2014/main" id="{705C932C-7339-ADCF-B4B9-CC1D240F95C9}"/>
                </a:ext>
              </a:extLst>
            </p:cNvPr>
            <p:cNvSpPr/>
            <p:nvPr/>
          </p:nvSpPr>
          <p:spPr>
            <a:xfrm>
              <a:off x="6456040" y="5304111"/>
              <a:ext cx="605504" cy="605504"/>
            </a:xfrm>
            <a:prstGeom prst="star8">
              <a:avLst/>
            </a:prstGeom>
            <a:noFill/>
            <a:ln w="381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7A00A71-A254-511A-D7FB-14E837850E09}"/>
              </a:ext>
            </a:extLst>
          </p:cNvPr>
          <p:cNvSpPr txBox="1"/>
          <p:nvPr/>
        </p:nvSpPr>
        <p:spPr>
          <a:xfrm>
            <a:off x="10752856" y="1310747"/>
            <a:ext cx="1031051" cy="277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1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市場シェア率</a:t>
            </a:r>
          </a:p>
        </p:txBody>
      </p: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5D8BB098-4F10-A037-EF1C-865736C85786}"/>
              </a:ext>
            </a:extLst>
          </p:cNvPr>
          <p:cNvGrpSpPr/>
          <p:nvPr/>
        </p:nvGrpSpPr>
        <p:grpSpPr>
          <a:xfrm>
            <a:off x="6352071" y="2597620"/>
            <a:ext cx="5400600" cy="792076"/>
            <a:chOff x="6352071" y="2558433"/>
            <a:chExt cx="5400600" cy="792076"/>
          </a:xfrm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625824FF-85E8-A6FB-5D35-AB26E1739AA6}"/>
                </a:ext>
              </a:extLst>
            </p:cNvPr>
            <p:cNvSpPr/>
            <p:nvPr/>
          </p:nvSpPr>
          <p:spPr>
            <a:xfrm>
              <a:off x="6352071" y="2558433"/>
              <a:ext cx="5400600" cy="792076"/>
            </a:xfrm>
            <a:prstGeom prst="roundRect">
              <a:avLst>
                <a:gd name="adj" fmla="val 13272"/>
              </a:avLst>
            </a:prstGeom>
            <a:solidFill>
              <a:schemeClr val="tx2"/>
            </a:solidFill>
            <a:ln w="19050" cap="rnd">
              <a:solidFill>
                <a:schemeClr val="tx2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6325" algn="l">
                <a:lnSpc>
                  <a:spcPct val="120000"/>
                </a:lnSpc>
                <a:spcAft>
                  <a:spcPts val="300"/>
                </a:spcAft>
                <a:tabLst>
                  <a:tab pos="5038725" algn="r"/>
                </a:tabLst>
              </a:pPr>
              <a:r>
                <a:rPr kumimoji="1" lang="en-US" altLang="ja-JP" dirty="0" err="1">
                  <a:solidFill>
                    <a:schemeClr val="bg1"/>
                  </a:solidFill>
                </a:rPr>
                <a:t>RakuRakuEC</a:t>
              </a:r>
              <a:r>
                <a:rPr kumimoji="1" lang="en-US" altLang="ja-JP" dirty="0">
                  <a:solidFill>
                    <a:schemeClr val="bg1"/>
                  </a:solidFill>
                </a:rPr>
                <a:t>	20%</a:t>
              </a:r>
            </a:p>
          </p:txBody>
        </p:sp>
        <p:sp>
          <p:nvSpPr>
            <p:cNvPr id="12" name="星: 8 pt 11">
              <a:extLst>
                <a:ext uri="{FF2B5EF4-FFF2-40B4-BE49-F238E27FC236}">
                  <a16:creationId xmlns:a16="http://schemas.microsoft.com/office/drawing/2014/main" id="{B419F037-A22C-43F7-7186-C3504943C547}"/>
                </a:ext>
              </a:extLst>
            </p:cNvPr>
            <p:cNvSpPr/>
            <p:nvPr/>
          </p:nvSpPr>
          <p:spPr>
            <a:xfrm>
              <a:off x="6456040" y="2651719"/>
              <a:ext cx="605504" cy="605504"/>
            </a:xfrm>
            <a:prstGeom prst="star8">
              <a:avLst/>
            </a:prstGeom>
            <a:noFill/>
            <a:ln w="38100" cap="rnd">
              <a:solidFill>
                <a:schemeClr val="bg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ja-JP" dirty="0">
                  <a:solidFill>
                    <a:schemeClr val="bg1"/>
                  </a:solidFill>
                </a:rPr>
                <a:t>2</a:t>
              </a:r>
              <a:endParaRPr kumimoji="1" lang="ja-JP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D621456A-979D-DA54-AF57-173D0F7994C1}"/>
                </a:ext>
              </a:extLst>
            </p:cNvPr>
            <p:cNvSpPr/>
            <p:nvPr/>
          </p:nvSpPr>
          <p:spPr>
            <a:xfrm>
              <a:off x="9480376" y="2773697"/>
              <a:ext cx="1212471" cy="35769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38100" cap="rnd">
              <a:solidFill>
                <a:schemeClr val="bg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ja-JP" sz="1400" dirty="0">
                  <a:solidFill>
                    <a:schemeClr val="bg1"/>
                  </a:solidFill>
                </a:rPr>
                <a:t>2</a:t>
              </a:r>
              <a:r>
                <a:rPr kumimoji="1" lang="ja-JP" altLang="en-US" sz="1400" dirty="0">
                  <a:solidFill>
                    <a:schemeClr val="bg1"/>
                  </a:solidFill>
                </a:rPr>
                <a:t>ランク</a:t>
              </a:r>
              <a:r>
                <a:rPr kumimoji="1" lang="en-US" altLang="ja-JP" sz="1400" dirty="0">
                  <a:solidFill>
                    <a:schemeClr val="bg1"/>
                  </a:solidFill>
                </a:rPr>
                <a:t>UP</a:t>
              </a:r>
              <a:endParaRPr kumimoji="1" lang="ja-JP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609202E-38CA-7BAD-00D8-FEC79FC9D9B1}"/>
              </a:ext>
            </a:extLst>
          </p:cNvPr>
          <p:cNvGrpSpPr/>
          <p:nvPr/>
        </p:nvGrpSpPr>
        <p:grpSpPr>
          <a:xfrm>
            <a:off x="1343472" y="4415237"/>
            <a:ext cx="3085925" cy="1792563"/>
            <a:chOff x="767404" y="2825715"/>
            <a:chExt cx="3085925" cy="1792563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910BB2D2-4800-D8E1-3D07-47E1D8575BF1}"/>
                </a:ext>
              </a:extLst>
            </p:cNvPr>
            <p:cNvGrpSpPr/>
            <p:nvPr/>
          </p:nvGrpSpPr>
          <p:grpSpPr>
            <a:xfrm>
              <a:off x="767404" y="2825715"/>
              <a:ext cx="648071" cy="1637037"/>
              <a:chOff x="3983946" y="1664385"/>
              <a:chExt cx="1828930" cy="4619891"/>
            </a:xfrm>
            <a:solidFill>
              <a:schemeClr val="accent4"/>
            </a:solidFill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E6C27117-F2C6-69B3-2814-AD50DD0937C0}"/>
                  </a:ext>
                </a:extLst>
              </p:cNvPr>
              <p:cNvGrpSpPr/>
              <p:nvPr/>
            </p:nvGrpSpPr>
            <p:grpSpPr>
              <a:xfrm rot="19800000">
                <a:off x="4506330" y="5440554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86" name="フリーフォーム: 図形 85">
                  <a:extLst>
                    <a:ext uri="{FF2B5EF4-FFF2-40B4-BE49-F238E27FC236}">
                      <a16:creationId xmlns:a16="http://schemas.microsoft.com/office/drawing/2014/main" id="{EA9A01E9-F60C-70AD-5AD0-145B7239C223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87" name="フリーフォーム: 図形 86">
                  <a:extLst>
                    <a:ext uri="{FF2B5EF4-FFF2-40B4-BE49-F238E27FC236}">
                      <a16:creationId xmlns:a16="http://schemas.microsoft.com/office/drawing/2014/main" id="{8F794F45-A478-3236-05B9-2E5CA185586F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60" name="グループ化 59">
                <a:extLst>
                  <a:ext uri="{FF2B5EF4-FFF2-40B4-BE49-F238E27FC236}">
                    <a16:creationId xmlns:a16="http://schemas.microsoft.com/office/drawing/2014/main" id="{65B27391-21B7-ADC2-8CE8-C54BC8FECFDC}"/>
                  </a:ext>
                </a:extLst>
              </p:cNvPr>
              <p:cNvGrpSpPr/>
              <p:nvPr/>
            </p:nvGrpSpPr>
            <p:grpSpPr>
              <a:xfrm rot="20400000">
                <a:off x="4238491" y="4951768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84" name="フリーフォーム: 図形 83">
                  <a:extLst>
                    <a:ext uri="{FF2B5EF4-FFF2-40B4-BE49-F238E27FC236}">
                      <a16:creationId xmlns:a16="http://schemas.microsoft.com/office/drawing/2014/main" id="{E48168B5-7A9B-9D6F-F1C7-7B9ACDB56E27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85" name="フリーフォーム: 図形 84">
                  <a:extLst>
                    <a:ext uri="{FF2B5EF4-FFF2-40B4-BE49-F238E27FC236}">
                      <a16:creationId xmlns:a16="http://schemas.microsoft.com/office/drawing/2014/main" id="{0B899D7D-86A5-66CD-5C87-B0F897183091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19705BFF-E42F-D6A5-0166-B8F681790E8D}"/>
                  </a:ext>
                </a:extLst>
              </p:cNvPr>
              <p:cNvGrpSpPr/>
              <p:nvPr/>
            </p:nvGrpSpPr>
            <p:grpSpPr>
              <a:xfrm rot="21000000">
                <a:off x="4064415" y="4462722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82" name="フリーフォーム: 図形 81">
                  <a:extLst>
                    <a:ext uri="{FF2B5EF4-FFF2-40B4-BE49-F238E27FC236}">
                      <a16:creationId xmlns:a16="http://schemas.microsoft.com/office/drawing/2014/main" id="{7A00F549-5460-87F4-0A01-29EEFB4854F6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83" name="フリーフォーム: 図形 82">
                  <a:extLst>
                    <a:ext uri="{FF2B5EF4-FFF2-40B4-BE49-F238E27FC236}">
                      <a16:creationId xmlns:a16="http://schemas.microsoft.com/office/drawing/2014/main" id="{DD84499F-7177-08FE-EBD9-A28F30A9EC4C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62" name="グループ化 61">
                <a:extLst>
                  <a:ext uri="{FF2B5EF4-FFF2-40B4-BE49-F238E27FC236}">
                    <a16:creationId xmlns:a16="http://schemas.microsoft.com/office/drawing/2014/main" id="{A9CD8482-D0F8-D839-36C0-1FB5C9B1B808}"/>
                  </a:ext>
                </a:extLst>
              </p:cNvPr>
              <p:cNvGrpSpPr/>
              <p:nvPr/>
            </p:nvGrpSpPr>
            <p:grpSpPr>
              <a:xfrm rot="21600000">
                <a:off x="3983946" y="394192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80" name="フリーフォーム: 図形 79">
                  <a:extLst>
                    <a:ext uri="{FF2B5EF4-FFF2-40B4-BE49-F238E27FC236}">
                      <a16:creationId xmlns:a16="http://schemas.microsoft.com/office/drawing/2014/main" id="{4071735A-B531-56C1-E819-A04A2BE15D4B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81" name="フリーフォーム: 図形 80">
                  <a:extLst>
                    <a:ext uri="{FF2B5EF4-FFF2-40B4-BE49-F238E27FC236}">
                      <a16:creationId xmlns:a16="http://schemas.microsoft.com/office/drawing/2014/main" id="{2BC34441-15CC-085B-2B4B-BD2F3131758C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63" name="グループ化 62">
                <a:extLst>
                  <a:ext uri="{FF2B5EF4-FFF2-40B4-BE49-F238E27FC236}">
                    <a16:creationId xmlns:a16="http://schemas.microsoft.com/office/drawing/2014/main" id="{FA35D035-AC20-E787-6886-24B2E0237220}"/>
                  </a:ext>
                </a:extLst>
              </p:cNvPr>
              <p:cNvGrpSpPr/>
              <p:nvPr/>
            </p:nvGrpSpPr>
            <p:grpSpPr>
              <a:xfrm rot="22200000">
                <a:off x="3992025" y="345923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78" name="フリーフォーム: 図形 77">
                  <a:extLst>
                    <a:ext uri="{FF2B5EF4-FFF2-40B4-BE49-F238E27FC236}">
                      <a16:creationId xmlns:a16="http://schemas.microsoft.com/office/drawing/2014/main" id="{3C445ACB-B3AF-1A56-0E70-EC8C27592399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79" name="フリーフォーム: 図形 78">
                  <a:extLst>
                    <a:ext uri="{FF2B5EF4-FFF2-40B4-BE49-F238E27FC236}">
                      <a16:creationId xmlns:a16="http://schemas.microsoft.com/office/drawing/2014/main" id="{89D50E7B-61CD-FC87-58D7-EFE9F79AE865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64" name="グループ化 63">
                <a:extLst>
                  <a:ext uri="{FF2B5EF4-FFF2-40B4-BE49-F238E27FC236}">
                    <a16:creationId xmlns:a16="http://schemas.microsoft.com/office/drawing/2014/main" id="{F7663D8F-1ECB-CF2A-EDEB-B7ACBAEF55D0}"/>
                  </a:ext>
                </a:extLst>
              </p:cNvPr>
              <p:cNvGrpSpPr/>
              <p:nvPr/>
            </p:nvGrpSpPr>
            <p:grpSpPr>
              <a:xfrm rot="22800000">
                <a:off x="4094966" y="2976533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76" name="フリーフォーム: 図形 75">
                  <a:extLst>
                    <a:ext uri="{FF2B5EF4-FFF2-40B4-BE49-F238E27FC236}">
                      <a16:creationId xmlns:a16="http://schemas.microsoft.com/office/drawing/2014/main" id="{37FEBF07-4E7B-D99B-BAD2-1D3D72371976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77" name="フリーフォーム: 図形 76">
                  <a:extLst>
                    <a:ext uri="{FF2B5EF4-FFF2-40B4-BE49-F238E27FC236}">
                      <a16:creationId xmlns:a16="http://schemas.microsoft.com/office/drawing/2014/main" id="{2E0333C7-D47F-173C-3D84-D26FFBCCD759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65" name="グループ化 64">
                <a:extLst>
                  <a:ext uri="{FF2B5EF4-FFF2-40B4-BE49-F238E27FC236}">
                    <a16:creationId xmlns:a16="http://schemas.microsoft.com/office/drawing/2014/main" id="{DEA2AC9C-FF67-DA6F-CAA7-65146D6BD106}"/>
                  </a:ext>
                </a:extLst>
              </p:cNvPr>
              <p:cNvGrpSpPr/>
              <p:nvPr/>
            </p:nvGrpSpPr>
            <p:grpSpPr>
              <a:xfrm rot="23400000">
                <a:off x="4295630" y="249383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74" name="フリーフォーム: 図形 73">
                  <a:extLst>
                    <a:ext uri="{FF2B5EF4-FFF2-40B4-BE49-F238E27FC236}">
                      <a16:creationId xmlns:a16="http://schemas.microsoft.com/office/drawing/2014/main" id="{1109C167-73D0-989A-C676-F2A9C1E512D8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75" name="フリーフォーム: 図形 74">
                  <a:extLst>
                    <a:ext uri="{FF2B5EF4-FFF2-40B4-BE49-F238E27FC236}">
                      <a16:creationId xmlns:a16="http://schemas.microsoft.com/office/drawing/2014/main" id="{5153B7D2-F18A-63FC-D5AF-565AC47FA801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ADB23609-64AF-5414-21FA-5153FCDE0169}"/>
                  </a:ext>
                </a:extLst>
              </p:cNvPr>
              <p:cNvGrpSpPr/>
              <p:nvPr/>
            </p:nvGrpSpPr>
            <p:grpSpPr>
              <a:xfrm rot="24000000">
                <a:off x="4586901" y="201114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71" name="フリーフォーム: 図形 70">
                  <a:extLst>
                    <a:ext uri="{FF2B5EF4-FFF2-40B4-BE49-F238E27FC236}">
                      <a16:creationId xmlns:a16="http://schemas.microsoft.com/office/drawing/2014/main" id="{192B26DA-7A32-6AA8-C039-11DA3C8C8E4B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dirty="0"/>
                </a:p>
              </p:txBody>
            </p:sp>
            <p:sp>
              <p:nvSpPr>
                <p:cNvPr id="72" name="フリーフォーム: 図形 71">
                  <a:extLst>
                    <a:ext uri="{FF2B5EF4-FFF2-40B4-BE49-F238E27FC236}">
                      <a16:creationId xmlns:a16="http://schemas.microsoft.com/office/drawing/2014/main" id="{F11043F3-CBCF-5554-1F24-AA6B7D6356F5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sp>
            <p:nvSpPr>
              <p:cNvPr id="67" name="フリーフォーム: 図形 66">
                <a:extLst>
                  <a:ext uri="{FF2B5EF4-FFF2-40B4-BE49-F238E27FC236}">
                    <a16:creationId xmlns:a16="http://schemas.microsoft.com/office/drawing/2014/main" id="{5C5EAFB6-D278-61B2-000C-24E669262530}"/>
                  </a:ext>
                </a:extLst>
              </p:cNvPr>
              <p:cNvSpPr/>
              <p:nvPr/>
            </p:nvSpPr>
            <p:spPr>
              <a:xfrm flipH="1">
                <a:off x="5175136" y="1664385"/>
                <a:ext cx="576305" cy="411565"/>
              </a:xfrm>
              <a:custGeom>
                <a:avLst/>
                <a:gdLst>
                  <a:gd name="connsiteX0" fmla="*/ 246867 w 748186"/>
                  <a:gd name="connsiteY0" fmla="*/ 334910 h 534313"/>
                  <a:gd name="connsiteX1" fmla="*/ 0 w 748186"/>
                  <a:gd name="connsiteY1" fmla="*/ 5333 h 534313"/>
                  <a:gd name="connsiteX2" fmla="*/ 393028 w 748186"/>
                  <a:gd name="connsiteY2" fmla="*/ 128177 h 534313"/>
                  <a:gd name="connsiteX3" fmla="*/ 748186 w 748186"/>
                  <a:gd name="connsiteY3" fmla="*/ 534314 h 534313"/>
                  <a:gd name="connsiteX4" fmla="*/ 246867 w 748186"/>
                  <a:gd name="connsiteY4" fmla="*/ 334910 h 53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186" h="534313">
                    <a:moveTo>
                      <a:pt x="246867" y="334910"/>
                    </a:moveTo>
                    <a:cubicBezTo>
                      <a:pt x="10359" y="167696"/>
                      <a:pt x="0" y="5333"/>
                      <a:pt x="0" y="5333"/>
                    </a:cubicBezTo>
                    <a:cubicBezTo>
                      <a:pt x="0" y="5333"/>
                      <a:pt x="156520" y="-39036"/>
                      <a:pt x="393028" y="128177"/>
                    </a:cubicBezTo>
                    <a:cubicBezTo>
                      <a:pt x="629536" y="295391"/>
                      <a:pt x="748186" y="534314"/>
                      <a:pt x="748186" y="534314"/>
                    </a:cubicBezTo>
                    <a:cubicBezTo>
                      <a:pt x="748186" y="534314"/>
                      <a:pt x="483375" y="502124"/>
                      <a:pt x="246867" y="334910"/>
                    </a:cubicBezTo>
                    <a:close/>
                  </a:path>
                </a:pathLst>
              </a:custGeom>
              <a:grpFill/>
              <a:ln w="1905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/>
              </a:p>
            </p:txBody>
          </p:sp>
          <p:grpSp>
            <p:nvGrpSpPr>
              <p:cNvPr id="68" name="グループ化 67">
                <a:extLst>
                  <a:ext uri="{FF2B5EF4-FFF2-40B4-BE49-F238E27FC236}">
                    <a16:creationId xmlns:a16="http://schemas.microsoft.com/office/drawing/2014/main" id="{DC12ABFA-D449-21A2-6FA7-71A05057530C}"/>
                  </a:ext>
                </a:extLst>
              </p:cNvPr>
              <p:cNvGrpSpPr/>
              <p:nvPr/>
            </p:nvGrpSpPr>
            <p:grpSpPr>
              <a:xfrm rot="19200000">
                <a:off x="4839492" y="5872711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69" name="フリーフォーム: 図形 68">
                  <a:extLst>
                    <a:ext uri="{FF2B5EF4-FFF2-40B4-BE49-F238E27FC236}">
                      <a16:creationId xmlns:a16="http://schemas.microsoft.com/office/drawing/2014/main" id="{CAEE468B-BDDF-22AC-9D3B-1F8734684C46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70" name="フリーフォーム: 図形 69">
                  <a:extLst>
                    <a:ext uri="{FF2B5EF4-FFF2-40B4-BE49-F238E27FC236}">
                      <a16:creationId xmlns:a16="http://schemas.microsoft.com/office/drawing/2014/main" id="{855CA457-C720-0E91-7785-CFA6F203736C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</p:grp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70EE0C39-CDEA-4002-198A-703E6F63FDAC}"/>
                </a:ext>
              </a:extLst>
            </p:cNvPr>
            <p:cNvGrpSpPr/>
            <p:nvPr/>
          </p:nvGrpSpPr>
          <p:grpSpPr>
            <a:xfrm flipH="1">
              <a:off x="3205258" y="2825715"/>
              <a:ext cx="648071" cy="1637037"/>
              <a:chOff x="3983946" y="1664385"/>
              <a:chExt cx="1828930" cy="4619891"/>
            </a:xfrm>
            <a:solidFill>
              <a:schemeClr val="accent4"/>
            </a:solidFill>
          </p:grpSpPr>
          <p:grpSp>
            <p:nvGrpSpPr>
              <p:cNvPr id="31" name="グループ化 30">
                <a:extLst>
                  <a:ext uri="{FF2B5EF4-FFF2-40B4-BE49-F238E27FC236}">
                    <a16:creationId xmlns:a16="http://schemas.microsoft.com/office/drawing/2014/main" id="{307AA80C-EE3A-4B84-0AFB-0B1E5E5734C0}"/>
                  </a:ext>
                </a:extLst>
              </p:cNvPr>
              <p:cNvGrpSpPr/>
              <p:nvPr/>
            </p:nvGrpSpPr>
            <p:grpSpPr>
              <a:xfrm rot="19800000">
                <a:off x="4506330" y="5440554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57" name="フリーフォーム: 図形 56">
                  <a:extLst>
                    <a:ext uri="{FF2B5EF4-FFF2-40B4-BE49-F238E27FC236}">
                      <a16:creationId xmlns:a16="http://schemas.microsoft.com/office/drawing/2014/main" id="{0F7EB3D5-076B-BA58-0CB4-8B4F713964FB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58" name="フリーフォーム: 図形 57">
                  <a:extLst>
                    <a:ext uri="{FF2B5EF4-FFF2-40B4-BE49-F238E27FC236}">
                      <a16:creationId xmlns:a16="http://schemas.microsoft.com/office/drawing/2014/main" id="{72500812-D4BD-D58F-92D9-6C09DA05376B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32" name="グループ化 31">
                <a:extLst>
                  <a:ext uri="{FF2B5EF4-FFF2-40B4-BE49-F238E27FC236}">
                    <a16:creationId xmlns:a16="http://schemas.microsoft.com/office/drawing/2014/main" id="{C630EF02-BEBB-5B73-B9FD-CE201BE84DAE}"/>
                  </a:ext>
                </a:extLst>
              </p:cNvPr>
              <p:cNvGrpSpPr/>
              <p:nvPr/>
            </p:nvGrpSpPr>
            <p:grpSpPr>
              <a:xfrm rot="20400000">
                <a:off x="4238491" y="4951768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55" name="フリーフォーム: 図形 54">
                  <a:extLst>
                    <a:ext uri="{FF2B5EF4-FFF2-40B4-BE49-F238E27FC236}">
                      <a16:creationId xmlns:a16="http://schemas.microsoft.com/office/drawing/2014/main" id="{F70B461E-8B85-3D1B-02AF-8AE7C77277D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56" name="フリーフォーム: 図形 55">
                  <a:extLst>
                    <a:ext uri="{FF2B5EF4-FFF2-40B4-BE49-F238E27FC236}">
                      <a16:creationId xmlns:a16="http://schemas.microsoft.com/office/drawing/2014/main" id="{2C1FB752-B863-1E07-5464-6CAB2243D0BE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33" name="グループ化 32">
                <a:extLst>
                  <a:ext uri="{FF2B5EF4-FFF2-40B4-BE49-F238E27FC236}">
                    <a16:creationId xmlns:a16="http://schemas.microsoft.com/office/drawing/2014/main" id="{0A1A8A0E-9DE5-3E55-3A4E-D11DB479439E}"/>
                  </a:ext>
                </a:extLst>
              </p:cNvPr>
              <p:cNvGrpSpPr/>
              <p:nvPr/>
            </p:nvGrpSpPr>
            <p:grpSpPr>
              <a:xfrm rot="21000000">
                <a:off x="4064415" y="4462722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53" name="フリーフォーム: 図形 52">
                  <a:extLst>
                    <a:ext uri="{FF2B5EF4-FFF2-40B4-BE49-F238E27FC236}">
                      <a16:creationId xmlns:a16="http://schemas.microsoft.com/office/drawing/2014/main" id="{D635FBED-E4A3-9175-9D31-13D10FE7A74C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54" name="フリーフォーム: 図形 53">
                  <a:extLst>
                    <a:ext uri="{FF2B5EF4-FFF2-40B4-BE49-F238E27FC236}">
                      <a16:creationId xmlns:a16="http://schemas.microsoft.com/office/drawing/2014/main" id="{5C01D954-0A16-DC4F-8462-CD64887C6A55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34" name="グループ化 33">
                <a:extLst>
                  <a:ext uri="{FF2B5EF4-FFF2-40B4-BE49-F238E27FC236}">
                    <a16:creationId xmlns:a16="http://schemas.microsoft.com/office/drawing/2014/main" id="{AC6C3083-FE73-590D-79E2-0A389E1E36DD}"/>
                  </a:ext>
                </a:extLst>
              </p:cNvPr>
              <p:cNvGrpSpPr/>
              <p:nvPr/>
            </p:nvGrpSpPr>
            <p:grpSpPr>
              <a:xfrm rot="21600000">
                <a:off x="3983946" y="394192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51" name="フリーフォーム: 図形 50">
                  <a:extLst>
                    <a:ext uri="{FF2B5EF4-FFF2-40B4-BE49-F238E27FC236}">
                      <a16:creationId xmlns:a16="http://schemas.microsoft.com/office/drawing/2014/main" id="{6089AC79-F0F1-AFBF-891F-8BC8E1EC1CE1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52" name="フリーフォーム: 図形 51">
                  <a:extLst>
                    <a:ext uri="{FF2B5EF4-FFF2-40B4-BE49-F238E27FC236}">
                      <a16:creationId xmlns:a16="http://schemas.microsoft.com/office/drawing/2014/main" id="{72615A28-A289-B716-389E-183F33B1F5EC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35" name="グループ化 34">
                <a:extLst>
                  <a:ext uri="{FF2B5EF4-FFF2-40B4-BE49-F238E27FC236}">
                    <a16:creationId xmlns:a16="http://schemas.microsoft.com/office/drawing/2014/main" id="{C0488FF1-A26E-EE28-A34F-F44B472DC1B7}"/>
                  </a:ext>
                </a:extLst>
              </p:cNvPr>
              <p:cNvGrpSpPr/>
              <p:nvPr/>
            </p:nvGrpSpPr>
            <p:grpSpPr>
              <a:xfrm rot="22200000">
                <a:off x="3992025" y="345923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49" name="フリーフォーム: 図形 48">
                  <a:extLst>
                    <a:ext uri="{FF2B5EF4-FFF2-40B4-BE49-F238E27FC236}">
                      <a16:creationId xmlns:a16="http://schemas.microsoft.com/office/drawing/2014/main" id="{FEF4B670-F0A2-EF86-6661-E16870F3E4C0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50" name="フリーフォーム: 図形 49">
                  <a:extLst>
                    <a:ext uri="{FF2B5EF4-FFF2-40B4-BE49-F238E27FC236}">
                      <a16:creationId xmlns:a16="http://schemas.microsoft.com/office/drawing/2014/main" id="{69CD22E0-206D-3A01-4082-FD12A5D5C0BA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36" name="グループ化 35">
                <a:extLst>
                  <a:ext uri="{FF2B5EF4-FFF2-40B4-BE49-F238E27FC236}">
                    <a16:creationId xmlns:a16="http://schemas.microsoft.com/office/drawing/2014/main" id="{897B5C3B-1C5E-D5E8-CFC6-7720CDBC07B8}"/>
                  </a:ext>
                </a:extLst>
              </p:cNvPr>
              <p:cNvGrpSpPr/>
              <p:nvPr/>
            </p:nvGrpSpPr>
            <p:grpSpPr>
              <a:xfrm rot="22800000">
                <a:off x="4094966" y="2976533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47" name="フリーフォーム: 図形 46">
                  <a:extLst>
                    <a:ext uri="{FF2B5EF4-FFF2-40B4-BE49-F238E27FC236}">
                      <a16:creationId xmlns:a16="http://schemas.microsoft.com/office/drawing/2014/main" id="{A8E42983-251D-ED94-915B-EBD1943669B7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48" name="フリーフォーム: 図形 47">
                  <a:extLst>
                    <a:ext uri="{FF2B5EF4-FFF2-40B4-BE49-F238E27FC236}">
                      <a16:creationId xmlns:a16="http://schemas.microsoft.com/office/drawing/2014/main" id="{D7FD58E7-D3D7-11C5-AF8F-CD7F7864F1CD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37" name="グループ化 36">
                <a:extLst>
                  <a:ext uri="{FF2B5EF4-FFF2-40B4-BE49-F238E27FC236}">
                    <a16:creationId xmlns:a16="http://schemas.microsoft.com/office/drawing/2014/main" id="{B43CA806-1972-578F-2969-675F2D98DBBE}"/>
                  </a:ext>
                </a:extLst>
              </p:cNvPr>
              <p:cNvGrpSpPr/>
              <p:nvPr/>
            </p:nvGrpSpPr>
            <p:grpSpPr>
              <a:xfrm rot="23400000">
                <a:off x="4295630" y="249383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45" name="フリーフォーム: 図形 44">
                  <a:extLst>
                    <a:ext uri="{FF2B5EF4-FFF2-40B4-BE49-F238E27FC236}">
                      <a16:creationId xmlns:a16="http://schemas.microsoft.com/office/drawing/2014/main" id="{328AAAAD-BCC3-1ACD-E848-C28568BA04EF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46" name="フリーフォーム: 図形 45">
                  <a:extLst>
                    <a:ext uri="{FF2B5EF4-FFF2-40B4-BE49-F238E27FC236}">
                      <a16:creationId xmlns:a16="http://schemas.microsoft.com/office/drawing/2014/main" id="{8ED33A88-EFCB-21AA-947D-97F84A49D344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grpSp>
            <p:nvGrpSpPr>
              <p:cNvPr id="38" name="グループ化 37">
                <a:extLst>
                  <a:ext uri="{FF2B5EF4-FFF2-40B4-BE49-F238E27FC236}">
                    <a16:creationId xmlns:a16="http://schemas.microsoft.com/office/drawing/2014/main" id="{3DF3236B-92E4-F905-78D9-8E07F090A892}"/>
                  </a:ext>
                </a:extLst>
              </p:cNvPr>
              <p:cNvGrpSpPr/>
              <p:nvPr/>
            </p:nvGrpSpPr>
            <p:grpSpPr>
              <a:xfrm rot="24000000">
                <a:off x="4586901" y="201114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43" name="フリーフォーム: 図形 42">
                  <a:extLst>
                    <a:ext uri="{FF2B5EF4-FFF2-40B4-BE49-F238E27FC236}">
                      <a16:creationId xmlns:a16="http://schemas.microsoft.com/office/drawing/2014/main" id="{6AEDCE99-CCD5-0E3D-C60D-AC2B29F381E1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dirty="0"/>
                </a:p>
              </p:txBody>
            </p:sp>
            <p:sp>
              <p:nvSpPr>
                <p:cNvPr id="44" name="フリーフォーム: 図形 43">
                  <a:extLst>
                    <a:ext uri="{FF2B5EF4-FFF2-40B4-BE49-F238E27FC236}">
                      <a16:creationId xmlns:a16="http://schemas.microsoft.com/office/drawing/2014/main" id="{234A53A5-3650-BFEA-C506-5A88B3A92E1E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  <p:sp>
            <p:nvSpPr>
              <p:cNvPr id="39" name="フリーフォーム: 図形 38">
                <a:extLst>
                  <a:ext uri="{FF2B5EF4-FFF2-40B4-BE49-F238E27FC236}">
                    <a16:creationId xmlns:a16="http://schemas.microsoft.com/office/drawing/2014/main" id="{B9D6872D-6C11-73B7-ED6F-8DD95328FB8C}"/>
                  </a:ext>
                </a:extLst>
              </p:cNvPr>
              <p:cNvSpPr/>
              <p:nvPr/>
            </p:nvSpPr>
            <p:spPr>
              <a:xfrm flipH="1">
                <a:off x="5175136" y="1664385"/>
                <a:ext cx="576305" cy="411565"/>
              </a:xfrm>
              <a:custGeom>
                <a:avLst/>
                <a:gdLst>
                  <a:gd name="connsiteX0" fmla="*/ 246867 w 748186"/>
                  <a:gd name="connsiteY0" fmla="*/ 334910 h 534313"/>
                  <a:gd name="connsiteX1" fmla="*/ 0 w 748186"/>
                  <a:gd name="connsiteY1" fmla="*/ 5333 h 534313"/>
                  <a:gd name="connsiteX2" fmla="*/ 393028 w 748186"/>
                  <a:gd name="connsiteY2" fmla="*/ 128177 h 534313"/>
                  <a:gd name="connsiteX3" fmla="*/ 748186 w 748186"/>
                  <a:gd name="connsiteY3" fmla="*/ 534314 h 534313"/>
                  <a:gd name="connsiteX4" fmla="*/ 246867 w 748186"/>
                  <a:gd name="connsiteY4" fmla="*/ 334910 h 53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186" h="534313">
                    <a:moveTo>
                      <a:pt x="246867" y="334910"/>
                    </a:moveTo>
                    <a:cubicBezTo>
                      <a:pt x="10359" y="167696"/>
                      <a:pt x="0" y="5333"/>
                      <a:pt x="0" y="5333"/>
                    </a:cubicBezTo>
                    <a:cubicBezTo>
                      <a:pt x="0" y="5333"/>
                      <a:pt x="156520" y="-39036"/>
                      <a:pt x="393028" y="128177"/>
                    </a:cubicBezTo>
                    <a:cubicBezTo>
                      <a:pt x="629536" y="295391"/>
                      <a:pt x="748186" y="534314"/>
                      <a:pt x="748186" y="534314"/>
                    </a:cubicBezTo>
                    <a:cubicBezTo>
                      <a:pt x="748186" y="534314"/>
                      <a:pt x="483375" y="502124"/>
                      <a:pt x="246867" y="334910"/>
                    </a:cubicBezTo>
                    <a:close/>
                  </a:path>
                </a:pathLst>
              </a:custGeom>
              <a:grpFill/>
              <a:ln w="1905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/>
              </a:p>
            </p:txBody>
          </p:sp>
          <p:grpSp>
            <p:nvGrpSpPr>
              <p:cNvPr id="40" name="グループ化 39">
                <a:extLst>
                  <a:ext uri="{FF2B5EF4-FFF2-40B4-BE49-F238E27FC236}">
                    <a16:creationId xmlns:a16="http://schemas.microsoft.com/office/drawing/2014/main" id="{292CC4C8-9757-2A0C-8B39-A9866542556A}"/>
                  </a:ext>
                </a:extLst>
              </p:cNvPr>
              <p:cNvGrpSpPr/>
              <p:nvPr/>
            </p:nvGrpSpPr>
            <p:grpSpPr>
              <a:xfrm rot="19200000">
                <a:off x="4839492" y="5872711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41" name="フリーフォーム: 図形 40">
                  <a:extLst>
                    <a:ext uri="{FF2B5EF4-FFF2-40B4-BE49-F238E27FC236}">
                      <a16:creationId xmlns:a16="http://schemas.microsoft.com/office/drawing/2014/main" id="{E2E1647B-49B8-E9B7-77CA-4A82F737E56A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  <p:sp>
              <p:nvSpPr>
                <p:cNvPr id="42" name="フリーフォーム: 図形 41">
                  <a:extLst>
                    <a:ext uri="{FF2B5EF4-FFF2-40B4-BE49-F238E27FC236}">
                      <a16:creationId xmlns:a16="http://schemas.microsoft.com/office/drawing/2014/main" id="{11E97EA9-D1A1-19F3-9848-6C8F68BE0373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/>
                </a:p>
              </p:txBody>
            </p:sp>
          </p:grpSp>
        </p:grpSp>
        <p:sp>
          <p:nvSpPr>
            <p:cNvPr id="30" name="テキスト ボックス 208">
              <a:extLst>
                <a:ext uri="{FF2B5EF4-FFF2-40B4-BE49-F238E27FC236}">
                  <a16:creationId xmlns:a16="http://schemas.microsoft.com/office/drawing/2014/main" id="{1FCE30B3-CE53-8794-46E1-82C61A853F15}"/>
                </a:ext>
              </a:extLst>
            </p:cNvPr>
            <p:cNvSpPr txBox="1"/>
            <p:nvPr/>
          </p:nvSpPr>
          <p:spPr>
            <a:xfrm>
              <a:off x="1399920" y="2894729"/>
              <a:ext cx="1833592" cy="172354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2000" dirty="0">
                  <a:solidFill>
                    <a:schemeClr val="accent4"/>
                  </a:solidFill>
                  <a:latin typeface="+mn-ea"/>
                </a:rPr>
                <a:t>2025</a:t>
              </a:r>
              <a:r>
                <a:rPr kumimoji="1" lang="ja-JP" altLang="en-US" sz="2000" dirty="0">
                  <a:solidFill>
                    <a:schemeClr val="accent4"/>
                  </a:solidFill>
                  <a:latin typeface="+mn-ea"/>
                </a:rPr>
                <a:t>年度</a:t>
              </a:r>
              <a:br>
                <a:rPr kumimoji="1" lang="en-US" altLang="ja-JP" sz="2000" dirty="0">
                  <a:solidFill>
                    <a:schemeClr val="accent4"/>
                  </a:solidFill>
                  <a:latin typeface="+mn-ea"/>
                </a:rPr>
              </a:br>
              <a:r>
                <a:rPr kumimoji="1" lang="en-US" altLang="ja-JP" sz="2000" dirty="0">
                  <a:solidFill>
                    <a:schemeClr val="accent4"/>
                  </a:solidFill>
                  <a:latin typeface="+mn-ea"/>
                </a:rPr>
                <a:t>EC</a:t>
              </a:r>
              <a:r>
                <a:rPr kumimoji="1" lang="ja-JP" altLang="en-US" sz="2000" dirty="0">
                  <a:solidFill>
                    <a:schemeClr val="accent4"/>
                  </a:solidFill>
                  <a:latin typeface="+mn-ea"/>
                </a:rPr>
                <a:t>市場シェア</a:t>
              </a:r>
              <a:endParaRPr kumimoji="1" lang="en-US" altLang="ja-JP" sz="2000" dirty="0">
                <a:solidFill>
                  <a:schemeClr val="accent4"/>
                </a:solidFill>
                <a:latin typeface="+mn-ea"/>
              </a:endParaRPr>
            </a:p>
            <a:p>
              <a:pPr algn="ctr"/>
              <a:r>
                <a:rPr kumimoji="1" lang="en-US" altLang="ja-JP" sz="4000" dirty="0">
                  <a:solidFill>
                    <a:schemeClr val="accent4"/>
                  </a:solidFill>
                  <a:latin typeface="+mn-ea"/>
                </a:rPr>
                <a:t>No.</a:t>
              </a:r>
              <a:r>
                <a:rPr kumimoji="1" lang="en-US" altLang="ja-JP" sz="6600" dirty="0">
                  <a:solidFill>
                    <a:schemeClr val="accent4"/>
                  </a:solidFill>
                  <a:latin typeface="+mn-ea"/>
                </a:rPr>
                <a:t>2</a:t>
              </a:r>
              <a:endParaRPr kumimoji="1" lang="ja-JP" altLang="en-US" sz="6600" dirty="0">
                <a:solidFill>
                  <a:schemeClr val="accent4"/>
                </a:solidFill>
                <a:latin typeface="+mn-ea"/>
              </a:endParaRPr>
            </a:p>
          </p:txBody>
        </p:sp>
      </p:grp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BA515DA4-51AC-0496-E117-6A69DD600629}"/>
              </a:ext>
            </a:extLst>
          </p:cNvPr>
          <p:cNvSpPr txBox="1"/>
          <p:nvPr/>
        </p:nvSpPr>
        <p:spPr>
          <a:xfrm>
            <a:off x="335901" y="1078498"/>
            <a:ext cx="5616083" cy="2943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3600" dirty="0">
                <a:latin typeface="+mn-ea"/>
              </a:rPr>
              <a:t>EC</a:t>
            </a:r>
            <a:r>
              <a:rPr kumimoji="1" lang="ja-JP" altLang="en-US" sz="3600" dirty="0">
                <a:latin typeface="+mn-ea"/>
              </a:rPr>
              <a:t>市場シェアの</a:t>
            </a:r>
            <a:r>
              <a:rPr kumimoji="1" lang="en-US" altLang="ja-JP" sz="3600" dirty="0">
                <a:latin typeface="+mn-ea"/>
              </a:rPr>
              <a:t>20</a:t>
            </a:r>
            <a:r>
              <a:rPr kumimoji="1" lang="ja-JP" altLang="en-US" sz="3600" dirty="0">
                <a:latin typeface="+mn-ea"/>
              </a:rPr>
              <a:t>％超</a:t>
            </a:r>
            <a:br>
              <a:rPr kumimoji="1" lang="en-US" altLang="ja-JP" sz="3600" dirty="0">
                <a:latin typeface="+mn-ea"/>
              </a:rPr>
            </a:br>
            <a:r>
              <a:rPr kumimoji="1" lang="ja-JP" altLang="en-US" sz="3600" dirty="0">
                <a:latin typeface="+mn-ea"/>
              </a:rPr>
              <a:t>業界をリードする位置へ</a:t>
            </a:r>
            <a:endParaRPr kumimoji="1" lang="en-US" altLang="ja-JP" sz="3600" dirty="0">
              <a:latin typeface="+mn-ea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en-US" altLang="ja-JP" sz="2000" dirty="0">
              <a:latin typeface="+mn-ea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2000" dirty="0">
                <a:latin typeface="+mn-ea"/>
              </a:rPr>
              <a:t>EC</a:t>
            </a:r>
            <a:r>
              <a:rPr kumimoji="1" lang="ja-JP" altLang="en-US" sz="2000" dirty="0">
                <a:latin typeface="+mn-ea"/>
              </a:rPr>
              <a:t>市場で後発にも関わらず、独自の機能と運営ノウハウ提供により操業</a:t>
            </a:r>
            <a:r>
              <a:rPr kumimoji="1" lang="en-US" altLang="ja-JP" sz="2000" dirty="0">
                <a:latin typeface="+mn-ea"/>
              </a:rPr>
              <a:t>5</a:t>
            </a:r>
            <a:r>
              <a:rPr kumimoji="1" lang="ja-JP" altLang="en-US" sz="2000" dirty="0">
                <a:latin typeface="+mn-ea"/>
              </a:rPr>
              <a:t>年で業界</a:t>
            </a:r>
            <a:r>
              <a:rPr kumimoji="1" lang="en-US" altLang="ja-JP" sz="2000" dirty="0">
                <a:latin typeface="+mn-ea"/>
              </a:rPr>
              <a:t>2</a:t>
            </a:r>
            <a:r>
              <a:rPr kumimoji="1" lang="ja-JP" altLang="en-US" sz="2000" dirty="0">
                <a:latin typeface="+mn-ea"/>
              </a:rPr>
              <a:t>位のポジションを確立。</a:t>
            </a:r>
          </a:p>
        </p:txBody>
      </p:sp>
    </p:spTree>
    <p:extLst>
      <p:ext uri="{BB962C8B-B14F-4D97-AF65-F5344CB8AC3E}">
        <p14:creationId xmlns:p14="http://schemas.microsoft.com/office/powerpoint/2010/main" val="239554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55024-E6E3-915E-9D8E-DF26D6CE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EE7E363-7769-0E4D-6665-D149640D303A}"/>
              </a:ext>
            </a:extLst>
          </p:cNvPr>
          <p:cNvSpPr/>
          <p:nvPr/>
        </p:nvSpPr>
        <p:spPr>
          <a:xfrm>
            <a:off x="479374" y="1052736"/>
            <a:ext cx="11233250" cy="4273349"/>
          </a:xfrm>
          <a:prstGeom prst="rect">
            <a:avLst/>
          </a:prstGeom>
          <a:noFill/>
          <a:ln w="19050" cap="flat">
            <a:solidFill>
              <a:schemeClr val="tx2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3EA986FC-6E1E-AF6C-D9C1-F6E5CF91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RakuRakuEC</a:t>
            </a:r>
            <a:r>
              <a:rPr lang="ja-JP" altLang="en-US" dirty="0"/>
              <a:t>？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75A5C78-6DDE-5090-8BDE-948C08DB8D4C}"/>
              </a:ext>
            </a:extLst>
          </p:cNvPr>
          <p:cNvGrpSpPr/>
          <p:nvPr/>
        </p:nvGrpSpPr>
        <p:grpSpPr>
          <a:xfrm>
            <a:off x="479374" y="5642932"/>
            <a:ext cx="11233250" cy="769835"/>
            <a:chOff x="610990" y="5500624"/>
            <a:chExt cx="10970020" cy="769835"/>
          </a:xfrm>
        </p:grpSpPr>
        <p:sp>
          <p:nvSpPr>
            <p:cNvPr id="12" name="左大かっこ 11">
              <a:extLst>
                <a:ext uri="{FF2B5EF4-FFF2-40B4-BE49-F238E27FC236}">
                  <a16:creationId xmlns:a16="http://schemas.microsoft.com/office/drawing/2014/main" id="{62BC6B46-4674-F9DE-734A-085FEDEEEBB9}"/>
                </a:ext>
              </a:extLst>
            </p:cNvPr>
            <p:cNvSpPr/>
            <p:nvPr/>
          </p:nvSpPr>
          <p:spPr>
            <a:xfrm>
              <a:off x="610990" y="5500624"/>
              <a:ext cx="45719" cy="769835"/>
            </a:xfrm>
            <a:prstGeom prst="leftBracket">
              <a:avLst>
                <a:gd name="adj" fmla="val 77777"/>
              </a:avLst>
            </a:prstGeom>
            <a:solidFill>
              <a:schemeClr val="tx2">
                <a:lumMod val="50000"/>
              </a:schemeClr>
            </a:solidFill>
            <a:ln w="19050" cap="flat">
              <a:solidFill>
                <a:schemeClr val="tx2">
                  <a:lumMod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F5211AB-CC60-C3B4-D575-78903B6B8BB7}"/>
                </a:ext>
              </a:extLst>
            </p:cNvPr>
            <p:cNvSpPr/>
            <p:nvPr/>
          </p:nvSpPr>
          <p:spPr>
            <a:xfrm>
              <a:off x="656709" y="5500624"/>
              <a:ext cx="10924301" cy="76983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tx2">
                  <a:lumMod val="20000"/>
                  <a:lumOff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2">
                      <a:lumMod val="50000"/>
                    </a:schemeClr>
                  </a:solidFill>
                </a:rPr>
                <a:t>誰でも簡単に始められ、売上アップまでを自動で支援するオールインワン</a:t>
              </a:r>
              <a:r>
                <a:rPr lang="en-US" altLang="ja-JP" sz="2000" dirty="0">
                  <a:solidFill>
                    <a:schemeClr val="tx2">
                      <a:lumMod val="50000"/>
                    </a:schemeClr>
                  </a:solidFill>
                </a:rPr>
                <a:t>EC</a:t>
              </a:r>
              <a:r>
                <a:rPr lang="ja-JP" altLang="en-US" sz="2000" dirty="0">
                  <a:solidFill>
                    <a:schemeClr val="tx2">
                      <a:lumMod val="50000"/>
                    </a:schemeClr>
                  </a:solidFill>
                </a:rPr>
                <a:t>クラウド</a:t>
              </a:r>
              <a:endParaRPr kumimoji="1" lang="ja-JP" altLang="en-US" sz="20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99225B5-2FE7-4B37-674C-39CD49E973DE}"/>
              </a:ext>
            </a:extLst>
          </p:cNvPr>
          <p:cNvSpPr txBox="1"/>
          <p:nvPr/>
        </p:nvSpPr>
        <p:spPr>
          <a:xfrm>
            <a:off x="559851" y="1196752"/>
            <a:ext cx="5311659" cy="305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altLang="ja-JP" sz="3200" b="1" dirty="0" err="1">
                <a:solidFill>
                  <a:schemeClr val="tx2">
                    <a:lumMod val="50000"/>
                  </a:schemeClr>
                </a:solidFill>
              </a:rPr>
              <a:t>RakuRakuEC</a:t>
            </a:r>
            <a:r>
              <a:rPr lang="ja-JP" altLang="en-US" sz="3200" b="1" dirty="0">
                <a:solidFill>
                  <a:schemeClr val="tx2">
                    <a:lumMod val="50000"/>
                  </a:schemeClr>
                </a:solidFill>
              </a:rPr>
              <a:t>とは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ja-JP" dirty="0" err="1">
                <a:solidFill>
                  <a:schemeClr val="tx2">
                    <a:lumMod val="50000"/>
                  </a:schemeClr>
                </a:solidFill>
              </a:rPr>
              <a:t>RakurakuEC</a:t>
            </a:r>
            <a:r>
              <a:rPr lang="ja-JP" altLang="en-US" dirty="0">
                <a:solidFill>
                  <a:schemeClr val="tx2">
                    <a:lumMod val="50000"/>
                  </a:schemeClr>
                </a:solidFill>
              </a:rPr>
              <a:t>は、初期導入から運用・拡張までをワンストップで支援する、クラウド型の</a:t>
            </a:r>
            <a:r>
              <a:rPr lang="en-US" altLang="ja-JP" dirty="0">
                <a:solidFill>
                  <a:schemeClr val="tx2">
                    <a:lumMod val="50000"/>
                  </a:schemeClr>
                </a:solidFill>
              </a:rPr>
              <a:t>EC</a:t>
            </a:r>
            <a:r>
              <a:rPr lang="ja-JP" altLang="en-US" dirty="0">
                <a:solidFill>
                  <a:schemeClr val="tx2">
                    <a:lumMod val="50000"/>
                  </a:schemeClr>
                </a:solidFill>
              </a:rPr>
              <a:t>構築</a:t>
            </a:r>
            <a:br>
              <a:rPr lang="en-US" altLang="ja-JP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ja-JP" altLang="en-US" dirty="0">
                <a:solidFill>
                  <a:schemeClr val="tx2">
                    <a:lumMod val="50000"/>
                  </a:schemeClr>
                </a:solidFill>
              </a:rPr>
              <a:t>プラットフォームです。</a:t>
            </a:r>
            <a:endParaRPr lang="en-US" altLang="ja-JP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ja-JP" altLang="en-US" sz="1400" dirty="0"/>
              <a:t>中小</a:t>
            </a:r>
            <a:r>
              <a:rPr lang="en-US" altLang="ja-JP" sz="1400" dirty="0"/>
              <a:t>〜</a:t>
            </a:r>
            <a:r>
              <a:rPr lang="ja-JP" altLang="en-US" sz="1400" dirty="0"/>
              <a:t>中堅企業の</a:t>
            </a:r>
            <a:r>
              <a:rPr lang="en-US" altLang="ja-JP" sz="1400" dirty="0"/>
              <a:t>EC</a:t>
            </a:r>
            <a:r>
              <a:rPr lang="ja-JP" altLang="en-US" sz="1400" dirty="0"/>
              <a:t>事業を支えるために設計されており、ノーコードでのサイト構築から、在庫・受注管理、マーケティング施策まで、専門知識がなくても簡単に扱えるのが特長です。</a:t>
            </a:r>
            <a:r>
              <a:rPr lang="en-US" altLang="ja-JP" sz="1400" dirty="0"/>
              <a:t>		</a:t>
            </a:r>
            <a:endParaRPr lang="ja-JP" altLang="en-US" sz="1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DD6F55-2DAF-2D4F-5512-3A7151E82680}"/>
              </a:ext>
            </a:extLst>
          </p:cNvPr>
          <p:cNvSpPr txBox="1"/>
          <p:nvPr/>
        </p:nvSpPr>
        <p:spPr>
          <a:xfrm>
            <a:off x="6320493" y="1196752"/>
            <a:ext cx="5311659" cy="392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lang="ja-JP" altLang="en-US" sz="3200" b="1" dirty="0">
                <a:solidFill>
                  <a:schemeClr val="tx2">
                    <a:lumMod val="50000"/>
                  </a:schemeClr>
                </a:solidFill>
              </a:rPr>
              <a:t>主な機能</a:t>
            </a: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FOT-筑紫A丸ゴシック Std B" panose="02020700000000000000" pitchFamily="18" charset="-128"/>
              <a:buChar char="❶"/>
            </a:pPr>
            <a:r>
              <a:rPr lang="ja-JP" altLang="en-US" dirty="0">
                <a:solidFill>
                  <a:schemeClr val="tx2">
                    <a:lumMod val="50000"/>
                  </a:schemeClr>
                </a:solidFill>
              </a:rPr>
              <a:t>ノーコード</a:t>
            </a:r>
            <a:r>
              <a:rPr lang="en-US" altLang="ja-JP" dirty="0">
                <a:solidFill>
                  <a:schemeClr val="tx2">
                    <a:lumMod val="50000"/>
                  </a:schemeClr>
                </a:solidFill>
              </a:rPr>
              <a:t>EC</a:t>
            </a:r>
            <a:r>
              <a:rPr lang="ja-JP" altLang="en-US" dirty="0">
                <a:solidFill>
                  <a:schemeClr val="tx2">
                    <a:lumMod val="50000"/>
                  </a:schemeClr>
                </a:solidFill>
              </a:rPr>
              <a:t>サイト構築</a:t>
            </a:r>
            <a:endParaRPr lang="en-US" altLang="ja-JP" dirty="0">
              <a:solidFill>
                <a:schemeClr val="tx2">
                  <a:lumMod val="50000"/>
                </a:schemeClr>
              </a:solidFill>
            </a:endParaRPr>
          </a:p>
          <a:p>
            <a:pPr marL="266700">
              <a:lnSpc>
                <a:spcPct val="130000"/>
              </a:lnSpc>
              <a:spcAft>
                <a:spcPts val="600"/>
              </a:spcAft>
            </a:pPr>
            <a:r>
              <a:rPr lang="ja-JP" altLang="en-US" sz="1400" dirty="0"/>
              <a:t>テンプレート選択とドラッグ＆ドロップで、誰でも短期間でストアを開設可能</a:t>
            </a:r>
            <a:endParaRPr lang="en-US" altLang="ja-JP" sz="1400" dirty="0"/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FOT-筑紫A丸ゴシック Std B" panose="02020700000000000000" pitchFamily="18" charset="-128"/>
              <a:buChar char="❷"/>
            </a:pPr>
            <a:r>
              <a:rPr lang="ja-JP" altLang="en-US" dirty="0">
                <a:solidFill>
                  <a:schemeClr val="tx2">
                    <a:lumMod val="50000"/>
                  </a:schemeClr>
                </a:solidFill>
              </a:rPr>
              <a:t>統合型在庫・受注管理</a:t>
            </a:r>
            <a:endParaRPr lang="en-US" altLang="ja-JP" dirty="0">
              <a:solidFill>
                <a:schemeClr val="tx2">
                  <a:lumMod val="50000"/>
                </a:schemeClr>
              </a:solidFill>
            </a:endParaRPr>
          </a:p>
          <a:p>
            <a:pPr marL="266700">
              <a:lnSpc>
                <a:spcPct val="130000"/>
              </a:lnSpc>
              <a:spcAft>
                <a:spcPts val="600"/>
              </a:spcAft>
            </a:pPr>
            <a:r>
              <a:rPr lang="ja-JP" altLang="en-US" sz="1400" dirty="0"/>
              <a:t>複数チャネルの在庫・受注を一元管理し、業務効率を大幅向上</a:t>
            </a:r>
            <a:endParaRPr lang="en-US" altLang="ja-JP" sz="1400" dirty="0"/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FOT-筑紫A丸ゴシック Std B" panose="02020700000000000000" pitchFamily="18" charset="-128"/>
              <a:buChar char="❸"/>
            </a:pPr>
            <a:r>
              <a:rPr lang="ja-JP" altLang="en-US" dirty="0">
                <a:solidFill>
                  <a:schemeClr val="tx2">
                    <a:lumMod val="50000"/>
                  </a:schemeClr>
                </a:solidFill>
              </a:rPr>
              <a:t>自動化された販促機能</a:t>
            </a:r>
            <a:endParaRPr lang="en-US" altLang="ja-JP" dirty="0">
              <a:solidFill>
                <a:schemeClr val="tx2">
                  <a:lumMod val="50000"/>
                </a:schemeClr>
              </a:solidFill>
            </a:endParaRPr>
          </a:p>
          <a:p>
            <a:pPr marL="266700">
              <a:lnSpc>
                <a:spcPct val="130000"/>
              </a:lnSpc>
              <a:spcAft>
                <a:spcPts val="600"/>
              </a:spcAft>
            </a:pPr>
            <a:r>
              <a:rPr lang="ja-JP" altLang="en-US" sz="1400" dirty="0"/>
              <a:t>クーポン発行・リピート促進・カゴ落ち対策など、売上向上施策を自動で実行</a:t>
            </a:r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93A67C88-C492-C7B5-8A44-910E1729490B}"/>
              </a:ext>
            </a:extLst>
          </p:cNvPr>
          <p:cNvSpPr/>
          <p:nvPr/>
        </p:nvSpPr>
        <p:spPr>
          <a:xfrm rot="13500000">
            <a:off x="147064" y="4746804"/>
            <a:ext cx="1512168" cy="297446"/>
          </a:xfrm>
          <a:prstGeom prst="trapezoid">
            <a:avLst>
              <a:gd name="adj" fmla="val 99828"/>
            </a:avLst>
          </a:prstGeom>
          <a:solidFill>
            <a:schemeClr val="tx2">
              <a:lumMod val="5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8" name="台形 37">
            <a:extLst>
              <a:ext uri="{FF2B5EF4-FFF2-40B4-BE49-F238E27FC236}">
                <a16:creationId xmlns:a16="http://schemas.microsoft.com/office/drawing/2014/main" id="{745B2F2E-7067-30BD-C3C7-1F2EC6A84A88}"/>
              </a:ext>
            </a:extLst>
          </p:cNvPr>
          <p:cNvSpPr/>
          <p:nvPr/>
        </p:nvSpPr>
        <p:spPr>
          <a:xfrm rot="2700000">
            <a:off x="10532766" y="1334570"/>
            <a:ext cx="1512168" cy="297446"/>
          </a:xfrm>
          <a:prstGeom prst="trapezoid">
            <a:avLst>
              <a:gd name="adj" fmla="val 99828"/>
            </a:avLst>
          </a:prstGeom>
          <a:solidFill>
            <a:schemeClr val="tx2">
              <a:lumMod val="5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B556B67C-D45C-24EA-D9FC-0E7D152DB4E8}"/>
              </a:ext>
            </a:extLst>
          </p:cNvPr>
          <p:cNvGrpSpPr/>
          <p:nvPr/>
        </p:nvGrpSpPr>
        <p:grpSpPr>
          <a:xfrm>
            <a:off x="1174975" y="4196962"/>
            <a:ext cx="1382046" cy="892552"/>
            <a:chOff x="767404" y="2760024"/>
            <a:chExt cx="3085925" cy="1992951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2A97A31F-589D-0C88-2B4B-C7C6D1E2CB0C}"/>
                </a:ext>
              </a:extLst>
            </p:cNvPr>
            <p:cNvGrpSpPr/>
            <p:nvPr/>
          </p:nvGrpSpPr>
          <p:grpSpPr>
            <a:xfrm>
              <a:off x="767404" y="2825715"/>
              <a:ext cx="648071" cy="1637037"/>
              <a:chOff x="3983946" y="1664385"/>
              <a:chExt cx="1828930" cy="4619891"/>
            </a:xfrm>
            <a:solidFill>
              <a:schemeClr val="accent4"/>
            </a:solidFill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8773E25C-07A4-2C4C-AE15-CC0819E509C2}"/>
                  </a:ext>
                </a:extLst>
              </p:cNvPr>
              <p:cNvGrpSpPr/>
              <p:nvPr/>
            </p:nvGrpSpPr>
            <p:grpSpPr>
              <a:xfrm rot="19800000">
                <a:off x="4506330" y="5440554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99" name="フリーフォーム: 図形 98">
                  <a:extLst>
                    <a:ext uri="{FF2B5EF4-FFF2-40B4-BE49-F238E27FC236}">
                      <a16:creationId xmlns:a16="http://schemas.microsoft.com/office/drawing/2014/main" id="{2756E2E2-1AE5-1275-D237-DFEB94B59F5A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00" name="フリーフォーム: 図形 99">
                  <a:extLst>
                    <a:ext uri="{FF2B5EF4-FFF2-40B4-BE49-F238E27FC236}">
                      <a16:creationId xmlns:a16="http://schemas.microsoft.com/office/drawing/2014/main" id="{9B2871AD-82E3-8822-5EA0-3E5ACDA5308A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74" name="グループ化 73">
                <a:extLst>
                  <a:ext uri="{FF2B5EF4-FFF2-40B4-BE49-F238E27FC236}">
                    <a16:creationId xmlns:a16="http://schemas.microsoft.com/office/drawing/2014/main" id="{42C81FD9-1473-7A44-0869-4CD55109A5BC}"/>
                  </a:ext>
                </a:extLst>
              </p:cNvPr>
              <p:cNvGrpSpPr/>
              <p:nvPr/>
            </p:nvGrpSpPr>
            <p:grpSpPr>
              <a:xfrm rot="20400000">
                <a:off x="4238491" y="4951768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97" name="フリーフォーム: 図形 96">
                  <a:extLst>
                    <a:ext uri="{FF2B5EF4-FFF2-40B4-BE49-F238E27FC236}">
                      <a16:creationId xmlns:a16="http://schemas.microsoft.com/office/drawing/2014/main" id="{CCF59821-24AC-D442-E340-2A50B864F9F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98" name="フリーフォーム: 図形 97">
                  <a:extLst>
                    <a:ext uri="{FF2B5EF4-FFF2-40B4-BE49-F238E27FC236}">
                      <a16:creationId xmlns:a16="http://schemas.microsoft.com/office/drawing/2014/main" id="{355B624A-1E7E-E190-F4BA-8AE6C59D9B70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75" name="グループ化 74">
                <a:extLst>
                  <a:ext uri="{FF2B5EF4-FFF2-40B4-BE49-F238E27FC236}">
                    <a16:creationId xmlns:a16="http://schemas.microsoft.com/office/drawing/2014/main" id="{8D0234E2-12F3-079D-ED53-B33D18E42A57}"/>
                  </a:ext>
                </a:extLst>
              </p:cNvPr>
              <p:cNvGrpSpPr/>
              <p:nvPr/>
            </p:nvGrpSpPr>
            <p:grpSpPr>
              <a:xfrm rot="21000000">
                <a:off x="4064415" y="4462722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95" name="フリーフォーム: 図形 94">
                  <a:extLst>
                    <a:ext uri="{FF2B5EF4-FFF2-40B4-BE49-F238E27FC236}">
                      <a16:creationId xmlns:a16="http://schemas.microsoft.com/office/drawing/2014/main" id="{95E031D9-313A-8493-AD4E-8D271B0B5ACC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96" name="フリーフォーム: 図形 95">
                  <a:extLst>
                    <a:ext uri="{FF2B5EF4-FFF2-40B4-BE49-F238E27FC236}">
                      <a16:creationId xmlns:a16="http://schemas.microsoft.com/office/drawing/2014/main" id="{BEF9E75E-D4A2-FF0E-A843-5694CB05FBEC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76" name="グループ化 75">
                <a:extLst>
                  <a:ext uri="{FF2B5EF4-FFF2-40B4-BE49-F238E27FC236}">
                    <a16:creationId xmlns:a16="http://schemas.microsoft.com/office/drawing/2014/main" id="{E399F429-63B9-5627-929A-61D2B6C4CCB3}"/>
                  </a:ext>
                </a:extLst>
              </p:cNvPr>
              <p:cNvGrpSpPr/>
              <p:nvPr/>
            </p:nvGrpSpPr>
            <p:grpSpPr>
              <a:xfrm rot="21600000">
                <a:off x="3983946" y="394192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93" name="フリーフォーム: 図形 92">
                  <a:extLst>
                    <a:ext uri="{FF2B5EF4-FFF2-40B4-BE49-F238E27FC236}">
                      <a16:creationId xmlns:a16="http://schemas.microsoft.com/office/drawing/2014/main" id="{CC0EE3C0-B41C-919A-B1D2-3BC98C9F5B1F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94" name="フリーフォーム: 図形 93">
                  <a:extLst>
                    <a:ext uri="{FF2B5EF4-FFF2-40B4-BE49-F238E27FC236}">
                      <a16:creationId xmlns:a16="http://schemas.microsoft.com/office/drawing/2014/main" id="{27D4F7B6-DE2C-ACCC-F4BE-FA20214C94FE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77" name="グループ化 76">
                <a:extLst>
                  <a:ext uri="{FF2B5EF4-FFF2-40B4-BE49-F238E27FC236}">
                    <a16:creationId xmlns:a16="http://schemas.microsoft.com/office/drawing/2014/main" id="{A226F14E-9BE2-E21E-C551-54AB495AE5D5}"/>
                  </a:ext>
                </a:extLst>
              </p:cNvPr>
              <p:cNvGrpSpPr/>
              <p:nvPr/>
            </p:nvGrpSpPr>
            <p:grpSpPr>
              <a:xfrm rot="22200000">
                <a:off x="3992025" y="345923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91" name="フリーフォーム: 図形 90">
                  <a:extLst>
                    <a:ext uri="{FF2B5EF4-FFF2-40B4-BE49-F238E27FC236}">
                      <a16:creationId xmlns:a16="http://schemas.microsoft.com/office/drawing/2014/main" id="{FA8873ED-0728-F2EC-6067-63596362462F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92" name="フリーフォーム: 図形 91">
                  <a:extLst>
                    <a:ext uri="{FF2B5EF4-FFF2-40B4-BE49-F238E27FC236}">
                      <a16:creationId xmlns:a16="http://schemas.microsoft.com/office/drawing/2014/main" id="{4EE854A8-C769-2CD3-6067-12A2CB04E6E6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78" name="グループ化 77">
                <a:extLst>
                  <a:ext uri="{FF2B5EF4-FFF2-40B4-BE49-F238E27FC236}">
                    <a16:creationId xmlns:a16="http://schemas.microsoft.com/office/drawing/2014/main" id="{B638D1E7-26F9-F719-DB1A-658AEE95EBCA}"/>
                  </a:ext>
                </a:extLst>
              </p:cNvPr>
              <p:cNvGrpSpPr/>
              <p:nvPr/>
            </p:nvGrpSpPr>
            <p:grpSpPr>
              <a:xfrm rot="22800000">
                <a:off x="4094966" y="2976533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89" name="フリーフォーム: 図形 88">
                  <a:extLst>
                    <a:ext uri="{FF2B5EF4-FFF2-40B4-BE49-F238E27FC236}">
                      <a16:creationId xmlns:a16="http://schemas.microsoft.com/office/drawing/2014/main" id="{86CE0198-9F07-7109-55E8-8E1594F2559F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90" name="フリーフォーム: 図形 89">
                  <a:extLst>
                    <a:ext uri="{FF2B5EF4-FFF2-40B4-BE49-F238E27FC236}">
                      <a16:creationId xmlns:a16="http://schemas.microsoft.com/office/drawing/2014/main" id="{32E9A038-2386-12E0-16B5-7A9BF028C9AF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79" name="グループ化 78">
                <a:extLst>
                  <a:ext uri="{FF2B5EF4-FFF2-40B4-BE49-F238E27FC236}">
                    <a16:creationId xmlns:a16="http://schemas.microsoft.com/office/drawing/2014/main" id="{793A2D83-BF0A-0FA5-07AC-089A4159A45B}"/>
                  </a:ext>
                </a:extLst>
              </p:cNvPr>
              <p:cNvGrpSpPr/>
              <p:nvPr/>
            </p:nvGrpSpPr>
            <p:grpSpPr>
              <a:xfrm rot="23400000">
                <a:off x="4295630" y="249383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87" name="フリーフォーム: 図形 86">
                  <a:extLst>
                    <a:ext uri="{FF2B5EF4-FFF2-40B4-BE49-F238E27FC236}">
                      <a16:creationId xmlns:a16="http://schemas.microsoft.com/office/drawing/2014/main" id="{00FE6B5D-523A-8074-D521-0D79E66CE67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88" name="フリーフォーム: 図形 87">
                  <a:extLst>
                    <a:ext uri="{FF2B5EF4-FFF2-40B4-BE49-F238E27FC236}">
                      <a16:creationId xmlns:a16="http://schemas.microsoft.com/office/drawing/2014/main" id="{35934F36-3E70-5CAE-14A7-6F4444B68D12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80" name="グループ化 79">
                <a:extLst>
                  <a:ext uri="{FF2B5EF4-FFF2-40B4-BE49-F238E27FC236}">
                    <a16:creationId xmlns:a16="http://schemas.microsoft.com/office/drawing/2014/main" id="{630C55E8-5EF2-5EC7-5E9E-C97E6F455D51}"/>
                  </a:ext>
                </a:extLst>
              </p:cNvPr>
              <p:cNvGrpSpPr/>
              <p:nvPr/>
            </p:nvGrpSpPr>
            <p:grpSpPr>
              <a:xfrm rot="24000000">
                <a:off x="4586901" y="201114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85" name="フリーフォーム: 図形 84">
                  <a:extLst>
                    <a:ext uri="{FF2B5EF4-FFF2-40B4-BE49-F238E27FC236}">
                      <a16:creationId xmlns:a16="http://schemas.microsoft.com/office/drawing/2014/main" id="{896A4C29-AC70-2F5F-ACCB-D59176F7CDA5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 dirty="0"/>
                </a:p>
              </p:txBody>
            </p:sp>
            <p:sp>
              <p:nvSpPr>
                <p:cNvPr id="86" name="フリーフォーム: 図形 85">
                  <a:extLst>
                    <a:ext uri="{FF2B5EF4-FFF2-40B4-BE49-F238E27FC236}">
                      <a16:creationId xmlns:a16="http://schemas.microsoft.com/office/drawing/2014/main" id="{44058807-5350-764E-492B-38ACEC3202F5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sp>
            <p:nvSpPr>
              <p:cNvPr id="81" name="フリーフォーム: 図形 80">
                <a:extLst>
                  <a:ext uri="{FF2B5EF4-FFF2-40B4-BE49-F238E27FC236}">
                    <a16:creationId xmlns:a16="http://schemas.microsoft.com/office/drawing/2014/main" id="{C4739CD5-A03C-1791-82A4-26680DB04A50}"/>
                  </a:ext>
                </a:extLst>
              </p:cNvPr>
              <p:cNvSpPr/>
              <p:nvPr/>
            </p:nvSpPr>
            <p:spPr>
              <a:xfrm flipH="1">
                <a:off x="5175136" y="1664385"/>
                <a:ext cx="576305" cy="411565"/>
              </a:xfrm>
              <a:custGeom>
                <a:avLst/>
                <a:gdLst>
                  <a:gd name="connsiteX0" fmla="*/ 246867 w 748186"/>
                  <a:gd name="connsiteY0" fmla="*/ 334910 h 534313"/>
                  <a:gd name="connsiteX1" fmla="*/ 0 w 748186"/>
                  <a:gd name="connsiteY1" fmla="*/ 5333 h 534313"/>
                  <a:gd name="connsiteX2" fmla="*/ 393028 w 748186"/>
                  <a:gd name="connsiteY2" fmla="*/ 128177 h 534313"/>
                  <a:gd name="connsiteX3" fmla="*/ 748186 w 748186"/>
                  <a:gd name="connsiteY3" fmla="*/ 534314 h 534313"/>
                  <a:gd name="connsiteX4" fmla="*/ 246867 w 748186"/>
                  <a:gd name="connsiteY4" fmla="*/ 334910 h 53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186" h="534313">
                    <a:moveTo>
                      <a:pt x="246867" y="334910"/>
                    </a:moveTo>
                    <a:cubicBezTo>
                      <a:pt x="10359" y="167696"/>
                      <a:pt x="0" y="5333"/>
                      <a:pt x="0" y="5333"/>
                    </a:cubicBezTo>
                    <a:cubicBezTo>
                      <a:pt x="0" y="5333"/>
                      <a:pt x="156520" y="-39036"/>
                      <a:pt x="393028" y="128177"/>
                    </a:cubicBezTo>
                    <a:cubicBezTo>
                      <a:pt x="629536" y="295391"/>
                      <a:pt x="748186" y="534314"/>
                      <a:pt x="748186" y="534314"/>
                    </a:cubicBezTo>
                    <a:cubicBezTo>
                      <a:pt x="748186" y="534314"/>
                      <a:pt x="483375" y="502124"/>
                      <a:pt x="246867" y="334910"/>
                    </a:cubicBezTo>
                    <a:close/>
                  </a:path>
                </a:pathLst>
              </a:custGeom>
              <a:grpFill/>
              <a:ln w="1905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wrap="non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 sz="900"/>
              </a:p>
            </p:txBody>
          </p:sp>
          <p:grpSp>
            <p:nvGrpSpPr>
              <p:cNvPr id="82" name="グループ化 81">
                <a:extLst>
                  <a:ext uri="{FF2B5EF4-FFF2-40B4-BE49-F238E27FC236}">
                    <a16:creationId xmlns:a16="http://schemas.microsoft.com/office/drawing/2014/main" id="{99EB9D27-9FC9-41FB-9521-69DD711590A9}"/>
                  </a:ext>
                </a:extLst>
              </p:cNvPr>
              <p:cNvGrpSpPr/>
              <p:nvPr/>
            </p:nvGrpSpPr>
            <p:grpSpPr>
              <a:xfrm rot="19200000">
                <a:off x="4839492" y="5872711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83" name="フリーフォーム: 図形 82">
                  <a:extLst>
                    <a:ext uri="{FF2B5EF4-FFF2-40B4-BE49-F238E27FC236}">
                      <a16:creationId xmlns:a16="http://schemas.microsoft.com/office/drawing/2014/main" id="{1C227C77-ECBE-D653-3680-D97E7B369414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84" name="フリーフォーム: 図形 83">
                  <a:extLst>
                    <a:ext uri="{FF2B5EF4-FFF2-40B4-BE49-F238E27FC236}">
                      <a16:creationId xmlns:a16="http://schemas.microsoft.com/office/drawing/2014/main" id="{05CC167E-0A1C-3AA8-BA3F-7C7A25489766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B3C4764F-E594-61F1-EA57-DD711123B539}"/>
                </a:ext>
              </a:extLst>
            </p:cNvPr>
            <p:cNvGrpSpPr/>
            <p:nvPr/>
          </p:nvGrpSpPr>
          <p:grpSpPr>
            <a:xfrm flipH="1">
              <a:off x="3205258" y="2825715"/>
              <a:ext cx="648071" cy="1637037"/>
              <a:chOff x="3983946" y="1664385"/>
              <a:chExt cx="1828930" cy="4619891"/>
            </a:xfrm>
            <a:solidFill>
              <a:schemeClr val="accent4"/>
            </a:solidFill>
          </p:grpSpPr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FC19A4D3-2FE0-6396-54A7-F2628093E3C6}"/>
                  </a:ext>
                </a:extLst>
              </p:cNvPr>
              <p:cNvGrpSpPr/>
              <p:nvPr/>
            </p:nvGrpSpPr>
            <p:grpSpPr>
              <a:xfrm rot="19800000">
                <a:off x="4506330" y="5440554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70" name="フリーフォーム: 図形 69">
                  <a:extLst>
                    <a:ext uri="{FF2B5EF4-FFF2-40B4-BE49-F238E27FC236}">
                      <a16:creationId xmlns:a16="http://schemas.microsoft.com/office/drawing/2014/main" id="{1EAB1492-1B14-A896-8B3D-7FD322800436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71" name="フリーフォーム: 図形 70">
                  <a:extLst>
                    <a:ext uri="{FF2B5EF4-FFF2-40B4-BE49-F238E27FC236}">
                      <a16:creationId xmlns:a16="http://schemas.microsoft.com/office/drawing/2014/main" id="{BE15F4F7-8B9F-A4F8-FEF6-D55F0FEA7538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45" name="グループ化 44">
                <a:extLst>
                  <a:ext uri="{FF2B5EF4-FFF2-40B4-BE49-F238E27FC236}">
                    <a16:creationId xmlns:a16="http://schemas.microsoft.com/office/drawing/2014/main" id="{39B10776-A3AD-739B-7B48-52CEA73F4FF5}"/>
                  </a:ext>
                </a:extLst>
              </p:cNvPr>
              <p:cNvGrpSpPr/>
              <p:nvPr/>
            </p:nvGrpSpPr>
            <p:grpSpPr>
              <a:xfrm rot="20400000">
                <a:off x="4238491" y="4951768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68" name="フリーフォーム: 図形 67">
                  <a:extLst>
                    <a:ext uri="{FF2B5EF4-FFF2-40B4-BE49-F238E27FC236}">
                      <a16:creationId xmlns:a16="http://schemas.microsoft.com/office/drawing/2014/main" id="{0733B0AB-1A08-B37F-5A9D-7C9FF0CA1F27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69" name="フリーフォーム: 図形 68">
                  <a:extLst>
                    <a:ext uri="{FF2B5EF4-FFF2-40B4-BE49-F238E27FC236}">
                      <a16:creationId xmlns:a16="http://schemas.microsoft.com/office/drawing/2014/main" id="{BAA3D4C1-9C82-493D-21A4-C079CCDB965A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46" name="グループ化 45">
                <a:extLst>
                  <a:ext uri="{FF2B5EF4-FFF2-40B4-BE49-F238E27FC236}">
                    <a16:creationId xmlns:a16="http://schemas.microsoft.com/office/drawing/2014/main" id="{0423545C-50B2-DC57-716E-A8E271241D3A}"/>
                  </a:ext>
                </a:extLst>
              </p:cNvPr>
              <p:cNvGrpSpPr/>
              <p:nvPr/>
            </p:nvGrpSpPr>
            <p:grpSpPr>
              <a:xfrm rot="21000000">
                <a:off x="4064415" y="4462722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66" name="フリーフォーム: 図形 65">
                  <a:extLst>
                    <a:ext uri="{FF2B5EF4-FFF2-40B4-BE49-F238E27FC236}">
                      <a16:creationId xmlns:a16="http://schemas.microsoft.com/office/drawing/2014/main" id="{614C6BFD-2EAB-92ED-078A-3335872FD46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67" name="フリーフォーム: 図形 66">
                  <a:extLst>
                    <a:ext uri="{FF2B5EF4-FFF2-40B4-BE49-F238E27FC236}">
                      <a16:creationId xmlns:a16="http://schemas.microsoft.com/office/drawing/2014/main" id="{FEA5B2EB-E1BD-4FB9-5945-0F91B503C662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47" name="グループ化 46">
                <a:extLst>
                  <a:ext uri="{FF2B5EF4-FFF2-40B4-BE49-F238E27FC236}">
                    <a16:creationId xmlns:a16="http://schemas.microsoft.com/office/drawing/2014/main" id="{E94792AF-895C-A918-462F-3FA4E29EC2FB}"/>
                  </a:ext>
                </a:extLst>
              </p:cNvPr>
              <p:cNvGrpSpPr/>
              <p:nvPr/>
            </p:nvGrpSpPr>
            <p:grpSpPr>
              <a:xfrm rot="21600000">
                <a:off x="3983946" y="394192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64" name="フリーフォーム: 図形 63">
                  <a:extLst>
                    <a:ext uri="{FF2B5EF4-FFF2-40B4-BE49-F238E27FC236}">
                      <a16:creationId xmlns:a16="http://schemas.microsoft.com/office/drawing/2014/main" id="{F1622673-5D79-39E2-F19C-CFF9ABEA3E5C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65" name="フリーフォーム: 図形 64">
                  <a:extLst>
                    <a:ext uri="{FF2B5EF4-FFF2-40B4-BE49-F238E27FC236}">
                      <a16:creationId xmlns:a16="http://schemas.microsoft.com/office/drawing/2014/main" id="{75CE845E-5E23-CC23-DCF4-F208B4EEBEE1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48" name="グループ化 47">
                <a:extLst>
                  <a:ext uri="{FF2B5EF4-FFF2-40B4-BE49-F238E27FC236}">
                    <a16:creationId xmlns:a16="http://schemas.microsoft.com/office/drawing/2014/main" id="{22ABA3AE-E815-8B0B-18ED-E2FAC1136227}"/>
                  </a:ext>
                </a:extLst>
              </p:cNvPr>
              <p:cNvGrpSpPr/>
              <p:nvPr/>
            </p:nvGrpSpPr>
            <p:grpSpPr>
              <a:xfrm rot="22200000">
                <a:off x="3992025" y="345923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62" name="フリーフォーム: 図形 61">
                  <a:extLst>
                    <a:ext uri="{FF2B5EF4-FFF2-40B4-BE49-F238E27FC236}">
                      <a16:creationId xmlns:a16="http://schemas.microsoft.com/office/drawing/2014/main" id="{3FC4EFDA-A7A5-D8B3-D648-4C49E41EFA16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63" name="フリーフォーム: 図形 62">
                  <a:extLst>
                    <a:ext uri="{FF2B5EF4-FFF2-40B4-BE49-F238E27FC236}">
                      <a16:creationId xmlns:a16="http://schemas.microsoft.com/office/drawing/2014/main" id="{773BB99A-C77F-7D3F-69A7-C182DCE6B243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CFD6EA1F-1CD2-F293-749E-DD1FF2AC1DEB}"/>
                  </a:ext>
                </a:extLst>
              </p:cNvPr>
              <p:cNvGrpSpPr/>
              <p:nvPr/>
            </p:nvGrpSpPr>
            <p:grpSpPr>
              <a:xfrm rot="22800000">
                <a:off x="4094966" y="2976533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60" name="フリーフォーム: 図形 59">
                  <a:extLst>
                    <a:ext uri="{FF2B5EF4-FFF2-40B4-BE49-F238E27FC236}">
                      <a16:creationId xmlns:a16="http://schemas.microsoft.com/office/drawing/2014/main" id="{85839BD7-0F91-EE3E-0A90-E290F00AB260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61" name="フリーフォーム: 図形 60">
                  <a:extLst>
                    <a:ext uri="{FF2B5EF4-FFF2-40B4-BE49-F238E27FC236}">
                      <a16:creationId xmlns:a16="http://schemas.microsoft.com/office/drawing/2014/main" id="{7446251B-D3AF-01E6-73F3-9743756FB1C0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50" name="グループ化 49">
                <a:extLst>
                  <a:ext uri="{FF2B5EF4-FFF2-40B4-BE49-F238E27FC236}">
                    <a16:creationId xmlns:a16="http://schemas.microsoft.com/office/drawing/2014/main" id="{504F1E9E-0C2F-CBC3-1C31-762627AE30CE}"/>
                  </a:ext>
                </a:extLst>
              </p:cNvPr>
              <p:cNvGrpSpPr/>
              <p:nvPr/>
            </p:nvGrpSpPr>
            <p:grpSpPr>
              <a:xfrm rot="23400000">
                <a:off x="4295630" y="249383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58" name="フリーフォーム: 図形 57">
                  <a:extLst>
                    <a:ext uri="{FF2B5EF4-FFF2-40B4-BE49-F238E27FC236}">
                      <a16:creationId xmlns:a16="http://schemas.microsoft.com/office/drawing/2014/main" id="{D95549B9-F710-4A2F-9180-FF01241E4A43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59" name="フリーフォーム: 図形 58">
                  <a:extLst>
                    <a:ext uri="{FF2B5EF4-FFF2-40B4-BE49-F238E27FC236}">
                      <a16:creationId xmlns:a16="http://schemas.microsoft.com/office/drawing/2014/main" id="{A5268B89-B54F-F012-D3B6-3B9158A0D507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51" name="グループ化 50">
                <a:extLst>
                  <a:ext uri="{FF2B5EF4-FFF2-40B4-BE49-F238E27FC236}">
                    <a16:creationId xmlns:a16="http://schemas.microsoft.com/office/drawing/2014/main" id="{D6F9EC7E-FBE2-F802-723C-5BF7A56BFFE9}"/>
                  </a:ext>
                </a:extLst>
              </p:cNvPr>
              <p:cNvGrpSpPr/>
              <p:nvPr/>
            </p:nvGrpSpPr>
            <p:grpSpPr>
              <a:xfrm rot="24000000">
                <a:off x="4586901" y="201114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56" name="フリーフォーム: 図形 55">
                  <a:extLst>
                    <a:ext uri="{FF2B5EF4-FFF2-40B4-BE49-F238E27FC236}">
                      <a16:creationId xmlns:a16="http://schemas.microsoft.com/office/drawing/2014/main" id="{3CD6B0FE-1C60-1193-FC69-A02820119A40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 dirty="0"/>
                </a:p>
              </p:txBody>
            </p:sp>
            <p:sp>
              <p:nvSpPr>
                <p:cNvPr id="57" name="フリーフォーム: 図形 56">
                  <a:extLst>
                    <a:ext uri="{FF2B5EF4-FFF2-40B4-BE49-F238E27FC236}">
                      <a16:creationId xmlns:a16="http://schemas.microsoft.com/office/drawing/2014/main" id="{759177CE-9302-0664-135D-6C8A833779A9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sp>
            <p:nvSpPr>
              <p:cNvPr id="52" name="フリーフォーム: 図形 51">
                <a:extLst>
                  <a:ext uri="{FF2B5EF4-FFF2-40B4-BE49-F238E27FC236}">
                    <a16:creationId xmlns:a16="http://schemas.microsoft.com/office/drawing/2014/main" id="{1A8057B9-C50A-6720-2F01-E9DE56A862A1}"/>
                  </a:ext>
                </a:extLst>
              </p:cNvPr>
              <p:cNvSpPr/>
              <p:nvPr/>
            </p:nvSpPr>
            <p:spPr>
              <a:xfrm flipH="1">
                <a:off x="5175136" y="1664385"/>
                <a:ext cx="576305" cy="411565"/>
              </a:xfrm>
              <a:custGeom>
                <a:avLst/>
                <a:gdLst>
                  <a:gd name="connsiteX0" fmla="*/ 246867 w 748186"/>
                  <a:gd name="connsiteY0" fmla="*/ 334910 h 534313"/>
                  <a:gd name="connsiteX1" fmla="*/ 0 w 748186"/>
                  <a:gd name="connsiteY1" fmla="*/ 5333 h 534313"/>
                  <a:gd name="connsiteX2" fmla="*/ 393028 w 748186"/>
                  <a:gd name="connsiteY2" fmla="*/ 128177 h 534313"/>
                  <a:gd name="connsiteX3" fmla="*/ 748186 w 748186"/>
                  <a:gd name="connsiteY3" fmla="*/ 534314 h 534313"/>
                  <a:gd name="connsiteX4" fmla="*/ 246867 w 748186"/>
                  <a:gd name="connsiteY4" fmla="*/ 334910 h 53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186" h="534313">
                    <a:moveTo>
                      <a:pt x="246867" y="334910"/>
                    </a:moveTo>
                    <a:cubicBezTo>
                      <a:pt x="10359" y="167696"/>
                      <a:pt x="0" y="5333"/>
                      <a:pt x="0" y="5333"/>
                    </a:cubicBezTo>
                    <a:cubicBezTo>
                      <a:pt x="0" y="5333"/>
                      <a:pt x="156520" y="-39036"/>
                      <a:pt x="393028" y="128177"/>
                    </a:cubicBezTo>
                    <a:cubicBezTo>
                      <a:pt x="629536" y="295391"/>
                      <a:pt x="748186" y="534314"/>
                      <a:pt x="748186" y="534314"/>
                    </a:cubicBezTo>
                    <a:cubicBezTo>
                      <a:pt x="748186" y="534314"/>
                      <a:pt x="483375" y="502124"/>
                      <a:pt x="246867" y="334910"/>
                    </a:cubicBezTo>
                    <a:close/>
                  </a:path>
                </a:pathLst>
              </a:custGeom>
              <a:grpFill/>
              <a:ln w="1905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wrap="non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 sz="900"/>
              </a:p>
            </p:txBody>
          </p:sp>
          <p:grpSp>
            <p:nvGrpSpPr>
              <p:cNvPr id="53" name="グループ化 52">
                <a:extLst>
                  <a:ext uri="{FF2B5EF4-FFF2-40B4-BE49-F238E27FC236}">
                    <a16:creationId xmlns:a16="http://schemas.microsoft.com/office/drawing/2014/main" id="{26193A7A-D6B7-CCB5-9D0F-203D4168CFAC}"/>
                  </a:ext>
                </a:extLst>
              </p:cNvPr>
              <p:cNvGrpSpPr/>
              <p:nvPr/>
            </p:nvGrpSpPr>
            <p:grpSpPr>
              <a:xfrm rot="19200000">
                <a:off x="4839492" y="5872711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54" name="フリーフォーム: 図形 53">
                  <a:extLst>
                    <a:ext uri="{FF2B5EF4-FFF2-40B4-BE49-F238E27FC236}">
                      <a16:creationId xmlns:a16="http://schemas.microsoft.com/office/drawing/2014/main" id="{734661AA-F64F-EFBB-13E6-FF7A0F83FFC0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55" name="フリーフォーム: 図形 54">
                  <a:extLst>
                    <a:ext uri="{FF2B5EF4-FFF2-40B4-BE49-F238E27FC236}">
                      <a16:creationId xmlns:a16="http://schemas.microsoft.com/office/drawing/2014/main" id="{1F1C9A8F-1BB2-DB0E-85C6-056AC90CE533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</p:grpSp>
        <p:sp>
          <p:nvSpPr>
            <p:cNvPr id="43" name="テキスト ボックス 208">
              <a:extLst>
                <a:ext uri="{FF2B5EF4-FFF2-40B4-BE49-F238E27FC236}">
                  <a16:creationId xmlns:a16="http://schemas.microsoft.com/office/drawing/2014/main" id="{BDAF34B3-17FF-8234-F717-02C6F11E1202}"/>
                </a:ext>
              </a:extLst>
            </p:cNvPr>
            <p:cNvSpPr txBox="1"/>
            <p:nvPr/>
          </p:nvSpPr>
          <p:spPr>
            <a:xfrm>
              <a:off x="1197832" y="2760024"/>
              <a:ext cx="2237773" cy="199295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1000" dirty="0">
                  <a:solidFill>
                    <a:schemeClr val="accent4"/>
                  </a:solidFill>
                  <a:latin typeface="+mn-ea"/>
                </a:rPr>
                <a:t>2025</a:t>
              </a:r>
              <a:r>
                <a:rPr kumimoji="1" lang="ja-JP" altLang="en-US" sz="1000" dirty="0">
                  <a:solidFill>
                    <a:schemeClr val="accent4"/>
                  </a:solidFill>
                  <a:latin typeface="+mn-ea"/>
                </a:rPr>
                <a:t>年度</a:t>
              </a:r>
              <a:br>
                <a:rPr kumimoji="1" lang="en-US" altLang="ja-JP" sz="1000" dirty="0">
                  <a:solidFill>
                    <a:schemeClr val="accent4"/>
                  </a:solidFill>
                  <a:latin typeface="+mn-ea"/>
                </a:rPr>
              </a:br>
              <a:r>
                <a:rPr kumimoji="1" lang="en-US" altLang="ja-JP" sz="1000" dirty="0">
                  <a:solidFill>
                    <a:schemeClr val="accent4"/>
                  </a:solidFill>
                  <a:latin typeface="+mn-ea"/>
                </a:rPr>
                <a:t>EC</a:t>
              </a:r>
              <a:r>
                <a:rPr kumimoji="1" lang="ja-JP" altLang="en-US" sz="1000" dirty="0">
                  <a:solidFill>
                    <a:schemeClr val="accent4"/>
                  </a:solidFill>
                  <a:latin typeface="+mn-ea"/>
                </a:rPr>
                <a:t>市場シェア</a:t>
              </a:r>
              <a:endParaRPr kumimoji="1" lang="en-US" altLang="ja-JP" sz="1000" dirty="0">
                <a:solidFill>
                  <a:schemeClr val="accent4"/>
                </a:solidFill>
                <a:latin typeface="+mn-ea"/>
              </a:endParaRPr>
            </a:p>
            <a:p>
              <a:pPr algn="ctr"/>
              <a:r>
                <a:rPr kumimoji="1" lang="en-US" altLang="ja-JP" sz="1600" dirty="0">
                  <a:solidFill>
                    <a:schemeClr val="accent4"/>
                  </a:solidFill>
                  <a:latin typeface="+mn-ea"/>
                </a:rPr>
                <a:t>No.</a:t>
              </a:r>
              <a:r>
                <a:rPr kumimoji="1" lang="en-US" altLang="ja-JP" sz="3200" dirty="0">
                  <a:solidFill>
                    <a:schemeClr val="accent4"/>
                  </a:solidFill>
                  <a:latin typeface="+mn-ea"/>
                </a:rPr>
                <a:t>2</a:t>
              </a:r>
              <a:endParaRPr kumimoji="1" lang="ja-JP" altLang="en-US" sz="3200" dirty="0">
                <a:solidFill>
                  <a:schemeClr val="accent4"/>
                </a:solidFill>
                <a:latin typeface="+mn-ea"/>
              </a:endParaRPr>
            </a:p>
          </p:txBody>
        </p:sp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D41CFDC9-F374-64FA-D7DF-104F227CB18F}"/>
              </a:ext>
            </a:extLst>
          </p:cNvPr>
          <p:cNvGrpSpPr/>
          <p:nvPr/>
        </p:nvGrpSpPr>
        <p:grpSpPr>
          <a:xfrm>
            <a:off x="2767697" y="4230034"/>
            <a:ext cx="1382046" cy="786189"/>
            <a:chOff x="767404" y="2825715"/>
            <a:chExt cx="3085925" cy="1755461"/>
          </a:xfrm>
        </p:grpSpPr>
        <p:grpSp>
          <p:nvGrpSpPr>
            <p:cNvPr id="102" name="グループ化 101">
              <a:extLst>
                <a:ext uri="{FF2B5EF4-FFF2-40B4-BE49-F238E27FC236}">
                  <a16:creationId xmlns:a16="http://schemas.microsoft.com/office/drawing/2014/main" id="{FE3D96F5-A7BC-B776-473E-6756736B2B50}"/>
                </a:ext>
              </a:extLst>
            </p:cNvPr>
            <p:cNvGrpSpPr/>
            <p:nvPr/>
          </p:nvGrpSpPr>
          <p:grpSpPr>
            <a:xfrm>
              <a:off x="767404" y="2825715"/>
              <a:ext cx="648071" cy="1637037"/>
              <a:chOff x="3983946" y="1664385"/>
              <a:chExt cx="1828930" cy="4619891"/>
            </a:xfrm>
            <a:solidFill>
              <a:schemeClr val="accent4"/>
            </a:solidFill>
          </p:grpSpPr>
          <p:grpSp>
            <p:nvGrpSpPr>
              <p:cNvPr id="133" name="グループ化 132">
                <a:extLst>
                  <a:ext uri="{FF2B5EF4-FFF2-40B4-BE49-F238E27FC236}">
                    <a16:creationId xmlns:a16="http://schemas.microsoft.com/office/drawing/2014/main" id="{65DE6449-C351-C75C-2516-5120621D470F}"/>
                  </a:ext>
                </a:extLst>
              </p:cNvPr>
              <p:cNvGrpSpPr/>
              <p:nvPr/>
            </p:nvGrpSpPr>
            <p:grpSpPr>
              <a:xfrm rot="19800000">
                <a:off x="4506330" y="5440554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59" name="フリーフォーム: 図形 158">
                  <a:extLst>
                    <a:ext uri="{FF2B5EF4-FFF2-40B4-BE49-F238E27FC236}">
                      <a16:creationId xmlns:a16="http://schemas.microsoft.com/office/drawing/2014/main" id="{B8826392-16BF-A787-F59A-7A8399D7DEB8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60" name="フリーフォーム: 図形 159">
                  <a:extLst>
                    <a:ext uri="{FF2B5EF4-FFF2-40B4-BE49-F238E27FC236}">
                      <a16:creationId xmlns:a16="http://schemas.microsoft.com/office/drawing/2014/main" id="{DCB43175-0EFA-A85C-F48B-B9F91BB288C1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34" name="グループ化 133">
                <a:extLst>
                  <a:ext uri="{FF2B5EF4-FFF2-40B4-BE49-F238E27FC236}">
                    <a16:creationId xmlns:a16="http://schemas.microsoft.com/office/drawing/2014/main" id="{30402539-55B1-C7B9-8A42-66418F2B469F}"/>
                  </a:ext>
                </a:extLst>
              </p:cNvPr>
              <p:cNvGrpSpPr/>
              <p:nvPr/>
            </p:nvGrpSpPr>
            <p:grpSpPr>
              <a:xfrm rot="20400000">
                <a:off x="4238491" y="4951768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57" name="フリーフォーム: 図形 156">
                  <a:extLst>
                    <a:ext uri="{FF2B5EF4-FFF2-40B4-BE49-F238E27FC236}">
                      <a16:creationId xmlns:a16="http://schemas.microsoft.com/office/drawing/2014/main" id="{FD04488A-DF11-459D-8AFF-211D21477108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58" name="フリーフォーム: 図形 157">
                  <a:extLst>
                    <a:ext uri="{FF2B5EF4-FFF2-40B4-BE49-F238E27FC236}">
                      <a16:creationId xmlns:a16="http://schemas.microsoft.com/office/drawing/2014/main" id="{76FD275B-1365-B31D-CAAB-592447122487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35" name="グループ化 134">
                <a:extLst>
                  <a:ext uri="{FF2B5EF4-FFF2-40B4-BE49-F238E27FC236}">
                    <a16:creationId xmlns:a16="http://schemas.microsoft.com/office/drawing/2014/main" id="{760A5A80-F844-0C86-4117-A70B98D24D8C}"/>
                  </a:ext>
                </a:extLst>
              </p:cNvPr>
              <p:cNvGrpSpPr/>
              <p:nvPr/>
            </p:nvGrpSpPr>
            <p:grpSpPr>
              <a:xfrm rot="21000000">
                <a:off x="4064415" y="4462722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55" name="フリーフォーム: 図形 154">
                  <a:extLst>
                    <a:ext uri="{FF2B5EF4-FFF2-40B4-BE49-F238E27FC236}">
                      <a16:creationId xmlns:a16="http://schemas.microsoft.com/office/drawing/2014/main" id="{FE413E7C-BC2B-4097-D62D-8F766759A9F5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56" name="フリーフォーム: 図形 155">
                  <a:extLst>
                    <a:ext uri="{FF2B5EF4-FFF2-40B4-BE49-F238E27FC236}">
                      <a16:creationId xmlns:a16="http://schemas.microsoft.com/office/drawing/2014/main" id="{A1B3DB35-CB70-B73A-3A2F-0346B9786340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36" name="グループ化 135">
                <a:extLst>
                  <a:ext uri="{FF2B5EF4-FFF2-40B4-BE49-F238E27FC236}">
                    <a16:creationId xmlns:a16="http://schemas.microsoft.com/office/drawing/2014/main" id="{2F2FF20D-EF76-0B8A-0535-859D1A4C25CA}"/>
                  </a:ext>
                </a:extLst>
              </p:cNvPr>
              <p:cNvGrpSpPr/>
              <p:nvPr/>
            </p:nvGrpSpPr>
            <p:grpSpPr>
              <a:xfrm rot="21600000">
                <a:off x="3983946" y="394192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53" name="フリーフォーム: 図形 152">
                  <a:extLst>
                    <a:ext uri="{FF2B5EF4-FFF2-40B4-BE49-F238E27FC236}">
                      <a16:creationId xmlns:a16="http://schemas.microsoft.com/office/drawing/2014/main" id="{44569941-D2D5-0663-455F-C4DA9A9BB1E5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54" name="フリーフォーム: 図形 153">
                  <a:extLst>
                    <a:ext uri="{FF2B5EF4-FFF2-40B4-BE49-F238E27FC236}">
                      <a16:creationId xmlns:a16="http://schemas.microsoft.com/office/drawing/2014/main" id="{02FA6EEB-AC3A-6821-0B00-4D32924671EA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37" name="グループ化 136">
                <a:extLst>
                  <a:ext uri="{FF2B5EF4-FFF2-40B4-BE49-F238E27FC236}">
                    <a16:creationId xmlns:a16="http://schemas.microsoft.com/office/drawing/2014/main" id="{6BD41704-F5CC-1862-B402-0ADA261DCB55}"/>
                  </a:ext>
                </a:extLst>
              </p:cNvPr>
              <p:cNvGrpSpPr/>
              <p:nvPr/>
            </p:nvGrpSpPr>
            <p:grpSpPr>
              <a:xfrm rot="22200000">
                <a:off x="3992025" y="345923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51" name="フリーフォーム: 図形 150">
                  <a:extLst>
                    <a:ext uri="{FF2B5EF4-FFF2-40B4-BE49-F238E27FC236}">
                      <a16:creationId xmlns:a16="http://schemas.microsoft.com/office/drawing/2014/main" id="{A39E6C42-C16E-E707-C200-FC8C2A1049B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52" name="フリーフォーム: 図形 151">
                  <a:extLst>
                    <a:ext uri="{FF2B5EF4-FFF2-40B4-BE49-F238E27FC236}">
                      <a16:creationId xmlns:a16="http://schemas.microsoft.com/office/drawing/2014/main" id="{203830AF-C0BE-5418-1BC8-7AADC9E0D6F6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38" name="グループ化 137">
                <a:extLst>
                  <a:ext uri="{FF2B5EF4-FFF2-40B4-BE49-F238E27FC236}">
                    <a16:creationId xmlns:a16="http://schemas.microsoft.com/office/drawing/2014/main" id="{396EAF61-DD78-BCCE-F8E8-825AEFA3A001}"/>
                  </a:ext>
                </a:extLst>
              </p:cNvPr>
              <p:cNvGrpSpPr/>
              <p:nvPr/>
            </p:nvGrpSpPr>
            <p:grpSpPr>
              <a:xfrm rot="22800000">
                <a:off x="4094966" y="2976533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49" name="フリーフォーム: 図形 148">
                  <a:extLst>
                    <a:ext uri="{FF2B5EF4-FFF2-40B4-BE49-F238E27FC236}">
                      <a16:creationId xmlns:a16="http://schemas.microsoft.com/office/drawing/2014/main" id="{0F5D5139-B367-56D9-9815-813470D1FC33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50" name="フリーフォーム: 図形 149">
                  <a:extLst>
                    <a:ext uri="{FF2B5EF4-FFF2-40B4-BE49-F238E27FC236}">
                      <a16:creationId xmlns:a16="http://schemas.microsoft.com/office/drawing/2014/main" id="{AB5DEB49-97C7-7FF6-6AAA-2DC35C496BFE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39" name="グループ化 138">
                <a:extLst>
                  <a:ext uri="{FF2B5EF4-FFF2-40B4-BE49-F238E27FC236}">
                    <a16:creationId xmlns:a16="http://schemas.microsoft.com/office/drawing/2014/main" id="{3CBC5A24-B694-6E85-288A-BDB2BF6AED3C}"/>
                  </a:ext>
                </a:extLst>
              </p:cNvPr>
              <p:cNvGrpSpPr/>
              <p:nvPr/>
            </p:nvGrpSpPr>
            <p:grpSpPr>
              <a:xfrm rot="23400000">
                <a:off x="4295630" y="249383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47" name="フリーフォーム: 図形 146">
                  <a:extLst>
                    <a:ext uri="{FF2B5EF4-FFF2-40B4-BE49-F238E27FC236}">
                      <a16:creationId xmlns:a16="http://schemas.microsoft.com/office/drawing/2014/main" id="{60454AE8-C46C-EF5E-03DF-362B2EBE282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48" name="フリーフォーム: 図形 147">
                  <a:extLst>
                    <a:ext uri="{FF2B5EF4-FFF2-40B4-BE49-F238E27FC236}">
                      <a16:creationId xmlns:a16="http://schemas.microsoft.com/office/drawing/2014/main" id="{86D9878C-D620-8C14-983C-B579E3DBC64F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40" name="グループ化 139">
                <a:extLst>
                  <a:ext uri="{FF2B5EF4-FFF2-40B4-BE49-F238E27FC236}">
                    <a16:creationId xmlns:a16="http://schemas.microsoft.com/office/drawing/2014/main" id="{0E1EA9EE-5C18-76F6-14F5-901BB5F7D9C3}"/>
                  </a:ext>
                </a:extLst>
              </p:cNvPr>
              <p:cNvGrpSpPr/>
              <p:nvPr/>
            </p:nvGrpSpPr>
            <p:grpSpPr>
              <a:xfrm rot="24000000">
                <a:off x="4586901" y="201114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45" name="フリーフォーム: 図形 144">
                  <a:extLst>
                    <a:ext uri="{FF2B5EF4-FFF2-40B4-BE49-F238E27FC236}">
                      <a16:creationId xmlns:a16="http://schemas.microsoft.com/office/drawing/2014/main" id="{8AC20E74-46A2-6842-C81D-E3BE7B961571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 dirty="0"/>
                </a:p>
              </p:txBody>
            </p:sp>
            <p:sp>
              <p:nvSpPr>
                <p:cNvPr id="146" name="フリーフォーム: 図形 145">
                  <a:extLst>
                    <a:ext uri="{FF2B5EF4-FFF2-40B4-BE49-F238E27FC236}">
                      <a16:creationId xmlns:a16="http://schemas.microsoft.com/office/drawing/2014/main" id="{68C3B5D2-A5B9-95C6-E8B7-F4C71C86A3A8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sp>
            <p:nvSpPr>
              <p:cNvPr id="141" name="フリーフォーム: 図形 140">
                <a:extLst>
                  <a:ext uri="{FF2B5EF4-FFF2-40B4-BE49-F238E27FC236}">
                    <a16:creationId xmlns:a16="http://schemas.microsoft.com/office/drawing/2014/main" id="{B5F10031-7FCE-5AE4-002B-D056A084037C}"/>
                  </a:ext>
                </a:extLst>
              </p:cNvPr>
              <p:cNvSpPr/>
              <p:nvPr/>
            </p:nvSpPr>
            <p:spPr>
              <a:xfrm flipH="1">
                <a:off x="5175136" y="1664385"/>
                <a:ext cx="576305" cy="411565"/>
              </a:xfrm>
              <a:custGeom>
                <a:avLst/>
                <a:gdLst>
                  <a:gd name="connsiteX0" fmla="*/ 246867 w 748186"/>
                  <a:gd name="connsiteY0" fmla="*/ 334910 h 534313"/>
                  <a:gd name="connsiteX1" fmla="*/ 0 w 748186"/>
                  <a:gd name="connsiteY1" fmla="*/ 5333 h 534313"/>
                  <a:gd name="connsiteX2" fmla="*/ 393028 w 748186"/>
                  <a:gd name="connsiteY2" fmla="*/ 128177 h 534313"/>
                  <a:gd name="connsiteX3" fmla="*/ 748186 w 748186"/>
                  <a:gd name="connsiteY3" fmla="*/ 534314 h 534313"/>
                  <a:gd name="connsiteX4" fmla="*/ 246867 w 748186"/>
                  <a:gd name="connsiteY4" fmla="*/ 334910 h 53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186" h="534313">
                    <a:moveTo>
                      <a:pt x="246867" y="334910"/>
                    </a:moveTo>
                    <a:cubicBezTo>
                      <a:pt x="10359" y="167696"/>
                      <a:pt x="0" y="5333"/>
                      <a:pt x="0" y="5333"/>
                    </a:cubicBezTo>
                    <a:cubicBezTo>
                      <a:pt x="0" y="5333"/>
                      <a:pt x="156520" y="-39036"/>
                      <a:pt x="393028" y="128177"/>
                    </a:cubicBezTo>
                    <a:cubicBezTo>
                      <a:pt x="629536" y="295391"/>
                      <a:pt x="748186" y="534314"/>
                      <a:pt x="748186" y="534314"/>
                    </a:cubicBezTo>
                    <a:cubicBezTo>
                      <a:pt x="748186" y="534314"/>
                      <a:pt x="483375" y="502124"/>
                      <a:pt x="246867" y="334910"/>
                    </a:cubicBezTo>
                    <a:close/>
                  </a:path>
                </a:pathLst>
              </a:custGeom>
              <a:grpFill/>
              <a:ln w="1905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wrap="non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 sz="900"/>
              </a:p>
            </p:txBody>
          </p:sp>
          <p:grpSp>
            <p:nvGrpSpPr>
              <p:cNvPr id="142" name="グループ化 141">
                <a:extLst>
                  <a:ext uri="{FF2B5EF4-FFF2-40B4-BE49-F238E27FC236}">
                    <a16:creationId xmlns:a16="http://schemas.microsoft.com/office/drawing/2014/main" id="{E42BC8CC-C28F-5ED2-D1B3-845E2A65D9DD}"/>
                  </a:ext>
                </a:extLst>
              </p:cNvPr>
              <p:cNvGrpSpPr/>
              <p:nvPr/>
            </p:nvGrpSpPr>
            <p:grpSpPr>
              <a:xfrm rot="19200000">
                <a:off x="4839492" y="5872711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43" name="フリーフォーム: 図形 142">
                  <a:extLst>
                    <a:ext uri="{FF2B5EF4-FFF2-40B4-BE49-F238E27FC236}">
                      <a16:creationId xmlns:a16="http://schemas.microsoft.com/office/drawing/2014/main" id="{01E4D5B6-9769-7F60-93C1-5460D24B9A0A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44" name="フリーフォーム: 図形 143">
                  <a:extLst>
                    <a:ext uri="{FF2B5EF4-FFF2-40B4-BE49-F238E27FC236}">
                      <a16:creationId xmlns:a16="http://schemas.microsoft.com/office/drawing/2014/main" id="{6288488A-2DDE-69B7-1215-D792C839901B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</p:grpSp>
        <p:grpSp>
          <p:nvGrpSpPr>
            <p:cNvPr id="103" name="グループ化 102">
              <a:extLst>
                <a:ext uri="{FF2B5EF4-FFF2-40B4-BE49-F238E27FC236}">
                  <a16:creationId xmlns:a16="http://schemas.microsoft.com/office/drawing/2014/main" id="{6BD0E714-CF05-4079-8072-FAD04DFCB702}"/>
                </a:ext>
              </a:extLst>
            </p:cNvPr>
            <p:cNvGrpSpPr/>
            <p:nvPr/>
          </p:nvGrpSpPr>
          <p:grpSpPr>
            <a:xfrm flipH="1">
              <a:off x="3205258" y="2825715"/>
              <a:ext cx="648071" cy="1637037"/>
              <a:chOff x="3983946" y="1664385"/>
              <a:chExt cx="1828930" cy="4619891"/>
            </a:xfrm>
            <a:solidFill>
              <a:schemeClr val="accent4"/>
            </a:solidFill>
          </p:grpSpPr>
          <p:grpSp>
            <p:nvGrpSpPr>
              <p:cNvPr id="105" name="グループ化 104">
                <a:extLst>
                  <a:ext uri="{FF2B5EF4-FFF2-40B4-BE49-F238E27FC236}">
                    <a16:creationId xmlns:a16="http://schemas.microsoft.com/office/drawing/2014/main" id="{5F05CF47-5C2F-AE6F-ED6E-125E4FABA854}"/>
                  </a:ext>
                </a:extLst>
              </p:cNvPr>
              <p:cNvGrpSpPr/>
              <p:nvPr/>
            </p:nvGrpSpPr>
            <p:grpSpPr>
              <a:xfrm rot="19800000">
                <a:off x="4506330" y="5440554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31" name="フリーフォーム: 図形 130">
                  <a:extLst>
                    <a:ext uri="{FF2B5EF4-FFF2-40B4-BE49-F238E27FC236}">
                      <a16:creationId xmlns:a16="http://schemas.microsoft.com/office/drawing/2014/main" id="{425EE8F1-EC7D-4A72-C51A-E9566D9CE82B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32" name="フリーフォーム: 図形 131">
                  <a:extLst>
                    <a:ext uri="{FF2B5EF4-FFF2-40B4-BE49-F238E27FC236}">
                      <a16:creationId xmlns:a16="http://schemas.microsoft.com/office/drawing/2014/main" id="{72FEEB2F-FE29-6E71-5455-3357A6243EE5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06" name="グループ化 105">
                <a:extLst>
                  <a:ext uri="{FF2B5EF4-FFF2-40B4-BE49-F238E27FC236}">
                    <a16:creationId xmlns:a16="http://schemas.microsoft.com/office/drawing/2014/main" id="{E611F7EE-5278-4401-50BF-66B42E97E57E}"/>
                  </a:ext>
                </a:extLst>
              </p:cNvPr>
              <p:cNvGrpSpPr/>
              <p:nvPr/>
            </p:nvGrpSpPr>
            <p:grpSpPr>
              <a:xfrm rot="20400000">
                <a:off x="4238491" y="4951768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29" name="フリーフォーム: 図形 128">
                  <a:extLst>
                    <a:ext uri="{FF2B5EF4-FFF2-40B4-BE49-F238E27FC236}">
                      <a16:creationId xmlns:a16="http://schemas.microsoft.com/office/drawing/2014/main" id="{45AD6778-5428-D25B-9B77-7AE1FCDE7F98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30" name="フリーフォーム: 図形 129">
                  <a:extLst>
                    <a:ext uri="{FF2B5EF4-FFF2-40B4-BE49-F238E27FC236}">
                      <a16:creationId xmlns:a16="http://schemas.microsoft.com/office/drawing/2014/main" id="{4BB52ED6-0B96-2EC7-886B-6D1863B60D26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07" name="グループ化 106">
                <a:extLst>
                  <a:ext uri="{FF2B5EF4-FFF2-40B4-BE49-F238E27FC236}">
                    <a16:creationId xmlns:a16="http://schemas.microsoft.com/office/drawing/2014/main" id="{580AB43A-CD70-1039-B55B-5072F646C159}"/>
                  </a:ext>
                </a:extLst>
              </p:cNvPr>
              <p:cNvGrpSpPr/>
              <p:nvPr/>
            </p:nvGrpSpPr>
            <p:grpSpPr>
              <a:xfrm rot="21000000">
                <a:off x="4064415" y="4462722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27" name="フリーフォーム: 図形 126">
                  <a:extLst>
                    <a:ext uri="{FF2B5EF4-FFF2-40B4-BE49-F238E27FC236}">
                      <a16:creationId xmlns:a16="http://schemas.microsoft.com/office/drawing/2014/main" id="{6A190BE1-67FB-94AF-EC17-AEB73EEF5E1F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28" name="フリーフォーム: 図形 127">
                  <a:extLst>
                    <a:ext uri="{FF2B5EF4-FFF2-40B4-BE49-F238E27FC236}">
                      <a16:creationId xmlns:a16="http://schemas.microsoft.com/office/drawing/2014/main" id="{9817BE54-DEDB-64BC-9620-B90C749D86D5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08" name="グループ化 107">
                <a:extLst>
                  <a:ext uri="{FF2B5EF4-FFF2-40B4-BE49-F238E27FC236}">
                    <a16:creationId xmlns:a16="http://schemas.microsoft.com/office/drawing/2014/main" id="{D39EB059-49B7-0B5E-EF8B-24901140D76E}"/>
                  </a:ext>
                </a:extLst>
              </p:cNvPr>
              <p:cNvGrpSpPr/>
              <p:nvPr/>
            </p:nvGrpSpPr>
            <p:grpSpPr>
              <a:xfrm rot="21600000">
                <a:off x="3983946" y="394192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25" name="フリーフォーム: 図形 124">
                  <a:extLst>
                    <a:ext uri="{FF2B5EF4-FFF2-40B4-BE49-F238E27FC236}">
                      <a16:creationId xmlns:a16="http://schemas.microsoft.com/office/drawing/2014/main" id="{9A6525F0-699F-149D-CD35-D9088D1E2FD3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26" name="フリーフォーム: 図形 125">
                  <a:extLst>
                    <a:ext uri="{FF2B5EF4-FFF2-40B4-BE49-F238E27FC236}">
                      <a16:creationId xmlns:a16="http://schemas.microsoft.com/office/drawing/2014/main" id="{C0BA470B-FA33-C1C4-3D50-574AAA498EF8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09" name="グループ化 108">
                <a:extLst>
                  <a:ext uri="{FF2B5EF4-FFF2-40B4-BE49-F238E27FC236}">
                    <a16:creationId xmlns:a16="http://schemas.microsoft.com/office/drawing/2014/main" id="{BD3227CF-689E-2DC5-B83D-D064972A4973}"/>
                  </a:ext>
                </a:extLst>
              </p:cNvPr>
              <p:cNvGrpSpPr/>
              <p:nvPr/>
            </p:nvGrpSpPr>
            <p:grpSpPr>
              <a:xfrm rot="22200000">
                <a:off x="3992025" y="345923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23" name="フリーフォーム: 図形 122">
                  <a:extLst>
                    <a:ext uri="{FF2B5EF4-FFF2-40B4-BE49-F238E27FC236}">
                      <a16:creationId xmlns:a16="http://schemas.microsoft.com/office/drawing/2014/main" id="{3DF781A9-DD75-12C0-A89D-A2867AB098FD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24" name="フリーフォーム: 図形 123">
                  <a:extLst>
                    <a:ext uri="{FF2B5EF4-FFF2-40B4-BE49-F238E27FC236}">
                      <a16:creationId xmlns:a16="http://schemas.microsoft.com/office/drawing/2014/main" id="{BAF2DDD7-A7F9-1145-5E7F-CD11DCB84CEC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10" name="グループ化 109">
                <a:extLst>
                  <a:ext uri="{FF2B5EF4-FFF2-40B4-BE49-F238E27FC236}">
                    <a16:creationId xmlns:a16="http://schemas.microsoft.com/office/drawing/2014/main" id="{FBE4A51D-6273-AA03-6C91-08516A58FC66}"/>
                  </a:ext>
                </a:extLst>
              </p:cNvPr>
              <p:cNvGrpSpPr/>
              <p:nvPr/>
            </p:nvGrpSpPr>
            <p:grpSpPr>
              <a:xfrm rot="22800000">
                <a:off x="4094966" y="2976533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21" name="フリーフォーム: 図形 120">
                  <a:extLst>
                    <a:ext uri="{FF2B5EF4-FFF2-40B4-BE49-F238E27FC236}">
                      <a16:creationId xmlns:a16="http://schemas.microsoft.com/office/drawing/2014/main" id="{ACA63501-6972-D710-F8D0-9519AD8C7C51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22" name="フリーフォーム: 図形 121">
                  <a:extLst>
                    <a:ext uri="{FF2B5EF4-FFF2-40B4-BE49-F238E27FC236}">
                      <a16:creationId xmlns:a16="http://schemas.microsoft.com/office/drawing/2014/main" id="{1F585B87-D4EA-D6B7-D02E-63D79278389E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11" name="グループ化 110">
                <a:extLst>
                  <a:ext uri="{FF2B5EF4-FFF2-40B4-BE49-F238E27FC236}">
                    <a16:creationId xmlns:a16="http://schemas.microsoft.com/office/drawing/2014/main" id="{80204326-420D-466E-A558-5DEC77E8562C}"/>
                  </a:ext>
                </a:extLst>
              </p:cNvPr>
              <p:cNvGrpSpPr/>
              <p:nvPr/>
            </p:nvGrpSpPr>
            <p:grpSpPr>
              <a:xfrm rot="23400000">
                <a:off x="4295630" y="249383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19" name="フリーフォーム: 図形 118">
                  <a:extLst>
                    <a:ext uri="{FF2B5EF4-FFF2-40B4-BE49-F238E27FC236}">
                      <a16:creationId xmlns:a16="http://schemas.microsoft.com/office/drawing/2014/main" id="{ED44F059-7A06-AEFE-A6DF-A1C99EA24184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20" name="フリーフォーム: 図形 119">
                  <a:extLst>
                    <a:ext uri="{FF2B5EF4-FFF2-40B4-BE49-F238E27FC236}">
                      <a16:creationId xmlns:a16="http://schemas.microsoft.com/office/drawing/2014/main" id="{F6DFF7FF-CB6D-E2AD-4A6E-BBA3D86123D3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12" name="グループ化 111">
                <a:extLst>
                  <a:ext uri="{FF2B5EF4-FFF2-40B4-BE49-F238E27FC236}">
                    <a16:creationId xmlns:a16="http://schemas.microsoft.com/office/drawing/2014/main" id="{0513D739-BBAF-7BE9-8709-3C4A81B69770}"/>
                  </a:ext>
                </a:extLst>
              </p:cNvPr>
              <p:cNvGrpSpPr/>
              <p:nvPr/>
            </p:nvGrpSpPr>
            <p:grpSpPr>
              <a:xfrm rot="24000000">
                <a:off x="4586901" y="201114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17" name="フリーフォーム: 図形 116">
                  <a:extLst>
                    <a:ext uri="{FF2B5EF4-FFF2-40B4-BE49-F238E27FC236}">
                      <a16:creationId xmlns:a16="http://schemas.microsoft.com/office/drawing/2014/main" id="{58A536BE-A585-0C90-09E3-AB6980A21B2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 dirty="0"/>
                </a:p>
              </p:txBody>
            </p:sp>
            <p:sp>
              <p:nvSpPr>
                <p:cNvPr id="118" name="フリーフォーム: 図形 117">
                  <a:extLst>
                    <a:ext uri="{FF2B5EF4-FFF2-40B4-BE49-F238E27FC236}">
                      <a16:creationId xmlns:a16="http://schemas.microsoft.com/office/drawing/2014/main" id="{FB6C33F7-A0E0-1048-F28A-D447A6FEDCF8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sp>
            <p:nvSpPr>
              <p:cNvPr id="113" name="フリーフォーム: 図形 112">
                <a:extLst>
                  <a:ext uri="{FF2B5EF4-FFF2-40B4-BE49-F238E27FC236}">
                    <a16:creationId xmlns:a16="http://schemas.microsoft.com/office/drawing/2014/main" id="{BD00ECBB-BFBD-DD2C-847B-B37D5FE3BCD1}"/>
                  </a:ext>
                </a:extLst>
              </p:cNvPr>
              <p:cNvSpPr/>
              <p:nvPr/>
            </p:nvSpPr>
            <p:spPr>
              <a:xfrm flipH="1">
                <a:off x="5175136" y="1664385"/>
                <a:ext cx="576305" cy="411565"/>
              </a:xfrm>
              <a:custGeom>
                <a:avLst/>
                <a:gdLst>
                  <a:gd name="connsiteX0" fmla="*/ 246867 w 748186"/>
                  <a:gd name="connsiteY0" fmla="*/ 334910 h 534313"/>
                  <a:gd name="connsiteX1" fmla="*/ 0 w 748186"/>
                  <a:gd name="connsiteY1" fmla="*/ 5333 h 534313"/>
                  <a:gd name="connsiteX2" fmla="*/ 393028 w 748186"/>
                  <a:gd name="connsiteY2" fmla="*/ 128177 h 534313"/>
                  <a:gd name="connsiteX3" fmla="*/ 748186 w 748186"/>
                  <a:gd name="connsiteY3" fmla="*/ 534314 h 534313"/>
                  <a:gd name="connsiteX4" fmla="*/ 246867 w 748186"/>
                  <a:gd name="connsiteY4" fmla="*/ 334910 h 53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186" h="534313">
                    <a:moveTo>
                      <a:pt x="246867" y="334910"/>
                    </a:moveTo>
                    <a:cubicBezTo>
                      <a:pt x="10359" y="167696"/>
                      <a:pt x="0" y="5333"/>
                      <a:pt x="0" y="5333"/>
                    </a:cubicBezTo>
                    <a:cubicBezTo>
                      <a:pt x="0" y="5333"/>
                      <a:pt x="156520" y="-39036"/>
                      <a:pt x="393028" y="128177"/>
                    </a:cubicBezTo>
                    <a:cubicBezTo>
                      <a:pt x="629536" y="295391"/>
                      <a:pt x="748186" y="534314"/>
                      <a:pt x="748186" y="534314"/>
                    </a:cubicBezTo>
                    <a:cubicBezTo>
                      <a:pt x="748186" y="534314"/>
                      <a:pt x="483375" y="502124"/>
                      <a:pt x="246867" y="334910"/>
                    </a:cubicBezTo>
                    <a:close/>
                  </a:path>
                </a:pathLst>
              </a:custGeom>
              <a:grpFill/>
              <a:ln w="1905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wrap="non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 sz="900"/>
              </a:p>
            </p:txBody>
          </p:sp>
          <p:grpSp>
            <p:nvGrpSpPr>
              <p:cNvPr id="114" name="グループ化 113">
                <a:extLst>
                  <a:ext uri="{FF2B5EF4-FFF2-40B4-BE49-F238E27FC236}">
                    <a16:creationId xmlns:a16="http://schemas.microsoft.com/office/drawing/2014/main" id="{100CB739-744F-26BE-BFA2-9B268B6197B5}"/>
                  </a:ext>
                </a:extLst>
              </p:cNvPr>
              <p:cNvGrpSpPr/>
              <p:nvPr/>
            </p:nvGrpSpPr>
            <p:grpSpPr>
              <a:xfrm rot="19200000">
                <a:off x="4839492" y="5872711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15" name="フリーフォーム: 図形 114">
                  <a:extLst>
                    <a:ext uri="{FF2B5EF4-FFF2-40B4-BE49-F238E27FC236}">
                      <a16:creationId xmlns:a16="http://schemas.microsoft.com/office/drawing/2014/main" id="{12EDF85B-CD05-511B-9565-7EE5FA8BDFF2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16" name="フリーフォーム: 図形 115">
                  <a:extLst>
                    <a:ext uri="{FF2B5EF4-FFF2-40B4-BE49-F238E27FC236}">
                      <a16:creationId xmlns:a16="http://schemas.microsoft.com/office/drawing/2014/main" id="{F0031426-EF91-FA7E-DA59-7C9C99717761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</p:grpSp>
        <p:sp>
          <p:nvSpPr>
            <p:cNvPr id="104" name="テキスト ボックス 208">
              <a:extLst>
                <a:ext uri="{FF2B5EF4-FFF2-40B4-BE49-F238E27FC236}">
                  <a16:creationId xmlns:a16="http://schemas.microsoft.com/office/drawing/2014/main" id="{2C632E92-D6CC-E39F-4DA0-DEB7715C6F7E}"/>
                </a:ext>
              </a:extLst>
            </p:cNvPr>
            <p:cNvSpPr txBox="1"/>
            <p:nvPr/>
          </p:nvSpPr>
          <p:spPr>
            <a:xfrm>
              <a:off x="1194250" y="2931832"/>
              <a:ext cx="2244931" cy="164934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000" dirty="0">
                  <a:solidFill>
                    <a:schemeClr val="accent4"/>
                  </a:solidFill>
                  <a:latin typeface="+mn-ea"/>
                </a:rPr>
                <a:t>今注目の</a:t>
              </a:r>
              <a:r>
                <a:rPr kumimoji="1" lang="en-US" altLang="ja-JP" sz="1000" dirty="0">
                  <a:solidFill>
                    <a:schemeClr val="accent4"/>
                  </a:solidFill>
                  <a:latin typeface="+mn-ea"/>
                </a:rPr>
                <a:t>SaaS</a:t>
              </a:r>
            </a:p>
            <a:p>
              <a:pPr algn="ctr"/>
              <a:r>
                <a:rPr kumimoji="1" lang="ja-JP" altLang="en-US" sz="3200" dirty="0">
                  <a:solidFill>
                    <a:schemeClr val="accent4"/>
                  </a:solidFill>
                  <a:latin typeface="+mn-ea"/>
                </a:rPr>
                <a:t>金賞</a:t>
              </a:r>
            </a:p>
          </p:txBody>
        </p:sp>
      </p:grpSp>
      <p:grpSp>
        <p:nvGrpSpPr>
          <p:cNvPr id="161" name="グループ化 160">
            <a:extLst>
              <a:ext uri="{FF2B5EF4-FFF2-40B4-BE49-F238E27FC236}">
                <a16:creationId xmlns:a16="http://schemas.microsoft.com/office/drawing/2014/main" id="{74FA9901-4185-5A3C-2E18-C9F696CB4AF5}"/>
              </a:ext>
            </a:extLst>
          </p:cNvPr>
          <p:cNvGrpSpPr/>
          <p:nvPr/>
        </p:nvGrpSpPr>
        <p:grpSpPr>
          <a:xfrm>
            <a:off x="4360420" y="4230032"/>
            <a:ext cx="1382046" cy="786190"/>
            <a:chOff x="767404" y="2825715"/>
            <a:chExt cx="3085925" cy="1755463"/>
          </a:xfrm>
        </p:grpSpPr>
        <p:grpSp>
          <p:nvGrpSpPr>
            <p:cNvPr id="162" name="グループ化 161">
              <a:extLst>
                <a:ext uri="{FF2B5EF4-FFF2-40B4-BE49-F238E27FC236}">
                  <a16:creationId xmlns:a16="http://schemas.microsoft.com/office/drawing/2014/main" id="{5C1CB3EF-1DEA-34B3-4094-3AD10CD8A830}"/>
                </a:ext>
              </a:extLst>
            </p:cNvPr>
            <p:cNvGrpSpPr/>
            <p:nvPr/>
          </p:nvGrpSpPr>
          <p:grpSpPr>
            <a:xfrm>
              <a:off x="767404" y="2825715"/>
              <a:ext cx="648071" cy="1637037"/>
              <a:chOff x="3983946" y="1664385"/>
              <a:chExt cx="1828930" cy="4619891"/>
            </a:xfrm>
            <a:solidFill>
              <a:schemeClr val="accent4"/>
            </a:solidFill>
          </p:grpSpPr>
          <p:grpSp>
            <p:nvGrpSpPr>
              <p:cNvPr id="193" name="グループ化 192">
                <a:extLst>
                  <a:ext uri="{FF2B5EF4-FFF2-40B4-BE49-F238E27FC236}">
                    <a16:creationId xmlns:a16="http://schemas.microsoft.com/office/drawing/2014/main" id="{09103842-F819-9E7A-B49D-72942F212483}"/>
                  </a:ext>
                </a:extLst>
              </p:cNvPr>
              <p:cNvGrpSpPr/>
              <p:nvPr/>
            </p:nvGrpSpPr>
            <p:grpSpPr>
              <a:xfrm rot="19800000">
                <a:off x="4506330" y="5440554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219" name="フリーフォーム: 図形 218">
                  <a:extLst>
                    <a:ext uri="{FF2B5EF4-FFF2-40B4-BE49-F238E27FC236}">
                      <a16:creationId xmlns:a16="http://schemas.microsoft.com/office/drawing/2014/main" id="{E5290CCF-FC95-03AA-E8CF-48071FF37018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220" name="フリーフォーム: 図形 219">
                  <a:extLst>
                    <a:ext uri="{FF2B5EF4-FFF2-40B4-BE49-F238E27FC236}">
                      <a16:creationId xmlns:a16="http://schemas.microsoft.com/office/drawing/2014/main" id="{6A94A05D-85F9-3DFB-2179-9A1CCF9BBD1D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94" name="グループ化 193">
                <a:extLst>
                  <a:ext uri="{FF2B5EF4-FFF2-40B4-BE49-F238E27FC236}">
                    <a16:creationId xmlns:a16="http://schemas.microsoft.com/office/drawing/2014/main" id="{2FD355F4-81B7-1998-0EF9-3FD398E9D01F}"/>
                  </a:ext>
                </a:extLst>
              </p:cNvPr>
              <p:cNvGrpSpPr/>
              <p:nvPr/>
            </p:nvGrpSpPr>
            <p:grpSpPr>
              <a:xfrm rot="20400000">
                <a:off x="4238491" y="4951768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217" name="フリーフォーム: 図形 216">
                  <a:extLst>
                    <a:ext uri="{FF2B5EF4-FFF2-40B4-BE49-F238E27FC236}">
                      <a16:creationId xmlns:a16="http://schemas.microsoft.com/office/drawing/2014/main" id="{7C35A332-4F97-5AC8-CFC9-7F8D64ECC00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218" name="フリーフォーム: 図形 217">
                  <a:extLst>
                    <a:ext uri="{FF2B5EF4-FFF2-40B4-BE49-F238E27FC236}">
                      <a16:creationId xmlns:a16="http://schemas.microsoft.com/office/drawing/2014/main" id="{425C4CFC-FB9E-E9EF-8490-F02907C86D81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95" name="グループ化 194">
                <a:extLst>
                  <a:ext uri="{FF2B5EF4-FFF2-40B4-BE49-F238E27FC236}">
                    <a16:creationId xmlns:a16="http://schemas.microsoft.com/office/drawing/2014/main" id="{E42EFD9A-45C6-8644-8DEB-7657691E085A}"/>
                  </a:ext>
                </a:extLst>
              </p:cNvPr>
              <p:cNvGrpSpPr/>
              <p:nvPr/>
            </p:nvGrpSpPr>
            <p:grpSpPr>
              <a:xfrm rot="21000000">
                <a:off x="4064415" y="4462722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215" name="フリーフォーム: 図形 214">
                  <a:extLst>
                    <a:ext uri="{FF2B5EF4-FFF2-40B4-BE49-F238E27FC236}">
                      <a16:creationId xmlns:a16="http://schemas.microsoft.com/office/drawing/2014/main" id="{D9D94050-E487-F806-A203-CFC6CD5955E5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216" name="フリーフォーム: 図形 215">
                  <a:extLst>
                    <a:ext uri="{FF2B5EF4-FFF2-40B4-BE49-F238E27FC236}">
                      <a16:creationId xmlns:a16="http://schemas.microsoft.com/office/drawing/2014/main" id="{5D74F195-5384-FAD3-FA6C-7AC5EA7D5A8E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96" name="グループ化 195">
                <a:extLst>
                  <a:ext uri="{FF2B5EF4-FFF2-40B4-BE49-F238E27FC236}">
                    <a16:creationId xmlns:a16="http://schemas.microsoft.com/office/drawing/2014/main" id="{03B46556-217C-6DB5-17C5-8A22C6CFAD39}"/>
                  </a:ext>
                </a:extLst>
              </p:cNvPr>
              <p:cNvGrpSpPr/>
              <p:nvPr/>
            </p:nvGrpSpPr>
            <p:grpSpPr>
              <a:xfrm rot="21600000">
                <a:off x="3983946" y="394192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213" name="フリーフォーム: 図形 212">
                  <a:extLst>
                    <a:ext uri="{FF2B5EF4-FFF2-40B4-BE49-F238E27FC236}">
                      <a16:creationId xmlns:a16="http://schemas.microsoft.com/office/drawing/2014/main" id="{8CE5CE75-6CC5-84EE-AB91-8F52E4F2FF08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214" name="フリーフォーム: 図形 213">
                  <a:extLst>
                    <a:ext uri="{FF2B5EF4-FFF2-40B4-BE49-F238E27FC236}">
                      <a16:creationId xmlns:a16="http://schemas.microsoft.com/office/drawing/2014/main" id="{614AA403-A0CD-8D17-FBB7-3151CE2F82E0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97" name="グループ化 196">
                <a:extLst>
                  <a:ext uri="{FF2B5EF4-FFF2-40B4-BE49-F238E27FC236}">
                    <a16:creationId xmlns:a16="http://schemas.microsoft.com/office/drawing/2014/main" id="{E4742C7A-529B-74E6-3D6F-BD8996117B4E}"/>
                  </a:ext>
                </a:extLst>
              </p:cNvPr>
              <p:cNvGrpSpPr/>
              <p:nvPr/>
            </p:nvGrpSpPr>
            <p:grpSpPr>
              <a:xfrm rot="22200000">
                <a:off x="3992025" y="345923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211" name="フリーフォーム: 図形 210">
                  <a:extLst>
                    <a:ext uri="{FF2B5EF4-FFF2-40B4-BE49-F238E27FC236}">
                      <a16:creationId xmlns:a16="http://schemas.microsoft.com/office/drawing/2014/main" id="{6D765A0C-ADE1-2C4E-55C9-A9FA55F5FDE3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212" name="フリーフォーム: 図形 211">
                  <a:extLst>
                    <a:ext uri="{FF2B5EF4-FFF2-40B4-BE49-F238E27FC236}">
                      <a16:creationId xmlns:a16="http://schemas.microsoft.com/office/drawing/2014/main" id="{B0B6ECAC-8465-AEB7-A7F8-C3812994F6B7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98" name="グループ化 197">
                <a:extLst>
                  <a:ext uri="{FF2B5EF4-FFF2-40B4-BE49-F238E27FC236}">
                    <a16:creationId xmlns:a16="http://schemas.microsoft.com/office/drawing/2014/main" id="{9E6A41B6-B967-2994-E163-1BC1CF84AE6F}"/>
                  </a:ext>
                </a:extLst>
              </p:cNvPr>
              <p:cNvGrpSpPr/>
              <p:nvPr/>
            </p:nvGrpSpPr>
            <p:grpSpPr>
              <a:xfrm rot="22800000">
                <a:off x="4094966" y="2976533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209" name="フリーフォーム: 図形 208">
                  <a:extLst>
                    <a:ext uri="{FF2B5EF4-FFF2-40B4-BE49-F238E27FC236}">
                      <a16:creationId xmlns:a16="http://schemas.microsoft.com/office/drawing/2014/main" id="{7B5645D7-3842-8405-8842-875A0306F64B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210" name="フリーフォーム: 図形 209">
                  <a:extLst>
                    <a:ext uri="{FF2B5EF4-FFF2-40B4-BE49-F238E27FC236}">
                      <a16:creationId xmlns:a16="http://schemas.microsoft.com/office/drawing/2014/main" id="{78F87176-F3C8-A3AE-F11A-4CD46E3FD162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99" name="グループ化 198">
                <a:extLst>
                  <a:ext uri="{FF2B5EF4-FFF2-40B4-BE49-F238E27FC236}">
                    <a16:creationId xmlns:a16="http://schemas.microsoft.com/office/drawing/2014/main" id="{3C5FA595-90F9-F3D7-1E47-7D8D53F2B859}"/>
                  </a:ext>
                </a:extLst>
              </p:cNvPr>
              <p:cNvGrpSpPr/>
              <p:nvPr/>
            </p:nvGrpSpPr>
            <p:grpSpPr>
              <a:xfrm rot="23400000">
                <a:off x="4295630" y="249383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207" name="フリーフォーム: 図形 206">
                  <a:extLst>
                    <a:ext uri="{FF2B5EF4-FFF2-40B4-BE49-F238E27FC236}">
                      <a16:creationId xmlns:a16="http://schemas.microsoft.com/office/drawing/2014/main" id="{489C164C-27BF-51E3-5E76-6A0A5C6BC5A4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208" name="フリーフォーム: 図形 207">
                  <a:extLst>
                    <a:ext uri="{FF2B5EF4-FFF2-40B4-BE49-F238E27FC236}">
                      <a16:creationId xmlns:a16="http://schemas.microsoft.com/office/drawing/2014/main" id="{2CB8DE52-77E0-8B06-1B1E-EEC9AFA6E475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200" name="グループ化 199">
                <a:extLst>
                  <a:ext uri="{FF2B5EF4-FFF2-40B4-BE49-F238E27FC236}">
                    <a16:creationId xmlns:a16="http://schemas.microsoft.com/office/drawing/2014/main" id="{C3B2B780-941A-4DCF-43B8-628A3CE38585}"/>
                  </a:ext>
                </a:extLst>
              </p:cNvPr>
              <p:cNvGrpSpPr/>
              <p:nvPr/>
            </p:nvGrpSpPr>
            <p:grpSpPr>
              <a:xfrm rot="24000000">
                <a:off x="4586901" y="201114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205" name="フリーフォーム: 図形 204">
                  <a:extLst>
                    <a:ext uri="{FF2B5EF4-FFF2-40B4-BE49-F238E27FC236}">
                      <a16:creationId xmlns:a16="http://schemas.microsoft.com/office/drawing/2014/main" id="{5965E245-0304-B1B2-1C49-3D27D578813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 dirty="0"/>
                </a:p>
              </p:txBody>
            </p:sp>
            <p:sp>
              <p:nvSpPr>
                <p:cNvPr id="206" name="フリーフォーム: 図形 205">
                  <a:extLst>
                    <a:ext uri="{FF2B5EF4-FFF2-40B4-BE49-F238E27FC236}">
                      <a16:creationId xmlns:a16="http://schemas.microsoft.com/office/drawing/2014/main" id="{EF957701-1FFE-6844-16FF-879F3967B7E0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sp>
            <p:nvSpPr>
              <p:cNvPr id="201" name="フリーフォーム: 図形 200">
                <a:extLst>
                  <a:ext uri="{FF2B5EF4-FFF2-40B4-BE49-F238E27FC236}">
                    <a16:creationId xmlns:a16="http://schemas.microsoft.com/office/drawing/2014/main" id="{C056BE8B-647C-C90F-0DC0-D6FBAD61478B}"/>
                  </a:ext>
                </a:extLst>
              </p:cNvPr>
              <p:cNvSpPr/>
              <p:nvPr/>
            </p:nvSpPr>
            <p:spPr>
              <a:xfrm flipH="1">
                <a:off x="5175136" y="1664385"/>
                <a:ext cx="576305" cy="411565"/>
              </a:xfrm>
              <a:custGeom>
                <a:avLst/>
                <a:gdLst>
                  <a:gd name="connsiteX0" fmla="*/ 246867 w 748186"/>
                  <a:gd name="connsiteY0" fmla="*/ 334910 h 534313"/>
                  <a:gd name="connsiteX1" fmla="*/ 0 w 748186"/>
                  <a:gd name="connsiteY1" fmla="*/ 5333 h 534313"/>
                  <a:gd name="connsiteX2" fmla="*/ 393028 w 748186"/>
                  <a:gd name="connsiteY2" fmla="*/ 128177 h 534313"/>
                  <a:gd name="connsiteX3" fmla="*/ 748186 w 748186"/>
                  <a:gd name="connsiteY3" fmla="*/ 534314 h 534313"/>
                  <a:gd name="connsiteX4" fmla="*/ 246867 w 748186"/>
                  <a:gd name="connsiteY4" fmla="*/ 334910 h 53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186" h="534313">
                    <a:moveTo>
                      <a:pt x="246867" y="334910"/>
                    </a:moveTo>
                    <a:cubicBezTo>
                      <a:pt x="10359" y="167696"/>
                      <a:pt x="0" y="5333"/>
                      <a:pt x="0" y="5333"/>
                    </a:cubicBezTo>
                    <a:cubicBezTo>
                      <a:pt x="0" y="5333"/>
                      <a:pt x="156520" y="-39036"/>
                      <a:pt x="393028" y="128177"/>
                    </a:cubicBezTo>
                    <a:cubicBezTo>
                      <a:pt x="629536" y="295391"/>
                      <a:pt x="748186" y="534314"/>
                      <a:pt x="748186" y="534314"/>
                    </a:cubicBezTo>
                    <a:cubicBezTo>
                      <a:pt x="748186" y="534314"/>
                      <a:pt x="483375" y="502124"/>
                      <a:pt x="246867" y="334910"/>
                    </a:cubicBezTo>
                    <a:close/>
                  </a:path>
                </a:pathLst>
              </a:custGeom>
              <a:grpFill/>
              <a:ln w="1905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wrap="non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 sz="900"/>
              </a:p>
            </p:txBody>
          </p:sp>
          <p:grpSp>
            <p:nvGrpSpPr>
              <p:cNvPr id="202" name="グループ化 201">
                <a:extLst>
                  <a:ext uri="{FF2B5EF4-FFF2-40B4-BE49-F238E27FC236}">
                    <a16:creationId xmlns:a16="http://schemas.microsoft.com/office/drawing/2014/main" id="{5BE6D177-532A-F97C-9497-5EBC465310E4}"/>
                  </a:ext>
                </a:extLst>
              </p:cNvPr>
              <p:cNvGrpSpPr/>
              <p:nvPr/>
            </p:nvGrpSpPr>
            <p:grpSpPr>
              <a:xfrm rot="19200000">
                <a:off x="4839492" y="5872711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203" name="フリーフォーム: 図形 202">
                  <a:extLst>
                    <a:ext uri="{FF2B5EF4-FFF2-40B4-BE49-F238E27FC236}">
                      <a16:creationId xmlns:a16="http://schemas.microsoft.com/office/drawing/2014/main" id="{C7FE7E16-142C-14C4-B20D-F82D824426CA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204" name="フリーフォーム: 図形 203">
                  <a:extLst>
                    <a:ext uri="{FF2B5EF4-FFF2-40B4-BE49-F238E27FC236}">
                      <a16:creationId xmlns:a16="http://schemas.microsoft.com/office/drawing/2014/main" id="{8E9615A4-88A7-7F07-8FC0-46D1618BFB03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</p:grpSp>
        <p:grpSp>
          <p:nvGrpSpPr>
            <p:cNvPr id="163" name="グループ化 162">
              <a:extLst>
                <a:ext uri="{FF2B5EF4-FFF2-40B4-BE49-F238E27FC236}">
                  <a16:creationId xmlns:a16="http://schemas.microsoft.com/office/drawing/2014/main" id="{B68567A8-230C-41F3-F3DE-978740DF13E2}"/>
                </a:ext>
              </a:extLst>
            </p:cNvPr>
            <p:cNvGrpSpPr/>
            <p:nvPr/>
          </p:nvGrpSpPr>
          <p:grpSpPr>
            <a:xfrm flipH="1">
              <a:off x="3205258" y="2825715"/>
              <a:ext cx="648071" cy="1637037"/>
              <a:chOff x="3983946" y="1664385"/>
              <a:chExt cx="1828930" cy="4619891"/>
            </a:xfrm>
            <a:solidFill>
              <a:schemeClr val="accent4"/>
            </a:solidFill>
          </p:grpSpPr>
          <p:grpSp>
            <p:nvGrpSpPr>
              <p:cNvPr id="165" name="グループ化 164">
                <a:extLst>
                  <a:ext uri="{FF2B5EF4-FFF2-40B4-BE49-F238E27FC236}">
                    <a16:creationId xmlns:a16="http://schemas.microsoft.com/office/drawing/2014/main" id="{E2C873F2-67B6-B43F-9581-0ADFE0DF8A71}"/>
                  </a:ext>
                </a:extLst>
              </p:cNvPr>
              <p:cNvGrpSpPr/>
              <p:nvPr/>
            </p:nvGrpSpPr>
            <p:grpSpPr>
              <a:xfrm rot="19800000">
                <a:off x="4506330" y="5440554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91" name="フリーフォーム: 図形 190">
                  <a:extLst>
                    <a:ext uri="{FF2B5EF4-FFF2-40B4-BE49-F238E27FC236}">
                      <a16:creationId xmlns:a16="http://schemas.microsoft.com/office/drawing/2014/main" id="{8D06E356-2947-C6FE-7964-92EE3A87C317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92" name="フリーフォーム: 図形 191">
                  <a:extLst>
                    <a:ext uri="{FF2B5EF4-FFF2-40B4-BE49-F238E27FC236}">
                      <a16:creationId xmlns:a16="http://schemas.microsoft.com/office/drawing/2014/main" id="{D9B56321-48D2-5E2B-14F1-2EBAE4FC97B1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66" name="グループ化 165">
                <a:extLst>
                  <a:ext uri="{FF2B5EF4-FFF2-40B4-BE49-F238E27FC236}">
                    <a16:creationId xmlns:a16="http://schemas.microsoft.com/office/drawing/2014/main" id="{60705BB1-1CAA-ED46-D498-85904519D7C2}"/>
                  </a:ext>
                </a:extLst>
              </p:cNvPr>
              <p:cNvGrpSpPr/>
              <p:nvPr/>
            </p:nvGrpSpPr>
            <p:grpSpPr>
              <a:xfrm rot="20400000">
                <a:off x="4238491" y="4951768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89" name="フリーフォーム: 図形 188">
                  <a:extLst>
                    <a:ext uri="{FF2B5EF4-FFF2-40B4-BE49-F238E27FC236}">
                      <a16:creationId xmlns:a16="http://schemas.microsoft.com/office/drawing/2014/main" id="{2944BB0E-F691-2A78-11F5-040881FEC5B3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90" name="フリーフォーム: 図形 189">
                  <a:extLst>
                    <a:ext uri="{FF2B5EF4-FFF2-40B4-BE49-F238E27FC236}">
                      <a16:creationId xmlns:a16="http://schemas.microsoft.com/office/drawing/2014/main" id="{F846DFE1-6FD1-AA00-E3E6-BC5BA8F1FDB8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67" name="グループ化 166">
                <a:extLst>
                  <a:ext uri="{FF2B5EF4-FFF2-40B4-BE49-F238E27FC236}">
                    <a16:creationId xmlns:a16="http://schemas.microsoft.com/office/drawing/2014/main" id="{B0B7B929-E5B4-C305-3A07-DAF08F3F9FEE}"/>
                  </a:ext>
                </a:extLst>
              </p:cNvPr>
              <p:cNvGrpSpPr/>
              <p:nvPr/>
            </p:nvGrpSpPr>
            <p:grpSpPr>
              <a:xfrm rot="21000000">
                <a:off x="4064415" y="4462722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87" name="フリーフォーム: 図形 186">
                  <a:extLst>
                    <a:ext uri="{FF2B5EF4-FFF2-40B4-BE49-F238E27FC236}">
                      <a16:creationId xmlns:a16="http://schemas.microsoft.com/office/drawing/2014/main" id="{28A4B092-16A7-4AE8-2EC5-78D195B97DE0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88" name="フリーフォーム: 図形 187">
                  <a:extLst>
                    <a:ext uri="{FF2B5EF4-FFF2-40B4-BE49-F238E27FC236}">
                      <a16:creationId xmlns:a16="http://schemas.microsoft.com/office/drawing/2014/main" id="{43BA980C-1B7F-9082-C3F9-2C6C1A9ECD79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68" name="グループ化 167">
                <a:extLst>
                  <a:ext uri="{FF2B5EF4-FFF2-40B4-BE49-F238E27FC236}">
                    <a16:creationId xmlns:a16="http://schemas.microsoft.com/office/drawing/2014/main" id="{A22736FF-1DD4-C8D7-F30C-E853735FADF3}"/>
                  </a:ext>
                </a:extLst>
              </p:cNvPr>
              <p:cNvGrpSpPr/>
              <p:nvPr/>
            </p:nvGrpSpPr>
            <p:grpSpPr>
              <a:xfrm rot="21600000">
                <a:off x="3983946" y="394192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85" name="フリーフォーム: 図形 184">
                  <a:extLst>
                    <a:ext uri="{FF2B5EF4-FFF2-40B4-BE49-F238E27FC236}">
                      <a16:creationId xmlns:a16="http://schemas.microsoft.com/office/drawing/2014/main" id="{B4865D28-3927-F7E0-11EC-3937CEA1811E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86" name="フリーフォーム: 図形 185">
                  <a:extLst>
                    <a:ext uri="{FF2B5EF4-FFF2-40B4-BE49-F238E27FC236}">
                      <a16:creationId xmlns:a16="http://schemas.microsoft.com/office/drawing/2014/main" id="{E9379301-CF67-C6D1-4F98-E65696E8E9EE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69" name="グループ化 168">
                <a:extLst>
                  <a:ext uri="{FF2B5EF4-FFF2-40B4-BE49-F238E27FC236}">
                    <a16:creationId xmlns:a16="http://schemas.microsoft.com/office/drawing/2014/main" id="{08CC3DFF-1641-C5A2-63BB-992AD315E152}"/>
                  </a:ext>
                </a:extLst>
              </p:cNvPr>
              <p:cNvGrpSpPr/>
              <p:nvPr/>
            </p:nvGrpSpPr>
            <p:grpSpPr>
              <a:xfrm rot="22200000">
                <a:off x="3992025" y="345923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83" name="フリーフォーム: 図形 182">
                  <a:extLst>
                    <a:ext uri="{FF2B5EF4-FFF2-40B4-BE49-F238E27FC236}">
                      <a16:creationId xmlns:a16="http://schemas.microsoft.com/office/drawing/2014/main" id="{83898229-C644-AA68-5920-675CE8304275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84" name="フリーフォーム: 図形 183">
                  <a:extLst>
                    <a:ext uri="{FF2B5EF4-FFF2-40B4-BE49-F238E27FC236}">
                      <a16:creationId xmlns:a16="http://schemas.microsoft.com/office/drawing/2014/main" id="{F76FB4A3-6E2E-0E8F-2155-EB4D60F848C1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70" name="グループ化 169">
                <a:extLst>
                  <a:ext uri="{FF2B5EF4-FFF2-40B4-BE49-F238E27FC236}">
                    <a16:creationId xmlns:a16="http://schemas.microsoft.com/office/drawing/2014/main" id="{2EE25569-B7D5-909D-86CD-D044229C99D2}"/>
                  </a:ext>
                </a:extLst>
              </p:cNvPr>
              <p:cNvGrpSpPr/>
              <p:nvPr/>
            </p:nvGrpSpPr>
            <p:grpSpPr>
              <a:xfrm rot="22800000">
                <a:off x="4094966" y="2976533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81" name="フリーフォーム: 図形 180">
                  <a:extLst>
                    <a:ext uri="{FF2B5EF4-FFF2-40B4-BE49-F238E27FC236}">
                      <a16:creationId xmlns:a16="http://schemas.microsoft.com/office/drawing/2014/main" id="{CC1C17E0-8F66-4530-8E28-41173768B2F8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82" name="フリーフォーム: 図形 181">
                  <a:extLst>
                    <a:ext uri="{FF2B5EF4-FFF2-40B4-BE49-F238E27FC236}">
                      <a16:creationId xmlns:a16="http://schemas.microsoft.com/office/drawing/2014/main" id="{9580B43A-0EDE-90ED-8B68-6A2C716316FD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71" name="グループ化 170">
                <a:extLst>
                  <a:ext uri="{FF2B5EF4-FFF2-40B4-BE49-F238E27FC236}">
                    <a16:creationId xmlns:a16="http://schemas.microsoft.com/office/drawing/2014/main" id="{F211A46B-2521-86C1-17ED-25DBD71157BE}"/>
                  </a:ext>
                </a:extLst>
              </p:cNvPr>
              <p:cNvGrpSpPr/>
              <p:nvPr/>
            </p:nvGrpSpPr>
            <p:grpSpPr>
              <a:xfrm rot="23400000">
                <a:off x="4295630" y="2493836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79" name="フリーフォーム: 図形 178">
                  <a:extLst>
                    <a:ext uri="{FF2B5EF4-FFF2-40B4-BE49-F238E27FC236}">
                      <a16:creationId xmlns:a16="http://schemas.microsoft.com/office/drawing/2014/main" id="{5FF2FDDE-3B4E-1164-D0B5-6F4820936885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80" name="フリーフォーム: 図形 179">
                  <a:extLst>
                    <a:ext uri="{FF2B5EF4-FFF2-40B4-BE49-F238E27FC236}">
                      <a16:creationId xmlns:a16="http://schemas.microsoft.com/office/drawing/2014/main" id="{6C571993-DD2E-C747-3476-15C9403227CC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grpSp>
            <p:nvGrpSpPr>
              <p:cNvPr id="172" name="グループ化 171">
                <a:extLst>
                  <a:ext uri="{FF2B5EF4-FFF2-40B4-BE49-F238E27FC236}">
                    <a16:creationId xmlns:a16="http://schemas.microsoft.com/office/drawing/2014/main" id="{BB828F2F-9645-3916-33BE-A931A9D9F610}"/>
                  </a:ext>
                </a:extLst>
              </p:cNvPr>
              <p:cNvGrpSpPr/>
              <p:nvPr/>
            </p:nvGrpSpPr>
            <p:grpSpPr>
              <a:xfrm rot="24000000">
                <a:off x="4586901" y="2011140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77" name="フリーフォーム: 図形 176">
                  <a:extLst>
                    <a:ext uri="{FF2B5EF4-FFF2-40B4-BE49-F238E27FC236}">
                      <a16:creationId xmlns:a16="http://schemas.microsoft.com/office/drawing/2014/main" id="{566718E1-055B-0E35-8FCF-458D4B9FBB02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 dirty="0"/>
                </a:p>
              </p:txBody>
            </p:sp>
            <p:sp>
              <p:nvSpPr>
                <p:cNvPr id="178" name="フリーフォーム: 図形 177">
                  <a:extLst>
                    <a:ext uri="{FF2B5EF4-FFF2-40B4-BE49-F238E27FC236}">
                      <a16:creationId xmlns:a16="http://schemas.microsoft.com/office/drawing/2014/main" id="{EBFE4E1A-C748-B2EB-A4E4-CB57FB4AF217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  <p:sp>
            <p:nvSpPr>
              <p:cNvPr id="173" name="フリーフォーム: 図形 172">
                <a:extLst>
                  <a:ext uri="{FF2B5EF4-FFF2-40B4-BE49-F238E27FC236}">
                    <a16:creationId xmlns:a16="http://schemas.microsoft.com/office/drawing/2014/main" id="{1D5CE735-6E54-F26A-7031-D9E79E452E07}"/>
                  </a:ext>
                </a:extLst>
              </p:cNvPr>
              <p:cNvSpPr/>
              <p:nvPr/>
            </p:nvSpPr>
            <p:spPr>
              <a:xfrm flipH="1">
                <a:off x="5175136" y="1664385"/>
                <a:ext cx="576305" cy="411565"/>
              </a:xfrm>
              <a:custGeom>
                <a:avLst/>
                <a:gdLst>
                  <a:gd name="connsiteX0" fmla="*/ 246867 w 748186"/>
                  <a:gd name="connsiteY0" fmla="*/ 334910 h 534313"/>
                  <a:gd name="connsiteX1" fmla="*/ 0 w 748186"/>
                  <a:gd name="connsiteY1" fmla="*/ 5333 h 534313"/>
                  <a:gd name="connsiteX2" fmla="*/ 393028 w 748186"/>
                  <a:gd name="connsiteY2" fmla="*/ 128177 h 534313"/>
                  <a:gd name="connsiteX3" fmla="*/ 748186 w 748186"/>
                  <a:gd name="connsiteY3" fmla="*/ 534314 h 534313"/>
                  <a:gd name="connsiteX4" fmla="*/ 246867 w 748186"/>
                  <a:gd name="connsiteY4" fmla="*/ 334910 h 53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186" h="534313">
                    <a:moveTo>
                      <a:pt x="246867" y="334910"/>
                    </a:moveTo>
                    <a:cubicBezTo>
                      <a:pt x="10359" y="167696"/>
                      <a:pt x="0" y="5333"/>
                      <a:pt x="0" y="5333"/>
                    </a:cubicBezTo>
                    <a:cubicBezTo>
                      <a:pt x="0" y="5333"/>
                      <a:pt x="156520" y="-39036"/>
                      <a:pt x="393028" y="128177"/>
                    </a:cubicBezTo>
                    <a:cubicBezTo>
                      <a:pt x="629536" y="295391"/>
                      <a:pt x="748186" y="534314"/>
                      <a:pt x="748186" y="534314"/>
                    </a:cubicBezTo>
                    <a:cubicBezTo>
                      <a:pt x="748186" y="534314"/>
                      <a:pt x="483375" y="502124"/>
                      <a:pt x="246867" y="334910"/>
                    </a:cubicBezTo>
                    <a:close/>
                  </a:path>
                </a:pathLst>
              </a:custGeom>
              <a:grpFill/>
              <a:ln w="1905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wrap="non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 sz="900"/>
              </a:p>
            </p:txBody>
          </p:sp>
          <p:grpSp>
            <p:nvGrpSpPr>
              <p:cNvPr id="174" name="グループ化 173">
                <a:extLst>
                  <a:ext uri="{FF2B5EF4-FFF2-40B4-BE49-F238E27FC236}">
                    <a16:creationId xmlns:a16="http://schemas.microsoft.com/office/drawing/2014/main" id="{E90FCEBC-A30C-7FFA-C222-2E663F3AD692}"/>
                  </a:ext>
                </a:extLst>
              </p:cNvPr>
              <p:cNvGrpSpPr/>
              <p:nvPr/>
            </p:nvGrpSpPr>
            <p:grpSpPr>
              <a:xfrm rot="19200000">
                <a:off x="4839492" y="5872711"/>
                <a:ext cx="973384" cy="411565"/>
                <a:chOff x="2639616" y="4996298"/>
                <a:chExt cx="1263693" cy="534313"/>
              </a:xfrm>
              <a:grpFill/>
            </p:grpSpPr>
            <p:sp>
              <p:nvSpPr>
                <p:cNvPr id="175" name="フリーフォーム: 図形 174">
                  <a:extLst>
                    <a:ext uri="{FF2B5EF4-FFF2-40B4-BE49-F238E27FC236}">
                      <a16:creationId xmlns:a16="http://schemas.microsoft.com/office/drawing/2014/main" id="{ABCF057C-711F-8C4F-B91D-E14E28E19673}"/>
                    </a:ext>
                  </a:extLst>
                </p:cNvPr>
                <p:cNvSpPr/>
                <p:nvPr/>
              </p:nvSpPr>
              <p:spPr>
                <a:xfrm rot="1800000">
                  <a:off x="2639616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  <p:sp>
              <p:nvSpPr>
                <p:cNvPr id="176" name="フリーフォーム: 図形 175">
                  <a:extLst>
                    <a:ext uri="{FF2B5EF4-FFF2-40B4-BE49-F238E27FC236}">
                      <a16:creationId xmlns:a16="http://schemas.microsoft.com/office/drawing/2014/main" id="{EE64DB07-FEFC-E5D6-CF9E-A74753D72D03}"/>
                    </a:ext>
                  </a:extLst>
                </p:cNvPr>
                <p:cNvSpPr/>
                <p:nvPr/>
              </p:nvSpPr>
              <p:spPr>
                <a:xfrm rot="19800000" flipH="1">
                  <a:off x="3155123" y="4996298"/>
                  <a:ext cx="748186" cy="534313"/>
                </a:xfrm>
                <a:custGeom>
                  <a:avLst/>
                  <a:gdLst>
                    <a:gd name="connsiteX0" fmla="*/ 246867 w 748186"/>
                    <a:gd name="connsiteY0" fmla="*/ 334910 h 534313"/>
                    <a:gd name="connsiteX1" fmla="*/ 0 w 748186"/>
                    <a:gd name="connsiteY1" fmla="*/ 5333 h 534313"/>
                    <a:gd name="connsiteX2" fmla="*/ 393028 w 748186"/>
                    <a:gd name="connsiteY2" fmla="*/ 128177 h 534313"/>
                    <a:gd name="connsiteX3" fmla="*/ 748186 w 748186"/>
                    <a:gd name="connsiteY3" fmla="*/ 534314 h 534313"/>
                    <a:gd name="connsiteX4" fmla="*/ 246867 w 748186"/>
                    <a:gd name="connsiteY4" fmla="*/ 334910 h 534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8186" h="534313">
                      <a:moveTo>
                        <a:pt x="246867" y="334910"/>
                      </a:moveTo>
                      <a:cubicBezTo>
                        <a:pt x="10359" y="167696"/>
                        <a:pt x="0" y="5333"/>
                        <a:pt x="0" y="5333"/>
                      </a:cubicBezTo>
                      <a:cubicBezTo>
                        <a:pt x="0" y="5333"/>
                        <a:pt x="156520" y="-39036"/>
                        <a:pt x="393028" y="128177"/>
                      </a:cubicBezTo>
                      <a:cubicBezTo>
                        <a:pt x="629536" y="295391"/>
                        <a:pt x="748186" y="534314"/>
                        <a:pt x="748186" y="534314"/>
                      </a:cubicBezTo>
                      <a:cubicBezTo>
                        <a:pt x="748186" y="534314"/>
                        <a:pt x="483375" y="502124"/>
                        <a:pt x="246867" y="334910"/>
                      </a:cubicBezTo>
                      <a:close/>
                    </a:path>
                  </a:pathLst>
                </a:custGeom>
                <a:grpFill/>
                <a:ln w="19050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none"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ja-JP" altLang="en-US" sz="900"/>
                </a:p>
              </p:txBody>
            </p:sp>
          </p:grpSp>
        </p:grpSp>
        <p:sp>
          <p:nvSpPr>
            <p:cNvPr id="164" name="テキスト ボックス 208">
              <a:extLst>
                <a:ext uri="{FF2B5EF4-FFF2-40B4-BE49-F238E27FC236}">
                  <a16:creationId xmlns:a16="http://schemas.microsoft.com/office/drawing/2014/main" id="{8FAC9FED-A990-069B-1FBB-57F6097FD030}"/>
                </a:ext>
              </a:extLst>
            </p:cNvPr>
            <p:cNvSpPr txBox="1"/>
            <p:nvPr/>
          </p:nvSpPr>
          <p:spPr>
            <a:xfrm>
              <a:off x="1394690" y="2931834"/>
              <a:ext cx="1844051" cy="164934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000" dirty="0">
                  <a:solidFill>
                    <a:schemeClr val="accent4"/>
                  </a:solidFill>
                  <a:latin typeface="+mn-ea"/>
                </a:rPr>
                <a:t>顧客満足度</a:t>
              </a:r>
              <a:endParaRPr kumimoji="1" lang="en-US" altLang="ja-JP" sz="1000" dirty="0">
                <a:solidFill>
                  <a:schemeClr val="accent4"/>
                </a:solidFill>
                <a:latin typeface="+mn-ea"/>
              </a:endParaRPr>
            </a:p>
            <a:p>
              <a:pPr algn="ctr"/>
              <a:r>
                <a:rPr kumimoji="1" lang="en-US" altLang="ja-JP" sz="1600" dirty="0">
                  <a:solidFill>
                    <a:schemeClr val="accent4"/>
                  </a:solidFill>
                  <a:latin typeface="+mn-ea"/>
                </a:rPr>
                <a:t>No.</a:t>
              </a:r>
              <a:r>
                <a:rPr kumimoji="1" lang="en-US" altLang="ja-JP" sz="3200" dirty="0">
                  <a:solidFill>
                    <a:schemeClr val="accent4"/>
                  </a:solidFill>
                  <a:latin typeface="+mn-ea"/>
                </a:rPr>
                <a:t>1</a:t>
              </a:r>
              <a:endParaRPr kumimoji="1" lang="ja-JP" altLang="en-US" sz="3200" dirty="0">
                <a:solidFill>
                  <a:schemeClr val="accent4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64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2">
      <a:dk1>
        <a:srgbClr val="383838"/>
      </a:dk1>
      <a:lt1>
        <a:srgbClr val="FFFFFF"/>
      </a:lt1>
      <a:dk2>
        <a:srgbClr val="196ECA"/>
      </a:dk2>
      <a:lt2>
        <a:srgbClr val="E7E6E6"/>
      </a:lt2>
      <a:accent1>
        <a:srgbClr val="E46970"/>
      </a:accent1>
      <a:accent2>
        <a:srgbClr val="8977D7"/>
      </a:accent2>
      <a:accent3>
        <a:srgbClr val="A5A5A5"/>
      </a:accent3>
      <a:accent4>
        <a:srgbClr val="EBC83C"/>
      </a:accent4>
      <a:accent5>
        <a:srgbClr val="00A08C"/>
      </a:accent5>
      <a:accent6>
        <a:srgbClr val="3B5998"/>
      </a:accent6>
      <a:hlink>
        <a:srgbClr val="0563C1"/>
      </a:hlink>
      <a:folHlink>
        <a:srgbClr val="954F72"/>
      </a:folHlink>
    </a:clrScheme>
    <a:fontScheme name="ユーザー定義 2">
      <a:majorFont>
        <a:latin typeface="FOT-筑紫A丸ゴシック Std B"/>
        <a:ea typeface="FOT-筑紫A丸ゴシック Std B"/>
        <a:cs typeface=""/>
      </a:majorFont>
      <a:minorFont>
        <a:latin typeface="FOT-筑紫A丸ゴシック Std B"/>
        <a:ea typeface="FOT-筑紫A丸ゴシック Std B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cap="rnd">
          <a:solidFill>
            <a:schemeClr val="tx2"/>
          </a:solidFill>
          <a:round/>
        </a:ln>
        <a:effectLst/>
      </a:spPr>
      <a:bodyPr rtlCol="0" anchor="ctr"/>
      <a:lstStyle>
        <a:defPPr algn="l">
          <a:lnSpc>
            <a:spcPct val="120000"/>
          </a:lnSpc>
          <a:spcAft>
            <a:spcPts val="300"/>
          </a:spcAft>
          <a:defRPr kumimoji="1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bg1">
              <a:lumMod val="75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spcAft>
            <a:spcPts val="300"/>
          </a:spcAft>
          <a:defRPr kumimoji="1" sz="16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1355</Words>
  <Application>Microsoft Office PowerPoint</Application>
  <PresentationFormat>ワイド画面</PresentationFormat>
  <Paragraphs>74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FOT-筑紫A丸ゴシック Std B</vt:lpstr>
      <vt:lpstr>游ゴシック</vt:lpstr>
      <vt:lpstr>Arial</vt:lpstr>
      <vt:lpstr>Office テーマ</vt:lpstr>
      <vt:lpstr>プレゼン資料の作成で使える 事業紹介のテンプレート</vt:lpstr>
      <vt:lpstr>PowerPoint プレゼンテーション</vt:lpstr>
      <vt:lpstr>RakuRakuECの概要</vt:lpstr>
      <vt:lpstr>RakuRakuECとは</vt:lpstr>
      <vt:lpstr>RakuRakuEC？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2021-01-28T13:14:54Z</dcterms:created>
  <dcterms:modified xsi:type="dcterms:W3CDTF">2025-08-31T06:49:03Z</dcterms:modified>
</cp:coreProperties>
</file>