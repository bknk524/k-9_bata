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86" r:id="rId1"/>
  </p:sldMasterIdLst>
  <p:notesMasterIdLst>
    <p:notesMasterId r:id="rId7"/>
  </p:notesMasterIdLst>
  <p:sldIdLst>
    <p:sldId id="289" r:id="rId2"/>
    <p:sldId id="378" r:id="rId3"/>
    <p:sldId id="281" r:id="rId4"/>
    <p:sldId id="396" r:id="rId5"/>
    <p:sldId id="404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A9D057B8-64A1-4855-900E-FD16F1CBBFA6}">
          <p14:sldIdLst>
            <p14:sldId id="289"/>
            <p14:sldId id="378"/>
            <p14:sldId id="281"/>
            <p14:sldId id="396"/>
            <p14:sldId id="40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96ECA"/>
    <a:srgbClr val="68A7EC"/>
    <a:srgbClr val="B9FFF6"/>
    <a:srgbClr val="8579EC"/>
    <a:srgbClr val="CDB7F7"/>
    <a:srgbClr val="383838"/>
    <a:srgbClr val="A6610E"/>
    <a:srgbClr val="E7E6E7"/>
    <a:srgbClr val="E8AF07"/>
    <a:srgbClr val="E7C41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2A21CA-29C4-4A10-B222-584C5E157DF2}" v="5" dt="2025-12-21T02:39:12.0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43" autoAdjust="0"/>
    <p:restoredTop sz="95397" autoAdjust="0"/>
  </p:normalViewPr>
  <p:slideViewPr>
    <p:cSldViewPr>
      <p:cViewPr varScale="1">
        <p:scale>
          <a:sx n="150" d="100"/>
          <a:sy n="150" d="100"/>
        </p:scale>
        <p:origin x="2874" y="10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ommentAuthors" Target="commentAuthor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9738D-D75D-40B1-BF46-FC9ACBB15E75}" type="datetimeFigureOut">
              <a:rPr kumimoji="1" lang="ja-JP" altLang="en-US" smtClean="0"/>
              <a:t>2025/12/21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5198F-549A-4508-B579-8CA394E9478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08267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表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BE827E-404A-42BE-A160-655696A58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8466" y="3429000"/>
            <a:ext cx="7155068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bIns="360000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chemeClr val="tx1"/>
                </a:solidFill>
              </a:defRPr>
            </a:lvl1pPr>
          </a:lstStyle>
          <a:p>
            <a:endParaRPr kumimoji="1" lang="ja-JP" altLang="en-US" dirty="0"/>
          </a:p>
        </p:txBody>
      </p:sp>
      <p:sp>
        <p:nvSpPr>
          <p:cNvPr id="6" name="テキスト プレースホルダー 5">
            <a:extLst>
              <a:ext uri="{FF2B5EF4-FFF2-40B4-BE49-F238E27FC236}">
                <a16:creationId xmlns:a16="http://schemas.microsoft.com/office/drawing/2014/main" id="{46F9050E-5634-4EA3-B360-83633D8E580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8575" y="3778250"/>
            <a:ext cx="4383088" cy="1190561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 dirty="0"/>
              <a:t>社名を入力</a:t>
            </a:r>
          </a:p>
        </p:txBody>
      </p:sp>
      <p:sp>
        <p:nvSpPr>
          <p:cNvPr id="7" name="テキスト プレースホルダー 5">
            <a:extLst>
              <a:ext uri="{FF2B5EF4-FFF2-40B4-BE49-F238E27FC236}">
                <a16:creationId xmlns:a16="http://schemas.microsoft.com/office/drawing/2014/main" id="{CB53B960-D380-426E-B01A-8F0A5A8ADE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838575" y="5318060"/>
            <a:ext cx="4383088" cy="691536"/>
          </a:xfrm>
          <a:prstGeom prst="rect">
            <a:avLst/>
          </a:prstGeom>
        </p:spPr>
        <p:txBody>
          <a:bodyPr anchor="t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en-US" altLang="ja-JP" dirty="0"/>
              <a:t>YYYY</a:t>
            </a:r>
            <a:r>
              <a:rPr kumimoji="1" lang="ja-JP" altLang="en-US" dirty="0"/>
              <a:t>年</a:t>
            </a:r>
            <a:r>
              <a:rPr kumimoji="1" lang="en-US" altLang="ja-JP" dirty="0"/>
              <a:t>MM</a:t>
            </a:r>
            <a:r>
              <a:rPr kumimoji="1" lang="ja-JP" altLang="en-US" dirty="0"/>
              <a:t>月</a:t>
            </a:r>
            <a:r>
              <a:rPr kumimoji="1" lang="en-US" altLang="ja-JP" dirty="0"/>
              <a:t>DD</a:t>
            </a:r>
            <a:r>
              <a:rPr kumimoji="1" lang="ja-JP" altLang="en-US" dirty="0"/>
              <a:t>日</a:t>
            </a:r>
          </a:p>
        </p:txBody>
      </p:sp>
      <p:sp>
        <p:nvSpPr>
          <p:cNvPr id="3" name="フリーフォーム: 図形 2">
            <a:extLst>
              <a:ext uri="{FF2B5EF4-FFF2-40B4-BE49-F238E27FC236}">
                <a16:creationId xmlns:a16="http://schemas.microsoft.com/office/drawing/2014/main" id="{88AEADF3-2BA5-5977-F621-B2B6F5B9A12A}"/>
              </a:ext>
            </a:extLst>
          </p:cNvPr>
          <p:cNvSpPr/>
          <p:nvPr userDrawn="1"/>
        </p:nvSpPr>
        <p:spPr>
          <a:xfrm>
            <a:off x="0" y="0"/>
            <a:ext cx="1690222" cy="6858000"/>
          </a:xfrm>
          <a:custGeom>
            <a:avLst/>
            <a:gdLst>
              <a:gd name="connsiteX0" fmla="*/ 0 w 1690222"/>
              <a:gd name="connsiteY0" fmla="*/ 0 h 6858000"/>
              <a:gd name="connsiteX1" fmla="*/ 1690222 w 1690222"/>
              <a:gd name="connsiteY1" fmla="*/ 0 h 6858000"/>
              <a:gd name="connsiteX2" fmla="*/ 1621167 w 1690222"/>
              <a:gd name="connsiteY2" fmla="*/ 87873 h 6858000"/>
              <a:gd name="connsiteX3" fmla="*/ 511780 w 1690222"/>
              <a:gd name="connsiteY3" fmla="*/ 3429001 h 6858000"/>
              <a:gd name="connsiteX4" fmla="*/ 1621167 w 1690222"/>
              <a:gd name="connsiteY4" fmla="*/ 6770129 h 6858000"/>
              <a:gd name="connsiteX5" fmla="*/ 1690220 w 1690222"/>
              <a:gd name="connsiteY5" fmla="*/ 6858000 h 6858000"/>
              <a:gd name="connsiteX6" fmla="*/ 0 w 1690222"/>
              <a:gd name="connsiteY6" fmla="*/ 6858000 h 6858000"/>
              <a:gd name="connsiteX7" fmla="*/ 0 w 1690222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0222" h="6858000">
                <a:moveTo>
                  <a:pt x="0" y="0"/>
                </a:moveTo>
                <a:lnTo>
                  <a:pt x="1690222" y="0"/>
                </a:lnTo>
                <a:lnTo>
                  <a:pt x="1621167" y="87873"/>
                </a:lnTo>
                <a:cubicBezTo>
                  <a:pt x="924401" y="1019559"/>
                  <a:pt x="511780" y="2176094"/>
                  <a:pt x="511780" y="3429001"/>
                </a:cubicBezTo>
                <a:cubicBezTo>
                  <a:pt x="511780" y="4681909"/>
                  <a:pt x="924401" y="5838444"/>
                  <a:pt x="1621167" y="6770129"/>
                </a:cubicBezTo>
                <a:lnTo>
                  <a:pt x="169022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フリーフォーム: 図形 3">
            <a:extLst>
              <a:ext uri="{FF2B5EF4-FFF2-40B4-BE49-F238E27FC236}">
                <a16:creationId xmlns:a16="http://schemas.microsoft.com/office/drawing/2014/main" id="{2CA04C08-36E1-7C02-A6C9-BCF92D0EA01D}"/>
              </a:ext>
            </a:extLst>
          </p:cNvPr>
          <p:cNvSpPr/>
          <p:nvPr userDrawn="1"/>
        </p:nvSpPr>
        <p:spPr>
          <a:xfrm>
            <a:off x="10501780" y="0"/>
            <a:ext cx="1690220" cy="6858000"/>
          </a:xfrm>
          <a:custGeom>
            <a:avLst/>
            <a:gdLst>
              <a:gd name="connsiteX0" fmla="*/ 0 w 1690220"/>
              <a:gd name="connsiteY0" fmla="*/ 0 h 6858000"/>
              <a:gd name="connsiteX1" fmla="*/ 1690220 w 1690220"/>
              <a:gd name="connsiteY1" fmla="*/ 0 h 6858000"/>
              <a:gd name="connsiteX2" fmla="*/ 1690220 w 1690220"/>
              <a:gd name="connsiteY2" fmla="*/ 6858000 h 6858000"/>
              <a:gd name="connsiteX3" fmla="*/ 2 w 1690220"/>
              <a:gd name="connsiteY3" fmla="*/ 6858000 h 6858000"/>
              <a:gd name="connsiteX4" fmla="*/ 69055 w 1690220"/>
              <a:gd name="connsiteY4" fmla="*/ 6770129 h 6858000"/>
              <a:gd name="connsiteX5" fmla="*/ 1178442 w 1690220"/>
              <a:gd name="connsiteY5" fmla="*/ 3429001 h 6858000"/>
              <a:gd name="connsiteX6" fmla="*/ 69055 w 1690220"/>
              <a:gd name="connsiteY6" fmla="*/ 87873 h 6858000"/>
              <a:gd name="connsiteX7" fmla="*/ 0 w 1690220"/>
              <a:gd name="connsiteY7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690220" h="6858000">
                <a:moveTo>
                  <a:pt x="0" y="0"/>
                </a:moveTo>
                <a:lnTo>
                  <a:pt x="1690220" y="0"/>
                </a:lnTo>
                <a:lnTo>
                  <a:pt x="1690220" y="6858000"/>
                </a:lnTo>
                <a:lnTo>
                  <a:pt x="2" y="6858000"/>
                </a:lnTo>
                <a:lnTo>
                  <a:pt x="69055" y="6770129"/>
                </a:lnTo>
                <a:cubicBezTo>
                  <a:pt x="765821" y="5838444"/>
                  <a:pt x="1178442" y="4681909"/>
                  <a:pt x="1178442" y="3429001"/>
                </a:cubicBezTo>
                <a:cubicBezTo>
                  <a:pt x="1178442" y="2176094"/>
                  <a:pt x="765821" y="1019559"/>
                  <a:pt x="69055" y="87873"/>
                </a:cubicBezTo>
                <a:lnTo>
                  <a:pt x="0" y="0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endParaRPr kumimoji="1" lang="ja-JP" altLang="en-US" sz="16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18885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グラフィックス 18" descr="有機的な角の図形">
            <a:extLst>
              <a:ext uri="{FF2B5EF4-FFF2-40B4-BE49-F238E27FC236}">
                <a16:creationId xmlns:a16="http://schemas.microsoft.com/office/drawing/2014/main" id="{ED18916B-53A8-5C94-D3A4-BF441740AE90}"/>
              </a:ext>
            </a:extLst>
          </p:cNvPr>
          <p:cNvSpPr/>
          <p:nvPr/>
        </p:nvSpPr>
        <p:spPr>
          <a:xfrm flipV="1">
            <a:off x="5303912" y="0"/>
            <a:ext cx="6936035" cy="4146411"/>
          </a:xfrm>
          <a:custGeom>
            <a:avLst/>
            <a:gdLst>
              <a:gd name="connsiteX0" fmla="*/ 6936002 w 6936035"/>
              <a:gd name="connsiteY0" fmla="*/ 4146395 h 4146411"/>
              <a:gd name="connsiteX1" fmla="*/ 0 w 6936035"/>
              <a:gd name="connsiteY1" fmla="*/ 4146412 h 4146411"/>
              <a:gd name="connsiteX2" fmla="*/ 694657 w 6936035"/>
              <a:gd name="connsiteY2" fmla="*/ 3505825 h 4146411"/>
              <a:gd name="connsiteX3" fmla="*/ 3503271 w 6936035"/>
              <a:gd name="connsiteY3" fmla="*/ 3128037 h 4146411"/>
              <a:gd name="connsiteX4" fmla="*/ 4028869 w 6936035"/>
              <a:gd name="connsiteY4" fmla="*/ 2126098 h 4146411"/>
              <a:gd name="connsiteX5" fmla="*/ 5457823 w 6936035"/>
              <a:gd name="connsiteY5" fmla="*/ 1403394 h 4146411"/>
              <a:gd name="connsiteX6" fmla="*/ 6180509 w 6936035"/>
              <a:gd name="connsiteY6" fmla="*/ 237208 h 4146411"/>
              <a:gd name="connsiteX7" fmla="*/ 6936035 w 6936035"/>
              <a:gd name="connsiteY7" fmla="*/ 0 h 4146411"/>
              <a:gd name="connsiteX8" fmla="*/ 6936002 w 6936035"/>
              <a:gd name="connsiteY8" fmla="*/ 4146395 h 41464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6035" h="4146411">
                <a:moveTo>
                  <a:pt x="6936002" y="4146395"/>
                </a:moveTo>
                <a:lnTo>
                  <a:pt x="0" y="4146412"/>
                </a:lnTo>
                <a:cubicBezTo>
                  <a:pt x="0" y="4146412"/>
                  <a:pt x="354303" y="3691501"/>
                  <a:pt x="694657" y="3505825"/>
                </a:cubicBezTo>
                <a:cubicBezTo>
                  <a:pt x="1768163" y="2920235"/>
                  <a:pt x="2848618" y="3731688"/>
                  <a:pt x="3503271" y="3128037"/>
                </a:cubicBezTo>
                <a:cubicBezTo>
                  <a:pt x="3841087" y="2816525"/>
                  <a:pt x="3607793" y="2550276"/>
                  <a:pt x="4028869" y="2126098"/>
                </a:cubicBezTo>
                <a:cubicBezTo>
                  <a:pt x="4537336" y="1613900"/>
                  <a:pt x="4985298" y="1893550"/>
                  <a:pt x="5457823" y="1403394"/>
                </a:cubicBezTo>
                <a:cubicBezTo>
                  <a:pt x="5868998" y="976862"/>
                  <a:pt x="5721153" y="566599"/>
                  <a:pt x="6180509" y="237208"/>
                </a:cubicBezTo>
                <a:cubicBezTo>
                  <a:pt x="6440025" y="51117"/>
                  <a:pt x="6936035" y="0"/>
                  <a:pt x="6936035" y="0"/>
                </a:cubicBezTo>
                <a:lnTo>
                  <a:pt x="6936002" y="4146395"/>
                </a:lnTo>
                <a:close/>
              </a:path>
            </a:pathLst>
          </a:custGeom>
          <a:solidFill>
            <a:schemeClr val="tx2"/>
          </a:solidFill>
          <a:ln w="16570" cap="flat">
            <a:noFill/>
            <a:prstDash val="solid"/>
            <a:miter/>
          </a:ln>
        </p:spPr>
        <p:txBody>
          <a:bodyPr rtlCol="0" anchor="ctr"/>
          <a:lstStyle/>
          <a:p>
            <a:endParaRPr lang="ja-JP" altLang="en-US"/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135560" y="2097088"/>
            <a:ext cx="7920880" cy="2663825"/>
          </a:xfrm>
        </p:spPr>
        <p:txBody>
          <a:bodyPr anchor="ctr">
            <a:normAutofit/>
          </a:bodyPr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8" name="フリーフォーム: 図形 7" descr="有機的な角の図形">
            <a:extLst>
              <a:ext uri="{FF2B5EF4-FFF2-40B4-BE49-F238E27FC236}">
                <a16:creationId xmlns:a16="http://schemas.microsoft.com/office/drawing/2014/main" id="{BDFD2059-C5A0-64A6-776D-DA047DB9902F}"/>
              </a:ext>
            </a:extLst>
          </p:cNvPr>
          <p:cNvSpPr/>
          <p:nvPr userDrawn="1"/>
        </p:nvSpPr>
        <p:spPr>
          <a:xfrm rot="10800000" flipV="1">
            <a:off x="0" y="2297593"/>
            <a:ext cx="4575008" cy="4560407"/>
          </a:xfrm>
          <a:custGeom>
            <a:avLst/>
            <a:gdLst>
              <a:gd name="connsiteX0" fmla="*/ 4575008 w 4575008"/>
              <a:gd name="connsiteY0" fmla="*/ 0 h 4560407"/>
              <a:gd name="connsiteX1" fmla="*/ 4503754 w 4575008"/>
              <a:gd name="connsiteY1" fmla="*/ 42836 h 4560407"/>
              <a:gd name="connsiteX2" fmla="*/ 3516573 w 4575008"/>
              <a:gd name="connsiteY2" fmla="*/ 1635833 h 4560407"/>
              <a:gd name="connsiteX3" fmla="*/ 1564637 w 4575008"/>
              <a:gd name="connsiteY3" fmla="*/ 2623038 h 4560407"/>
              <a:gd name="connsiteX4" fmla="*/ 846676 w 4575008"/>
              <a:gd name="connsiteY4" fmla="*/ 3991676 h 4560407"/>
              <a:gd name="connsiteX5" fmla="*/ 129667 w 4575008"/>
              <a:gd name="connsiteY5" fmla="*/ 4499838 h 4560407"/>
              <a:gd name="connsiteX6" fmla="*/ 0 w 4575008"/>
              <a:gd name="connsiteY6" fmla="*/ 4560407 h 4560407"/>
              <a:gd name="connsiteX7" fmla="*/ 4575008 w 4575008"/>
              <a:gd name="connsiteY7" fmla="*/ 4560407 h 4560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575008" h="4560407">
                <a:moveTo>
                  <a:pt x="4575008" y="0"/>
                </a:moveTo>
                <a:lnTo>
                  <a:pt x="4503754" y="42836"/>
                </a:lnTo>
                <a:cubicBezTo>
                  <a:pt x="3876279" y="492780"/>
                  <a:pt x="4078233" y="1053195"/>
                  <a:pt x="3516573" y="1635833"/>
                </a:cubicBezTo>
                <a:cubicBezTo>
                  <a:pt x="2871109" y="2305380"/>
                  <a:pt x="2259198" y="1923382"/>
                  <a:pt x="1564637" y="2623038"/>
                </a:cubicBezTo>
                <a:cubicBezTo>
                  <a:pt x="989452" y="3202461"/>
                  <a:pt x="1308129" y="3566154"/>
                  <a:pt x="846676" y="3991676"/>
                </a:cubicBezTo>
                <a:cubicBezTo>
                  <a:pt x="637087" y="4184937"/>
                  <a:pt x="395546" y="4359781"/>
                  <a:pt x="129667" y="4499838"/>
                </a:cubicBezTo>
                <a:lnTo>
                  <a:pt x="0" y="4560407"/>
                </a:lnTo>
                <a:lnTo>
                  <a:pt x="4575008" y="4560407"/>
                </a:ln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 w="16570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800477618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タイトル 3">
            <a:extLst>
              <a:ext uri="{FF2B5EF4-FFF2-40B4-BE49-F238E27FC236}">
                <a16:creationId xmlns:a16="http://schemas.microsoft.com/office/drawing/2014/main" id="{C04C0961-51A9-28BA-95ED-A24EFA926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2924944"/>
            <a:ext cx="11523307" cy="1008112"/>
          </a:xfrm>
          <a:ln>
            <a:noFill/>
          </a:ln>
        </p:spPr>
        <p:txBody>
          <a:bodyPr anchor="ctr"/>
          <a:lstStyle>
            <a:lvl1pPr algn="ctr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200"/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3" name="フレーム 2">
            <a:extLst>
              <a:ext uri="{FF2B5EF4-FFF2-40B4-BE49-F238E27FC236}">
                <a16:creationId xmlns:a16="http://schemas.microsoft.com/office/drawing/2014/main" id="{F591FD1E-8BEC-FE49-3A6E-DD7945D8381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3321"/>
            </a:avLst>
          </a:prstGeom>
          <a:solidFill>
            <a:schemeClr val="tx2"/>
          </a:solidFill>
          <a:ln w="142875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4052309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フリーフォーム: 図形 106">
            <a:extLst>
              <a:ext uri="{FF2B5EF4-FFF2-40B4-BE49-F238E27FC236}">
                <a16:creationId xmlns:a16="http://schemas.microsoft.com/office/drawing/2014/main" id="{44BA1B0E-7DFE-DA65-9D4A-990974A2A5BB}"/>
              </a:ext>
            </a:extLst>
          </p:cNvPr>
          <p:cNvSpPr/>
          <p:nvPr userDrawn="1"/>
        </p:nvSpPr>
        <p:spPr>
          <a:xfrm flipV="1">
            <a:off x="8666343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4" name="フリーフォーム: 図形 103">
            <a:extLst>
              <a:ext uri="{FF2B5EF4-FFF2-40B4-BE49-F238E27FC236}">
                <a16:creationId xmlns:a16="http://schemas.microsoft.com/office/drawing/2014/main" id="{7E706537-DD65-C835-53BB-8B80CD9CD438}"/>
              </a:ext>
            </a:extLst>
          </p:cNvPr>
          <p:cNvSpPr/>
          <p:nvPr userDrawn="1"/>
        </p:nvSpPr>
        <p:spPr>
          <a:xfrm flipV="1">
            <a:off x="9237966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A5C3842D-0C6C-1AC4-8F4E-9E5A8F2D6F1C}"/>
              </a:ext>
            </a:extLst>
          </p:cNvPr>
          <p:cNvSpPr/>
          <p:nvPr userDrawn="1"/>
        </p:nvSpPr>
        <p:spPr>
          <a:xfrm flipV="1">
            <a:off x="9809589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400" y="2097088"/>
            <a:ext cx="8496944" cy="2663825"/>
          </a:xfrm>
        </p:spPr>
        <p:txBody>
          <a:bodyPr anchor="ctr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041924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フリーフォーム: 図形 106">
            <a:extLst>
              <a:ext uri="{FF2B5EF4-FFF2-40B4-BE49-F238E27FC236}">
                <a16:creationId xmlns:a16="http://schemas.microsoft.com/office/drawing/2014/main" id="{44BA1B0E-7DFE-DA65-9D4A-990974A2A5BB}"/>
              </a:ext>
            </a:extLst>
          </p:cNvPr>
          <p:cNvSpPr/>
          <p:nvPr userDrawn="1"/>
        </p:nvSpPr>
        <p:spPr>
          <a:xfrm flipH="1" flipV="1">
            <a:off x="1143246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20000"/>
              <a:lumOff val="8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4" name="フリーフォーム: 図形 103">
            <a:extLst>
              <a:ext uri="{FF2B5EF4-FFF2-40B4-BE49-F238E27FC236}">
                <a16:creationId xmlns:a16="http://schemas.microsoft.com/office/drawing/2014/main" id="{7E706537-DD65-C835-53BB-8B80CD9CD438}"/>
              </a:ext>
            </a:extLst>
          </p:cNvPr>
          <p:cNvSpPr/>
          <p:nvPr userDrawn="1"/>
        </p:nvSpPr>
        <p:spPr>
          <a:xfrm flipH="1" flipV="1">
            <a:off x="571623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A5C3842D-0C6C-1AC4-8F4E-9E5A8F2D6F1C}"/>
              </a:ext>
            </a:extLst>
          </p:cNvPr>
          <p:cNvSpPr/>
          <p:nvPr userDrawn="1"/>
        </p:nvSpPr>
        <p:spPr>
          <a:xfrm flipH="1" flipV="1">
            <a:off x="0" y="0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3287688" y="2097088"/>
            <a:ext cx="8496944" cy="2663825"/>
          </a:xfrm>
        </p:spPr>
        <p:txBody>
          <a:bodyPr anchor="ctr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42574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表紙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フリーフォーム: 図形 6">
            <a:extLst>
              <a:ext uri="{FF2B5EF4-FFF2-40B4-BE49-F238E27FC236}">
                <a16:creationId xmlns:a16="http://schemas.microsoft.com/office/drawing/2014/main" id="{826C8E36-967D-3C1B-DC58-F40951909CA5}"/>
              </a:ext>
            </a:extLst>
          </p:cNvPr>
          <p:cNvSpPr/>
          <p:nvPr userDrawn="1"/>
        </p:nvSpPr>
        <p:spPr>
          <a:xfrm flipV="1">
            <a:off x="8666343" y="-9838"/>
            <a:ext cx="3525657" cy="6867838"/>
          </a:xfrm>
          <a:custGeom>
            <a:avLst/>
            <a:gdLst>
              <a:gd name="connsiteX0" fmla="*/ 1004831 w 3525657"/>
              <a:gd name="connsiteY0" fmla="*/ 6867838 h 6867838"/>
              <a:gd name="connsiteX1" fmla="*/ 1351764 w 3525657"/>
              <a:gd name="connsiteY1" fmla="*/ 6867838 h 6867838"/>
              <a:gd name="connsiteX2" fmla="*/ 2382411 w 3525657"/>
              <a:gd name="connsiteY2" fmla="*/ 6867838 h 6867838"/>
              <a:gd name="connsiteX3" fmla="*/ 3525657 w 3525657"/>
              <a:gd name="connsiteY3" fmla="*/ 6867838 h 6867838"/>
              <a:gd name="connsiteX4" fmla="*/ 3525657 w 3525657"/>
              <a:gd name="connsiteY4" fmla="*/ 0 h 6867838"/>
              <a:gd name="connsiteX5" fmla="*/ 1351764 w 3525657"/>
              <a:gd name="connsiteY5" fmla="*/ 0 h 6867838"/>
              <a:gd name="connsiteX6" fmla="*/ 1351764 w 3525657"/>
              <a:gd name="connsiteY6" fmla="*/ 9838 h 6867838"/>
              <a:gd name="connsiteX7" fmla="*/ 822377 w 3525657"/>
              <a:gd name="connsiteY7" fmla="*/ 9838 h 6867838"/>
              <a:gd name="connsiteX8" fmla="*/ 788179 w 3525657"/>
              <a:gd name="connsiteY8" fmla="*/ 59236 h 6867838"/>
              <a:gd name="connsiteX9" fmla="*/ 25886 w 3525657"/>
              <a:gd name="connsiteY9" fmla="*/ 1849606 h 6867838"/>
              <a:gd name="connsiteX10" fmla="*/ 998947 w 3525657"/>
              <a:gd name="connsiteY10" fmla="*/ 3687363 h 6867838"/>
              <a:gd name="connsiteX11" fmla="*/ 618723 w 3525657"/>
              <a:gd name="connsiteY11" fmla="*/ 4637924 h 6867838"/>
              <a:gd name="connsiteX12" fmla="*/ 1125689 w 3525657"/>
              <a:gd name="connsiteY12" fmla="*/ 6412308 h 6867838"/>
              <a:gd name="connsiteX13" fmla="*/ 1008565 w 3525657"/>
              <a:gd name="connsiteY13" fmla="*/ 6861619 h 686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3525657" h="6867838">
                <a:moveTo>
                  <a:pt x="1004831" y="6867838"/>
                </a:moveTo>
                <a:lnTo>
                  <a:pt x="1351764" y="6867838"/>
                </a:lnTo>
                <a:lnTo>
                  <a:pt x="2382411" y="6867838"/>
                </a:lnTo>
                <a:lnTo>
                  <a:pt x="3525657" y="6867838"/>
                </a:lnTo>
                <a:lnTo>
                  <a:pt x="3525657" y="0"/>
                </a:lnTo>
                <a:lnTo>
                  <a:pt x="1351764" y="0"/>
                </a:lnTo>
                <a:lnTo>
                  <a:pt x="1351764" y="9838"/>
                </a:lnTo>
                <a:lnTo>
                  <a:pt x="822377" y="9838"/>
                </a:lnTo>
                <a:lnTo>
                  <a:pt x="788179" y="59236"/>
                </a:lnTo>
                <a:cubicBezTo>
                  <a:pt x="384849" y="622346"/>
                  <a:pt x="-120636" y="1199919"/>
                  <a:pt x="25886" y="1849606"/>
                </a:cubicBezTo>
                <a:cubicBezTo>
                  <a:pt x="202943" y="2634615"/>
                  <a:pt x="1015963" y="2894370"/>
                  <a:pt x="998947" y="3687363"/>
                </a:cubicBezTo>
                <a:cubicBezTo>
                  <a:pt x="990707" y="4071957"/>
                  <a:pt x="727403" y="4173289"/>
                  <a:pt x="618723" y="4637924"/>
                </a:cubicBezTo>
                <a:cubicBezTo>
                  <a:pt x="444199" y="5383990"/>
                  <a:pt x="1133767" y="5601414"/>
                  <a:pt x="1125689" y="6412308"/>
                </a:cubicBezTo>
                <a:cubicBezTo>
                  <a:pt x="1123953" y="6586451"/>
                  <a:pt x="1075413" y="6732047"/>
                  <a:pt x="1008565" y="6861619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  <a:alpha val="6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9" name="フリーフォーム: 図形 8">
            <a:extLst>
              <a:ext uri="{FF2B5EF4-FFF2-40B4-BE49-F238E27FC236}">
                <a16:creationId xmlns:a16="http://schemas.microsoft.com/office/drawing/2014/main" id="{CD4A2C1B-A9CF-98CC-B01B-5B5144FD9E21}"/>
              </a:ext>
            </a:extLst>
          </p:cNvPr>
          <p:cNvSpPr/>
          <p:nvPr userDrawn="1"/>
        </p:nvSpPr>
        <p:spPr>
          <a:xfrm>
            <a:off x="9237967" y="-9838"/>
            <a:ext cx="2974292" cy="6867838"/>
          </a:xfrm>
          <a:custGeom>
            <a:avLst/>
            <a:gdLst>
              <a:gd name="connsiteX0" fmla="*/ 1004830 w 2974292"/>
              <a:gd name="connsiteY0" fmla="*/ 0 h 6867838"/>
              <a:gd name="connsiteX1" fmla="*/ 1407110 w 2974292"/>
              <a:gd name="connsiteY1" fmla="*/ 0 h 6867838"/>
              <a:gd name="connsiteX2" fmla="*/ 2382410 w 2974292"/>
              <a:gd name="connsiteY2" fmla="*/ 0 h 6867838"/>
              <a:gd name="connsiteX3" fmla="*/ 2974292 w 2974292"/>
              <a:gd name="connsiteY3" fmla="*/ 0 h 6867838"/>
              <a:gd name="connsiteX4" fmla="*/ 2974292 w 2974292"/>
              <a:gd name="connsiteY4" fmla="*/ 6867838 h 6867838"/>
              <a:gd name="connsiteX5" fmla="*/ 1407110 w 2974292"/>
              <a:gd name="connsiteY5" fmla="*/ 6867838 h 6867838"/>
              <a:gd name="connsiteX6" fmla="*/ 1407110 w 2974292"/>
              <a:gd name="connsiteY6" fmla="*/ 6858000 h 6867838"/>
              <a:gd name="connsiteX7" fmla="*/ 822376 w 2974292"/>
              <a:gd name="connsiteY7" fmla="*/ 6858000 h 6867838"/>
              <a:gd name="connsiteX8" fmla="*/ 788178 w 2974292"/>
              <a:gd name="connsiteY8" fmla="*/ 6808602 h 6867838"/>
              <a:gd name="connsiteX9" fmla="*/ 25885 w 2974292"/>
              <a:gd name="connsiteY9" fmla="*/ 5018232 h 6867838"/>
              <a:gd name="connsiteX10" fmla="*/ 998946 w 2974292"/>
              <a:gd name="connsiteY10" fmla="*/ 3180475 h 6867838"/>
              <a:gd name="connsiteX11" fmla="*/ 618722 w 2974292"/>
              <a:gd name="connsiteY11" fmla="*/ 2229914 h 6867838"/>
              <a:gd name="connsiteX12" fmla="*/ 1125688 w 2974292"/>
              <a:gd name="connsiteY12" fmla="*/ 455530 h 6867838"/>
              <a:gd name="connsiteX13" fmla="*/ 1008564 w 2974292"/>
              <a:gd name="connsiteY13" fmla="*/ 6219 h 6867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974292" h="6867838">
                <a:moveTo>
                  <a:pt x="1004830" y="0"/>
                </a:moveTo>
                <a:lnTo>
                  <a:pt x="1407110" y="0"/>
                </a:lnTo>
                <a:lnTo>
                  <a:pt x="2382410" y="0"/>
                </a:lnTo>
                <a:lnTo>
                  <a:pt x="2974292" y="0"/>
                </a:lnTo>
                <a:lnTo>
                  <a:pt x="2974292" y="6867838"/>
                </a:lnTo>
                <a:lnTo>
                  <a:pt x="1407110" y="6867838"/>
                </a:lnTo>
                <a:lnTo>
                  <a:pt x="1407110" y="6858000"/>
                </a:lnTo>
                <a:lnTo>
                  <a:pt x="822376" y="6858000"/>
                </a:lnTo>
                <a:lnTo>
                  <a:pt x="788178" y="6808602"/>
                </a:lnTo>
                <a:cubicBezTo>
                  <a:pt x="384848" y="6245492"/>
                  <a:pt x="-120637" y="5667919"/>
                  <a:pt x="25885" y="5018232"/>
                </a:cubicBezTo>
                <a:cubicBezTo>
                  <a:pt x="202942" y="4233223"/>
                  <a:pt x="1015962" y="3973468"/>
                  <a:pt x="998946" y="3180475"/>
                </a:cubicBezTo>
                <a:cubicBezTo>
                  <a:pt x="990706" y="2795881"/>
                  <a:pt x="727402" y="2694549"/>
                  <a:pt x="618722" y="2229914"/>
                </a:cubicBezTo>
                <a:cubicBezTo>
                  <a:pt x="444198" y="1483848"/>
                  <a:pt x="1133766" y="1266424"/>
                  <a:pt x="1125688" y="455530"/>
                </a:cubicBezTo>
                <a:cubicBezTo>
                  <a:pt x="1123952" y="281387"/>
                  <a:pt x="1075412" y="135791"/>
                  <a:pt x="1008564" y="6219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  <a:alpha val="6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  <p:sp>
        <p:nvSpPr>
          <p:cNvPr id="16" name="テキスト プレースホルダー 15">
            <a:extLst>
              <a:ext uri="{FF2B5EF4-FFF2-40B4-BE49-F238E27FC236}">
                <a16:creationId xmlns:a16="http://schemas.microsoft.com/office/drawing/2014/main" id="{C5F3E123-2C67-EF07-9655-08E99671B8D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95400" y="2097088"/>
            <a:ext cx="8424936" cy="2663825"/>
          </a:xfrm>
        </p:spPr>
        <p:txBody>
          <a:bodyPr anchor="ctr">
            <a:normAutofit/>
          </a:bodyPr>
          <a:lstStyle>
            <a:lvl1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 sz="36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A5C3842D-0C6C-1AC4-8F4E-9E5A8F2D6F1C}"/>
              </a:ext>
            </a:extLst>
          </p:cNvPr>
          <p:cNvSpPr/>
          <p:nvPr userDrawn="1"/>
        </p:nvSpPr>
        <p:spPr>
          <a:xfrm flipV="1">
            <a:off x="9809589" y="-9838"/>
            <a:ext cx="2382411" cy="6858000"/>
          </a:xfrm>
          <a:custGeom>
            <a:avLst/>
            <a:gdLst>
              <a:gd name="connsiteX0" fmla="*/ 822377 w 2382411"/>
              <a:gd name="connsiteY0" fmla="*/ 0 h 6858000"/>
              <a:gd name="connsiteX1" fmla="*/ 2382411 w 2382411"/>
              <a:gd name="connsiteY1" fmla="*/ 0 h 6858000"/>
              <a:gd name="connsiteX2" fmla="*/ 2382411 w 2382411"/>
              <a:gd name="connsiteY2" fmla="*/ 6858000 h 6858000"/>
              <a:gd name="connsiteX3" fmla="*/ 1004831 w 2382411"/>
              <a:gd name="connsiteY3" fmla="*/ 6858000 h 6858000"/>
              <a:gd name="connsiteX4" fmla="*/ 1008565 w 2382411"/>
              <a:gd name="connsiteY4" fmla="*/ 6851781 h 6858000"/>
              <a:gd name="connsiteX5" fmla="*/ 1125689 w 2382411"/>
              <a:gd name="connsiteY5" fmla="*/ 6402470 h 6858000"/>
              <a:gd name="connsiteX6" fmla="*/ 618723 w 2382411"/>
              <a:gd name="connsiteY6" fmla="*/ 4628086 h 6858000"/>
              <a:gd name="connsiteX7" fmla="*/ 998947 w 2382411"/>
              <a:gd name="connsiteY7" fmla="*/ 3677525 h 6858000"/>
              <a:gd name="connsiteX8" fmla="*/ 25886 w 2382411"/>
              <a:gd name="connsiteY8" fmla="*/ 1839768 h 6858000"/>
              <a:gd name="connsiteX9" fmla="*/ 788179 w 2382411"/>
              <a:gd name="connsiteY9" fmla="*/ 49398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382411" h="6858000">
                <a:moveTo>
                  <a:pt x="822377" y="0"/>
                </a:moveTo>
                <a:lnTo>
                  <a:pt x="2382411" y="0"/>
                </a:lnTo>
                <a:lnTo>
                  <a:pt x="2382411" y="6858000"/>
                </a:lnTo>
                <a:lnTo>
                  <a:pt x="1004831" y="6858000"/>
                </a:lnTo>
                <a:lnTo>
                  <a:pt x="1008565" y="6851781"/>
                </a:lnTo>
                <a:cubicBezTo>
                  <a:pt x="1075413" y="6722209"/>
                  <a:pt x="1123953" y="6576613"/>
                  <a:pt x="1125689" y="6402470"/>
                </a:cubicBezTo>
                <a:cubicBezTo>
                  <a:pt x="1133767" y="5591576"/>
                  <a:pt x="444199" y="5374152"/>
                  <a:pt x="618723" y="4628086"/>
                </a:cubicBezTo>
                <a:cubicBezTo>
                  <a:pt x="727403" y="4163451"/>
                  <a:pt x="990707" y="4062119"/>
                  <a:pt x="998947" y="3677525"/>
                </a:cubicBezTo>
                <a:cubicBezTo>
                  <a:pt x="1015963" y="2884532"/>
                  <a:pt x="202943" y="2624777"/>
                  <a:pt x="25886" y="1839768"/>
                </a:cubicBezTo>
                <a:cubicBezTo>
                  <a:pt x="-120636" y="1190081"/>
                  <a:pt x="384849" y="612508"/>
                  <a:pt x="788179" y="49398"/>
                </a:cubicBezTo>
                <a:close/>
              </a:path>
            </a:pathLst>
          </a:custGeom>
          <a:solidFill>
            <a:schemeClr val="tx2">
              <a:lumMod val="60000"/>
              <a:lumOff val="40000"/>
              <a:alpha val="6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9072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次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3B9311E-F68C-4701-8498-2CBBFCEB10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30000"/>
              </a:lnSpc>
              <a:spcAft>
                <a:spcPts val="6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目次</a:t>
            </a:r>
          </a:p>
        </p:txBody>
      </p:sp>
      <p:sp>
        <p:nvSpPr>
          <p:cNvPr id="10" name="テキスト プレースホルダー 10">
            <a:extLst>
              <a:ext uri="{FF2B5EF4-FFF2-40B4-BE49-F238E27FC236}">
                <a16:creationId xmlns:a16="http://schemas.microsoft.com/office/drawing/2014/main" id="{B232D7A6-1B18-4CC4-A924-F02DD2F66F6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4773" y="1278865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1D37A1EA-B107-467D-9EA7-A3D6FABE26C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388853" y="1805677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16" name="テキスト プレースホルダー 10">
            <a:extLst>
              <a:ext uri="{FF2B5EF4-FFF2-40B4-BE49-F238E27FC236}">
                <a16:creationId xmlns:a16="http://schemas.microsoft.com/office/drawing/2014/main" id="{A45A46C7-FB65-47F1-94C1-05E67F7DF2E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4773" y="2466164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2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BDA459BE-460D-4F78-B310-CBE8E344E1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388853" y="2992976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7DFE000D-6490-4E4D-9F07-B21C1565A6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4773" y="3653463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3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9" name="テキスト プレースホルダー 10">
            <a:extLst>
              <a:ext uri="{FF2B5EF4-FFF2-40B4-BE49-F238E27FC236}">
                <a16:creationId xmlns:a16="http://schemas.microsoft.com/office/drawing/2014/main" id="{51BD221F-7778-4158-AD40-43DC207610A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88853" y="4180275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0" name="テキスト プレースホルダー 10">
            <a:extLst>
              <a:ext uri="{FF2B5EF4-FFF2-40B4-BE49-F238E27FC236}">
                <a16:creationId xmlns:a16="http://schemas.microsoft.com/office/drawing/2014/main" id="{672ECA52-B525-4ECC-9C17-A987198017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94773" y="4840761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4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F4E1AEC3-31B1-442D-AC49-AE954610645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88853" y="5367573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3" name="テキスト プレースホルダー 10">
            <a:extLst>
              <a:ext uri="{FF2B5EF4-FFF2-40B4-BE49-F238E27FC236}">
                <a16:creationId xmlns:a16="http://schemas.microsoft.com/office/drawing/2014/main" id="{3174BAEE-3703-4FAF-9CE2-38E78FAF844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610709" y="1278865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5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4" name="テキスト プレースホルダー 10">
            <a:extLst>
              <a:ext uri="{FF2B5EF4-FFF2-40B4-BE49-F238E27FC236}">
                <a16:creationId xmlns:a16="http://schemas.microsoft.com/office/drawing/2014/main" id="{8C0D46B9-C098-4D3C-9E08-F8230D32C2B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404789" y="1805677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5" name="テキスト プレースホルダー 10">
            <a:extLst>
              <a:ext uri="{FF2B5EF4-FFF2-40B4-BE49-F238E27FC236}">
                <a16:creationId xmlns:a16="http://schemas.microsoft.com/office/drawing/2014/main" id="{D92F9985-ADEF-46FC-9E07-EDED4BBAEC7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610709" y="2466164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6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6" name="テキスト プレースホルダー 10">
            <a:extLst>
              <a:ext uri="{FF2B5EF4-FFF2-40B4-BE49-F238E27FC236}">
                <a16:creationId xmlns:a16="http://schemas.microsoft.com/office/drawing/2014/main" id="{8DD7843F-0DD5-4CD6-8DE3-D446C4AB15A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404789" y="2992976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7" name="テキスト プレースホルダー 10">
            <a:extLst>
              <a:ext uri="{FF2B5EF4-FFF2-40B4-BE49-F238E27FC236}">
                <a16:creationId xmlns:a16="http://schemas.microsoft.com/office/drawing/2014/main" id="{E3B37C08-FD62-45B5-B86A-B33221D0803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610709" y="3653463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7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8" name="テキスト プレースホルダー 10">
            <a:extLst>
              <a:ext uri="{FF2B5EF4-FFF2-40B4-BE49-F238E27FC236}">
                <a16:creationId xmlns:a16="http://schemas.microsoft.com/office/drawing/2014/main" id="{1D15F835-CF97-486F-9613-085CA72CEF4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7404789" y="4180275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  <p:sp>
        <p:nvSpPr>
          <p:cNvPr id="29" name="テキスト プレースホルダー 10">
            <a:extLst>
              <a:ext uri="{FF2B5EF4-FFF2-40B4-BE49-F238E27FC236}">
                <a16:creationId xmlns:a16="http://schemas.microsoft.com/office/drawing/2014/main" id="{F2C67A84-1E01-4055-BF39-C79D941903C2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10709" y="4840761"/>
            <a:ext cx="4986518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42900" indent="-342900">
              <a:lnSpc>
                <a:spcPct val="120000"/>
              </a:lnSpc>
              <a:spcAft>
                <a:spcPts val="300"/>
              </a:spcAft>
              <a:buFont typeface="+mj-lt"/>
              <a:buAutoNum type="arabicPeriod" startAt="8"/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30" name="テキスト プレースホルダー 10">
            <a:extLst>
              <a:ext uri="{FF2B5EF4-FFF2-40B4-BE49-F238E27FC236}">
                <a16:creationId xmlns:a16="http://schemas.microsoft.com/office/drawing/2014/main" id="{1B3DBAB1-B141-4CC4-94E2-42A670EE266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04789" y="5367573"/>
            <a:ext cx="4192438" cy="46196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10906886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FA1F23-6C64-4634-BF2B-AD12EC7D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5" name="テキスト プレースホルダー 6">
            <a:extLst>
              <a:ext uri="{FF2B5EF4-FFF2-40B4-BE49-F238E27FC236}">
                <a16:creationId xmlns:a16="http://schemas.microsoft.com/office/drawing/2014/main" id="{E9887C17-8B9A-47B2-A86D-F88C21E78BD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137" y="1035050"/>
            <a:ext cx="10471727" cy="11301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</p:txBody>
      </p:sp>
    </p:spTree>
    <p:extLst>
      <p:ext uri="{BB962C8B-B14F-4D97-AF65-F5344CB8AC3E}">
        <p14:creationId xmlns:p14="http://schemas.microsoft.com/office/powerpoint/2010/main" val="483644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A1649C9-9451-4710-BBC0-5FF3CE6D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6" name="図プレースホルダー 5">
            <a:extLst>
              <a:ext uri="{FF2B5EF4-FFF2-40B4-BE49-F238E27FC236}">
                <a16:creationId xmlns:a16="http://schemas.microsoft.com/office/drawing/2014/main" id="{FF6A98DB-7857-49EC-A11C-28A89071BE3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860137" y="2570511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61643707-E63B-4303-BBA0-B3E17558ADB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60137" y="1035050"/>
            <a:ext cx="10471727" cy="1130169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/>
            <a:endParaRPr kumimoji="1" lang="en-US" altLang="ja-JP" dirty="0"/>
          </a:p>
        </p:txBody>
      </p:sp>
      <p:sp>
        <p:nvSpPr>
          <p:cNvPr id="11" name="テキスト プレースホルダー 10">
            <a:extLst>
              <a:ext uri="{FF2B5EF4-FFF2-40B4-BE49-F238E27FC236}">
                <a16:creationId xmlns:a16="http://schemas.microsoft.com/office/drawing/2014/main" id="{39EC3E60-5FF9-43F9-8AD4-F033A66A8EF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509838" y="2561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2" name="テキスト プレースホルダー 10">
            <a:extLst>
              <a:ext uri="{FF2B5EF4-FFF2-40B4-BE49-F238E27FC236}">
                <a16:creationId xmlns:a16="http://schemas.microsoft.com/office/drawing/2014/main" id="{5ED937E5-48EC-4A82-B3AA-E9FC891BD4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09838" y="3079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3" name="図プレースホルダー 5">
            <a:extLst>
              <a:ext uri="{FF2B5EF4-FFF2-40B4-BE49-F238E27FC236}">
                <a16:creationId xmlns:a16="http://schemas.microsoft.com/office/drawing/2014/main" id="{F368B07E-D19D-4FD9-B132-3AF05B9CBD69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60137" y="4551495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4" name="テキスト プレースホルダー 10">
            <a:extLst>
              <a:ext uri="{FF2B5EF4-FFF2-40B4-BE49-F238E27FC236}">
                <a16:creationId xmlns:a16="http://schemas.microsoft.com/office/drawing/2014/main" id="{EA776627-E2E3-4A45-BFBB-46BB399FF53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509838" y="4552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5" name="テキスト プレースホルダー 10">
            <a:extLst>
              <a:ext uri="{FF2B5EF4-FFF2-40B4-BE49-F238E27FC236}">
                <a16:creationId xmlns:a16="http://schemas.microsoft.com/office/drawing/2014/main" id="{2B8986B2-EC3B-4774-A78B-4174DB6AE6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509838" y="5070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6" name="図プレースホルダー 5">
            <a:extLst>
              <a:ext uri="{FF2B5EF4-FFF2-40B4-BE49-F238E27FC236}">
                <a16:creationId xmlns:a16="http://schemas.microsoft.com/office/drawing/2014/main" id="{C1F940A7-7255-42E4-A9AD-2018D8DC615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299884" y="2570511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17" name="テキスト プレースホルダー 10">
            <a:extLst>
              <a:ext uri="{FF2B5EF4-FFF2-40B4-BE49-F238E27FC236}">
                <a16:creationId xmlns:a16="http://schemas.microsoft.com/office/drawing/2014/main" id="{9533D2B4-C674-46B8-8FCA-13D1DA479A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49585" y="2561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8" name="テキスト プレースホルダー 10">
            <a:extLst>
              <a:ext uri="{FF2B5EF4-FFF2-40B4-BE49-F238E27FC236}">
                <a16:creationId xmlns:a16="http://schemas.microsoft.com/office/drawing/2014/main" id="{A1C4A968-9834-4D2F-9D2C-2BE825D8D50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949585" y="3079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19" name="図プレースホルダー 5">
            <a:extLst>
              <a:ext uri="{FF2B5EF4-FFF2-40B4-BE49-F238E27FC236}">
                <a16:creationId xmlns:a16="http://schemas.microsoft.com/office/drawing/2014/main" id="{C1A95DD1-3B80-4F92-BD21-822E9638A63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299884" y="4551495"/>
            <a:ext cx="1575693" cy="1575692"/>
          </a:xfrm>
          <a:prstGeom prst="rect">
            <a:avLst/>
          </a:prstGeom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>
                <a:solidFill>
                  <a:schemeClr val="tx1"/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20" name="テキスト プレースホルダー 10">
            <a:extLst>
              <a:ext uri="{FF2B5EF4-FFF2-40B4-BE49-F238E27FC236}">
                <a16:creationId xmlns:a16="http://schemas.microsoft.com/office/drawing/2014/main" id="{8A087231-1587-4E2B-8255-4BFC170F3FB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7949585" y="4552255"/>
            <a:ext cx="3451225" cy="4619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20000"/>
              </a:lnSpc>
              <a:spcAft>
                <a:spcPts val="300"/>
              </a:spcAft>
              <a:defRPr lang="ja-JP" altLang="en-US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  <p:sp>
        <p:nvSpPr>
          <p:cNvPr id="21" name="テキスト プレースホルダー 10">
            <a:extLst>
              <a:ext uri="{FF2B5EF4-FFF2-40B4-BE49-F238E27FC236}">
                <a16:creationId xmlns:a16="http://schemas.microsoft.com/office/drawing/2014/main" id="{400C5617-C855-4741-879A-0DBA54454F35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949585" y="5070750"/>
            <a:ext cx="3451225" cy="10564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just">
              <a:lnSpc>
                <a:spcPct val="120000"/>
              </a:lnSpc>
              <a:spcAft>
                <a:spcPts val="300"/>
              </a:spcAft>
              <a:defRPr lang="ja-JP" altLang="en-US" sz="1200" dirty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lvl="0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614553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903257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6"/>
            <a:ext cx="12192000" cy="365125"/>
          </a:xfrm>
          <a:prstGeom prst="rect">
            <a:avLst/>
          </a:prstGeom>
          <a:ln>
            <a:noFill/>
          </a:ln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78F0D8D-D645-581F-360E-ECAF126FB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450"/>
            <a:ext cx="12191223" cy="320675"/>
          </a:xfrm>
        </p:spPr>
        <p:txBody>
          <a:bodyPr lIns="216000" tIns="72000" rIns="216000" bIns="72000" anchor="ctr">
            <a:normAutofit/>
          </a:bodyPr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897B4945-C808-E480-EA09-7721F1CD5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30441"/>
            <a:ext cx="12192000" cy="892149"/>
          </a:xfrm>
          <a:solidFill>
            <a:schemeClr val="bg1">
              <a:lumMod val="95000"/>
            </a:schemeClr>
          </a:solidFill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defRPr/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81032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6"/>
            <a:ext cx="12192000" cy="365125"/>
          </a:xfrm>
          <a:prstGeom prst="rect">
            <a:avLst/>
          </a:prstGeom>
          <a:ln>
            <a:noFill/>
          </a:ln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78F0D8D-D645-581F-360E-ECAF126FB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450"/>
            <a:ext cx="12191223" cy="320675"/>
          </a:xfrm>
        </p:spPr>
        <p:txBody>
          <a:bodyPr lIns="216000" tIns="72000" rIns="216000" bIns="72000" anchor="ctr">
            <a:normAutofit/>
          </a:bodyPr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  <p:sp>
        <p:nvSpPr>
          <p:cNvPr id="9" name="テキスト プレースホルダー 8">
            <a:extLst>
              <a:ext uri="{FF2B5EF4-FFF2-40B4-BE49-F238E27FC236}">
                <a16:creationId xmlns:a16="http://schemas.microsoft.com/office/drawing/2014/main" id="{897B4945-C808-E480-EA09-7721F1CD51A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819478"/>
            <a:ext cx="12192000" cy="737314"/>
          </a:xfrm>
          <a:noFill/>
        </p:spPr>
        <p:txBody>
          <a:bodyPr lIns="216000" tIns="72000" rIns="216000" bIns="72000" anchor="ctr"/>
          <a:lstStyle>
            <a:lvl1pPr algn="ctr">
              <a:lnSpc>
                <a:spcPct val="120000"/>
              </a:lnSpc>
              <a:spcAft>
                <a:spcPts val="300"/>
              </a:spcAft>
              <a:defRPr>
                <a:solidFill>
                  <a:schemeClr val="tx2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FB576A7-DCB3-3932-8B22-7FE0B79E17E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1628290"/>
            <a:ext cx="12192000" cy="539539"/>
          </a:xfrm>
          <a:ln>
            <a:noFill/>
          </a:ln>
        </p:spPr>
        <p:txBody>
          <a:bodyPr anchor="ctr">
            <a:noAutofit/>
          </a:bodyPr>
          <a:lstStyle>
            <a:lvl1pPr algn="ctr">
              <a:lnSpc>
                <a:spcPct val="120000"/>
              </a:lnSpc>
              <a:spcAft>
                <a:spcPts val="300"/>
              </a:spcAft>
              <a:defRPr sz="1200">
                <a:solidFill>
                  <a:schemeClr val="tx1"/>
                </a:solidFill>
              </a:defRPr>
            </a:lvl1pPr>
          </a:lstStyle>
          <a:p>
            <a:pPr lvl="0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573111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52FB4DB5-4780-8345-F7EA-2C3C959F2DB7}"/>
              </a:ext>
            </a:extLst>
          </p:cNvPr>
          <p:cNvSpPr/>
          <p:nvPr userDrawn="1"/>
        </p:nvSpPr>
        <p:spPr>
          <a:xfrm>
            <a:off x="0" y="342900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126"/>
            <a:ext cx="12192000" cy="365125"/>
          </a:xfrm>
          <a:prstGeom prst="rect">
            <a:avLst/>
          </a:prstGeom>
          <a:ln>
            <a:noFill/>
          </a:ln>
        </p:spPr>
        <p:txBody>
          <a:bodyPr lIns="216000" tIns="72000" rIns="216000" bIns="72000" anchor="ctr"/>
          <a:lstStyle>
            <a:lvl1pPr>
              <a:lnSpc>
                <a:spcPct val="120000"/>
              </a:lnSpc>
              <a:spcAft>
                <a:spcPts val="300"/>
              </a:spcAft>
              <a:defRPr sz="20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  <p:sp>
        <p:nvSpPr>
          <p:cNvPr id="7" name="テキスト プレースホルダー 6">
            <a:extLst>
              <a:ext uri="{FF2B5EF4-FFF2-40B4-BE49-F238E27FC236}">
                <a16:creationId xmlns:a16="http://schemas.microsoft.com/office/drawing/2014/main" id="{178F0D8D-D645-581F-360E-ECAF126FB5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0" y="44450"/>
            <a:ext cx="12191223" cy="320675"/>
          </a:xfrm>
        </p:spPr>
        <p:txBody>
          <a:bodyPr lIns="216000" tIns="72000" rIns="216000" bIns="72000" anchor="ctr">
            <a:normAutofit/>
          </a:bodyPr>
          <a:lstStyle>
            <a:lvl1pPr>
              <a:defRPr sz="10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kumimoji="1"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9463836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92A83B-8B89-40B4-BA95-178BFBB59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36" y="102334"/>
            <a:ext cx="11523307" cy="302330"/>
          </a:xfrm>
          <a:custGeom>
            <a:avLst/>
            <a:gdLst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4" fmla="*/ 11523307 w 11523307"/>
              <a:gd name="connsiteY4" fmla="*/ 648072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4" fmla="*/ 11523307 w 11523307"/>
              <a:gd name="connsiteY4" fmla="*/ 648072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0" fmla="*/ 11523307 w 11523307"/>
              <a:gd name="connsiteY0" fmla="*/ 648072 h 648072"/>
              <a:gd name="connsiteX1" fmla="*/ 0 w 11523307"/>
              <a:gd name="connsiteY1" fmla="*/ 648066 h 648072"/>
              <a:gd name="connsiteX2" fmla="*/ 0 w 11523307"/>
              <a:gd name="connsiteY2" fmla="*/ 6 h 648072"/>
              <a:gd name="connsiteX3" fmla="*/ 11523307 w 11523307"/>
              <a:gd name="connsiteY3" fmla="*/ 0 h 648072"/>
              <a:gd name="connsiteX4" fmla="*/ 11523307 w 11523307"/>
              <a:gd name="connsiteY4" fmla="*/ 648072 h 648072"/>
              <a:gd name="connsiteX0" fmla="*/ 0 w 11523307"/>
              <a:gd name="connsiteY0" fmla="*/ 648066 h 648072"/>
              <a:gd name="connsiteX1" fmla="*/ 0 w 11523307"/>
              <a:gd name="connsiteY1" fmla="*/ 6 h 6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23307" h="648072" stroke="0" extrusionOk="0">
                <a:moveTo>
                  <a:pt x="11523307" y="648072"/>
                </a:moveTo>
                <a:lnTo>
                  <a:pt x="0" y="648066"/>
                </a:lnTo>
                <a:lnTo>
                  <a:pt x="0" y="6"/>
                </a:lnTo>
                <a:cubicBezTo>
                  <a:pt x="0" y="3"/>
                  <a:pt x="5159160" y="0"/>
                  <a:pt x="11523307" y="0"/>
                </a:cubicBezTo>
                <a:lnTo>
                  <a:pt x="11523307" y="648072"/>
                </a:lnTo>
                <a:close/>
              </a:path>
              <a:path w="11523307" h="648072" fill="none">
                <a:moveTo>
                  <a:pt x="0" y="648066"/>
                </a:moveTo>
                <a:lnTo>
                  <a:pt x="0" y="6"/>
                </a:lnTo>
              </a:path>
            </a:pathLst>
          </a:custGeom>
          <a:ln w="76200">
            <a:solidFill>
              <a:schemeClr val="tx1"/>
            </a:solidFill>
          </a:ln>
        </p:spPr>
        <p:txBody>
          <a:bodyPr lIns="180000" anchor="ctr"/>
          <a:lstStyle>
            <a:lvl1pPr>
              <a:lnSpc>
                <a:spcPct val="120000"/>
              </a:lnSpc>
              <a:spcAft>
                <a:spcPts val="300"/>
              </a:spcAft>
              <a:defRPr sz="1400" b="1">
                <a:solidFill>
                  <a:schemeClr val="tx1"/>
                </a:solidFill>
              </a:defRPr>
            </a:lvl1pPr>
          </a:lstStyle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0625454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354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35901" y="620688"/>
            <a:ext cx="11523307" cy="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5901" y="1124744"/>
            <a:ext cx="11523307" cy="50479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034902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8" r:id="rId2"/>
    <p:sldLayoutId id="2147483704" r:id="rId3"/>
    <p:sldLayoutId id="2147483699" r:id="rId4"/>
    <p:sldLayoutId id="2147483701" r:id="rId5"/>
    <p:sldLayoutId id="2147483700" r:id="rId6"/>
    <p:sldLayoutId id="2147483692" r:id="rId7"/>
    <p:sldLayoutId id="2147483693" r:id="rId8"/>
    <p:sldLayoutId id="2147483689" r:id="rId9"/>
    <p:sldLayoutId id="2147483691" r:id="rId10"/>
    <p:sldLayoutId id="2147483694" r:id="rId11"/>
    <p:sldLayoutId id="2147483703" r:id="rId12"/>
    <p:sldLayoutId id="2147483702" r:id="rId13"/>
    <p:sldLayoutId id="2147483697" r:id="rId14"/>
    <p:sldLayoutId id="2147483696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2000" kern="1200">
          <a:solidFill>
            <a:schemeClr val="tx1"/>
          </a:solidFill>
          <a:latin typeface="+mj-ea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0"/>
        </a:spcBef>
        <a:spcAft>
          <a:spcPts val="300"/>
        </a:spcAft>
        <a:buFont typeface="+mj-lt"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211">
          <p15:clr>
            <a:srgbClr val="F26B43"/>
          </p15:clr>
        </p15:guide>
        <p15:guide id="4" pos="7469">
          <p15:clr>
            <a:srgbClr val="F26B43"/>
          </p15:clr>
        </p15:guide>
        <p15:guide id="5" orient="horz" pos="4065">
          <p15:clr>
            <a:srgbClr val="F26B43"/>
          </p15:clr>
        </p15:guide>
        <p15:guide id="6" orient="horz" pos="39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4E35932-8827-4A8A-A11F-B3AAE7338E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60713" y="2420888"/>
            <a:ext cx="7870575" cy="0"/>
          </a:xfrm>
        </p:spPr>
        <p:txBody>
          <a:bodyPr bIns="360000"/>
          <a:lstStyle/>
          <a:p>
            <a:r>
              <a:rPr kumimoji="1" lang="ja-JP" altLang="en-US" sz="2000" dirty="0"/>
              <a:t>プレゼン資料</a:t>
            </a:r>
            <a:r>
              <a:rPr lang="ja-JP" altLang="en-US" sz="2000" dirty="0"/>
              <a:t>の作成で使える</a:t>
            </a:r>
            <a:br>
              <a:rPr lang="en-US" altLang="ja-JP" dirty="0"/>
            </a:br>
            <a:r>
              <a:rPr lang="ja-JP" altLang="en-US" dirty="0"/>
              <a:t>協業・シナジーのテンプレート③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3EB05169-A1B2-413C-B27C-4C21FF83DB6B}"/>
              </a:ext>
            </a:extLst>
          </p:cNvPr>
          <p:cNvSpPr txBox="1"/>
          <p:nvPr/>
        </p:nvSpPr>
        <p:spPr>
          <a:xfrm>
            <a:off x="4531894" y="3962737"/>
            <a:ext cx="312821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ja-JP" altLang="en-US" dirty="0"/>
              <a:t>https://raku-pre.com/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EFEFD9C-FB23-4498-BEAD-D4D60EB86C15}"/>
              </a:ext>
            </a:extLst>
          </p:cNvPr>
          <p:cNvSpPr txBox="1"/>
          <p:nvPr/>
        </p:nvSpPr>
        <p:spPr>
          <a:xfrm>
            <a:off x="2166109" y="4389310"/>
            <a:ext cx="7524836" cy="2296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本ファイルのスライドは個人・商用目的ともに無料でご自由に利用いただけます。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また、カスタマイズもご自由にいただけます。</a:t>
            </a:r>
            <a:endParaRPr kumimoji="1" lang="en-US" altLang="ja-JP" sz="1200" dirty="0">
              <a:latin typeface="+mn-ea"/>
            </a:endParaRPr>
          </a:p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本ファイルは参考資料であり、掲載してる企業、サービス、アンケート結果等は実在しておりません。</a:t>
            </a:r>
            <a:endParaRPr kumimoji="1" lang="en-US" altLang="ja-JP" sz="1200" dirty="0">
              <a:latin typeface="+mn-ea"/>
            </a:endParaRPr>
          </a:p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著作権はラクプレが保有しているため、本ファイル自体を再配布したり、販売することはできません。</a:t>
            </a:r>
            <a:endParaRPr kumimoji="1" lang="en-US" altLang="ja-JP" sz="1200" dirty="0">
              <a:latin typeface="+mn-ea"/>
            </a:endParaRPr>
          </a:p>
          <a:p>
            <a:pPr marL="285750" indent="-285750" algn="l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dirty="0">
                <a:latin typeface="+mn-ea"/>
              </a:rPr>
              <a:t>上記通り、本ファイル自体の商用を目的とした大量の再配布は、原則禁止させていただいております。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再配布をご検討の際には、サイト内のお問い合わせフォーム（</a:t>
            </a:r>
            <a:r>
              <a:rPr kumimoji="1" lang="en-US" altLang="ja-JP" sz="1200" dirty="0">
                <a:latin typeface="+mn-ea"/>
              </a:rPr>
              <a:t>https://raku-pre.com/contact/</a:t>
            </a:r>
            <a:r>
              <a:rPr kumimoji="1" lang="ja-JP" altLang="en-US" sz="1200" dirty="0">
                <a:latin typeface="+mn-ea"/>
              </a:rPr>
              <a:t>）</a:t>
            </a:r>
            <a:br>
              <a:rPr kumimoji="1" lang="en-US" altLang="ja-JP" sz="1200" dirty="0">
                <a:latin typeface="+mn-ea"/>
              </a:rPr>
            </a:br>
            <a:r>
              <a:rPr kumimoji="1" lang="ja-JP" altLang="en-US" sz="1200" dirty="0">
                <a:latin typeface="+mn-ea"/>
              </a:rPr>
              <a:t>よりご連絡いただきますようお願いいたします。</a:t>
            </a:r>
            <a:endParaRPr kumimoji="1" lang="en-US" altLang="ja-JP" sz="1200" dirty="0">
              <a:latin typeface="+mn-ea"/>
            </a:endParaRPr>
          </a:p>
          <a:p>
            <a:pPr marL="285750" indent="-285750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kumimoji="1" lang="ja-JP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4D4D4D"/>
                </a:solidFill>
                <a:effectLst/>
                <a:uLnTx/>
                <a:uFillTx/>
                <a:latin typeface="+mn-ea"/>
                <a:cs typeface="+mn-cs"/>
              </a:rPr>
              <a:t>フリー素材の画像は一部差し換え、削除しています。</a:t>
            </a: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A084C629-13AD-6AB3-E281-9A2A7589B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259" y="2460943"/>
            <a:ext cx="4921483" cy="1936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4305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385CB-5B53-6B41-F7C1-E8DFA657A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5E04E140-72D7-843B-9619-1A4C7B68B1FA}"/>
              </a:ext>
            </a:extLst>
          </p:cNvPr>
          <p:cNvSpPr/>
          <p:nvPr/>
        </p:nvSpPr>
        <p:spPr>
          <a:xfrm>
            <a:off x="0" y="2348879"/>
            <a:ext cx="12192000" cy="1734781"/>
          </a:xfrm>
          <a:prstGeom prst="rect">
            <a:avLst/>
          </a:prstGeom>
          <a:solidFill>
            <a:schemeClr val="tx2"/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1C644C6A-F106-5D9C-1AC6-3CBF68816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当社成長の要諦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0C8157B-1F34-1FFC-FA46-8A5301C047E7}"/>
              </a:ext>
            </a:extLst>
          </p:cNvPr>
          <p:cNvSpPr/>
          <p:nvPr/>
        </p:nvSpPr>
        <p:spPr>
          <a:xfrm>
            <a:off x="353877" y="1789652"/>
            <a:ext cx="3623098" cy="4591676"/>
          </a:xfrm>
          <a:prstGeom prst="roundRect">
            <a:avLst>
              <a:gd name="adj" fmla="val 5398"/>
            </a:avLst>
          </a:prstGeom>
          <a:solidFill>
            <a:schemeClr val="bg1"/>
          </a:solidFill>
          <a:ln w="57150" cap="rnd">
            <a:noFill/>
            <a:round/>
          </a:ln>
          <a:effectLst>
            <a:outerShdw blurRad="127000" dist="38100" dir="5400000" algn="t" rotWithShape="0">
              <a:schemeClr val="tx2">
                <a:lumMod val="20000"/>
                <a:lumOff val="80000"/>
                <a:alpha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EE6021E-EE15-9D2B-4392-C97F6E264478}"/>
              </a:ext>
            </a:extLst>
          </p:cNvPr>
          <p:cNvSpPr/>
          <p:nvPr/>
        </p:nvSpPr>
        <p:spPr>
          <a:xfrm>
            <a:off x="8211031" y="1789652"/>
            <a:ext cx="3623098" cy="4591676"/>
          </a:xfrm>
          <a:prstGeom prst="roundRect">
            <a:avLst>
              <a:gd name="adj" fmla="val 8468"/>
            </a:avLst>
          </a:prstGeom>
          <a:solidFill>
            <a:schemeClr val="bg1"/>
          </a:solidFill>
          <a:ln w="57150" cap="rnd">
            <a:noFill/>
            <a:round/>
          </a:ln>
          <a:effectLst>
            <a:outerShdw blurRad="127000" dist="38100" dir="5400000" algn="t" rotWithShape="0">
              <a:schemeClr val="tx2">
                <a:lumMod val="20000"/>
                <a:lumOff val="80000"/>
                <a:alpha val="7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02194F1-C679-7ABE-EF28-C7A634277DEC}"/>
              </a:ext>
            </a:extLst>
          </p:cNvPr>
          <p:cNvSpPr/>
          <p:nvPr/>
        </p:nvSpPr>
        <p:spPr>
          <a:xfrm>
            <a:off x="525640" y="3399439"/>
            <a:ext cx="3279573" cy="43280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600" dirty="0">
                <a:solidFill>
                  <a:schemeClr val="bg1"/>
                </a:solidFill>
              </a:rPr>
              <a:t>EC</a:t>
            </a:r>
            <a:r>
              <a:rPr kumimoji="1" lang="ja-JP" altLang="en-US" sz="1600" dirty="0">
                <a:solidFill>
                  <a:schemeClr val="bg1"/>
                </a:solidFill>
              </a:rPr>
              <a:t>構築</a:t>
            </a:r>
            <a:endParaRPr kumimoji="1" lang="en-US" altLang="ja-JP" sz="1600" dirty="0">
              <a:solidFill>
                <a:schemeClr val="bg1"/>
              </a:solidFill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E6E4CAF9-91C9-5508-2BF9-B7D30D23D0C5}"/>
              </a:ext>
            </a:extLst>
          </p:cNvPr>
          <p:cNvSpPr/>
          <p:nvPr/>
        </p:nvSpPr>
        <p:spPr>
          <a:xfrm>
            <a:off x="8382794" y="3399439"/>
            <a:ext cx="3279573" cy="43280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bg1"/>
                </a:solidFill>
              </a:rPr>
              <a:t>経営コンサルティング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744DC433-B7D6-AAE8-3592-594817B67473}"/>
              </a:ext>
            </a:extLst>
          </p:cNvPr>
          <p:cNvSpPr/>
          <p:nvPr/>
        </p:nvSpPr>
        <p:spPr>
          <a:xfrm>
            <a:off x="525640" y="4228205"/>
            <a:ext cx="1667690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230</a:t>
            </a:r>
            <a:r>
              <a:rPr kumimoji="1" lang="ja-JP" altLang="en-US" sz="1200" dirty="0">
                <a:solidFill>
                  <a:schemeClr val="bg1"/>
                </a:solidFill>
              </a:rPr>
              <a:t>社への支援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8D86E924-A1D3-9D2E-16C0-1C8A632C44F0}"/>
              </a:ext>
            </a:extLst>
          </p:cNvPr>
          <p:cNvSpPr/>
          <p:nvPr/>
        </p:nvSpPr>
        <p:spPr>
          <a:xfrm>
            <a:off x="525640" y="4716534"/>
            <a:ext cx="1667690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80</a:t>
            </a:r>
            <a:r>
              <a:rPr kumimoji="1" lang="ja-JP" altLang="en-US" sz="1200" dirty="0">
                <a:solidFill>
                  <a:schemeClr val="bg1"/>
                </a:solidFill>
              </a:rPr>
              <a:t>社の運用</a:t>
            </a:r>
            <a:endParaRPr kumimoji="1"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49DBEF42-6FE7-E28A-9776-0FB46649B730}"/>
              </a:ext>
            </a:extLst>
          </p:cNvPr>
          <p:cNvSpPr/>
          <p:nvPr/>
        </p:nvSpPr>
        <p:spPr>
          <a:xfrm>
            <a:off x="525640" y="5234978"/>
            <a:ext cx="1667690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20</a:t>
            </a:r>
            <a:r>
              <a:rPr kumimoji="1" lang="ja-JP" altLang="en-US" sz="1200" dirty="0">
                <a:solidFill>
                  <a:schemeClr val="bg1"/>
                </a:solidFill>
              </a:rPr>
              <a:t>名体制</a:t>
            </a:r>
            <a:endParaRPr kumimoji="1"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DFC51936-B642-877B-8ED0-034CC69189A2}"/>
              </a:ext>
            </a:extLst>
          </p:cNvPr>
          <p:cNvSpPr/>
          <p:nvPr/>
        </p:nvSpPr>
        <p:spPr>
          <a:xfrm>
            <a:off x="525640" y="5715634"/>
            <a:ext cx="1667690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100</a:t>
            </a:r>
            <a:r>
              <a:rPr kumimoji="1" lang="ja-JP" altLang="en-US" sz="1200" dirty="0">
                <a:solidFill>
                  <a:schemeClr val="bg1"/>
                </a:solidFill>
              </a:rPr>
              <a:t>のノウハウ</a:t>
            </a:r>
            <a:endParaRPr kumimoji="1"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9491018D-BD70-214C-3693-1BA7CF02F3AB}"/>
              </a:ext>
            </a:extLst>
          </p:cNvPr>
          <p:cNvSpPr/>
          <p:nvPr/>
        </p:nvSpPr>
        <p:spPr>
          <a:xfrm>
            <a:off x="2186961" y="4236086"/>
            <a:ext cx="1327608" cy="32823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400" dirty="0">
                <a:solidFill>
                  <a:schemeClr val="tx1"/>
                </a:solidFill>
              </a:rPr>
              <a:t>EC</a:t>
            </a:r>
            <a:r>
              <a:rPr kumimoji="1" lang="ja-JP" altLang="en-US" sz="1400" dirty="0">
                <a:solidFill>
                  <a:schemeClr val="tx1"/>
                </a:solidFill>
              </a:rPr>
              <a:t>サイト構築</a:t>
            </a:r>
          </a:p>
        </p:txBody>
      </p:sp>
      <p:sp>
        <p:nvSpPr>
          <p:cNvPr id="37" name="正方形/長方形 36">
            <a:extLst>
              <a:ext uri="{FF2B5EF4-FFF2-40B4-BE49-F238E27FC236}">
                <a16:creationId xmlns:a16="http://schemas.microsoft.com/office/drawing/2014/main" id="{9C32CF70-028C-5674-AE9B-197DBEDA83CA}"/>
              </a:ext>
            </a:extLst>
          </p:cNvPr>
          <p:cNvSpPr/>
          <p:nvPr/>
        </p:nvSpPr>
        <p:spPr>
          <a:xfrm>
            <a:off x="2186961" y="5211378"/>
            <a:ext cx="1800493" cy="32823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400" dirty="0">
                <a:solidFill>
                  <a:schemeClr val="tx1"/>
                </a:solidFill>
              </a:rPr>
              <a:t>マーケティング支援</a:t>
            </a:r>
          </a:p>
        </p:txBody>
      </p:sp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19F649C6-9135-9D75-0DC4-2F7F2F679F97}"/>
              </a:ext>
            </a:extLst>
          </p:cNvPr>
          <p:cNvSpPr/>
          <p:nvPr/>
        </p:nvSpPr>
        <p:spPr>
          <a:xfrm>
            <a:off x="2186961" y="4723732"/>
            <a:ext cx="1249060" cy="32823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400" dirty="0">
                <a:solidFill>
                  <a:schemeClr val="tx1"/>
                </a:solidFill>
              </a:rPr>
              <a:t>SNS</a:t>
            </a:r>
            <a:r>
              <a:rPr kumimoji="1" lang="ja-JP" altLang="en-US" sz="1400" dirty="0">
                <a:solidFill>
                  <a:schemeClr val="tx1"/>
                </a:solidFill>
              </a:rPr>
              <a:t>運用支援</a:t>
            </a:r>
          </a:p>
        </p:txBody>
      </p:sp>
      <p:sp>
        <p:nvSpPr>
          <p:cNvPr id="40" name="正方形/長方形 39">
            <a:extLst>
              <a:ext uri="{FF2B5EF4-FFF2-40B4-BE49-F238E27FC236}">
                <a16:creationId xmlns:a16="http://schemas.microsoft.com/office/drawing/2014/main" id="{5C55059D-6FD6-61AD-6283-FDFEDE00D917}"/>
              </a:ext>
            </a:extLst>
          </p:cNvPr>
          <p:cNvSpPr/>
          <p:nvPr/>
        </p:nvSpPr>
        <p:spPr>
          <a:xfrm>
            <a:off x="2186961" y="5699025"/>
            <a:ext cx="1620957" cy="32823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400" dirty="0">
                <a:solidFill>
                  <a:schemeClr val="tx1"/>
                </a:solidFill>
              </a:rPr>
              <a:t>業務プロセス設計</a:t>
            </a:r>
          </a:p>
        </p:txBody>
      </p:sp>
      <p:sp>
        <p:nvSpPr>
          <p:cNvPr id="51" name="正方形/長方形 50">
            <a:extLst>
              <a:ext uri="{FF2B5EF4-FFF2-40B4-BE49-F238E27FC236}">
                <a16:creationId xmlns:a16="http://schemas.microsoft.com/office/drawing/2014/main" id="{F7FD761C-F892-92E8-3C4B-0FA888C8D9AE}"/>
              </a:ext>
            </a:extLst>
          </p:cNvPr>
          <p:cNvSpPr/>
          <p:nvPr/>
        </p:nvSpPr>
        <p:spPr>
          <a:xfrm>
            <a:off x="8382794" y="4228205"/>
            <a:ext cx="1667690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30</a:t>
            </a:r>
            <a:r>
              <a:rPr kumimoji="1" lang="ja-JP" altLang="en-US" sz="1200" dirty="0">
                <a:solidFill>
                  <a:schemeClr val="bg1"/>
                </a:solidFill>
              </a:rPr>
              <a:t>名体制</a:t>
            </a:r>
          </a:p>
        </p:txBody>
      </p:sp>
      <p:sp>
        <p:nvSpPr>
          <p:cNvPr id="52" name="正方形/長方形 51">
            <a:extLst>
              <a:ext uri="{FF2B5EF4-FFF2-40B4-BE49-F238E27FC236}">
                <a16:creationId xmlns:a16="http://schemas.microsoft.com/office/drawing/2014/main" id="{E68637B5-8CD4-3D5C-2DC2-D358400D93CF}"/>
              </a:ext>
            </a:extLst>
          </p:cNvPr>
          <p:cNvSpPr/>
          <p:nvPr/>
        </p:nvSpPr>
        <p:spPr>
          <a:xfrm>
            <a:off x="8382794" y="4716534"/>
            <a:ext cx="1667690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100</a:t>
            </a:r>
            <a:r>
              <a:rPr kumimoji="1" lang="ja-JP" altLang="en-US" sz="1200" dirty="0">
                <a:solidFill>
                  <a:schemeClr val="bg1"/>
                </a:solidFill>
              </a:rPr>
              <a:t>名体制</a:t>
            </a:r>
            <a:endParaRPr kumimoji="1"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55" name="正方形/長方形 54">
            <a:extLst>
              <a:ext uri="{FF2B5EF4-FFF2-40B4-BE49-F238E27FC236}">
                <a16:creationId xmlns:a16="http://schemas.microsoft.com/office/drawing/2014/main" id="{CA13A12A-64F7-C861-5845-E516E5801893}"/>
              </a:ext>
            </a:extLst>
          </p:cNvPr>
          <p:cNvSpPr/>
          <p:nvPr/>
        </p:nvSpPr>
        <p:spPr>
          <a:xfrm>
            <a:off x="8382794" y="5234978"/>
            <a:ext cx="1667690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50</a:t>
            </a:r>
            <a:r>
              <a:rPr kumimoji="1" lang="ja-JP" altLang="en-US" sz="1200" dirty="0">
                <a:solidFill>
                  <a:schemeClr val="bg1"/>
                </a:solidFill>
              </a:rPr>
              <a:t>社超の支援実績</a:t>
            </a:r>
            <a:endParaRPr kumimoji="1"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56" name="正方形/長方形 55">
            <a:extLst>
              <a:ext uri="{FF2B5EF4-FFF2-40B4-BE49-F238E27FC236}">
                <a16:creationId xmlns:a16="http://schemas.microsoft.com/office/drawing/2014/main" id="{E35B796E-629D-06FE-1263-97BF6A2654E1}"/>
              </a:ext>
            </a:extLst>
          </p:cNvPr>
          <p:cNvSpPr/>
          <p:nvPr/>
        </p:nvSpPr>
        <p:spPr>
          <a:xfrm>
            <a:off x="8382794" y="5715634"/>
            <a:ext cx="1667690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500</a:t>
            </a:r>
            <a:r>
              <a:rPr kumimoji="1" lang="ja-JP" altLang="en-US" sz="1200" dirty="0">
                <a:solidFill>
                  <a:schemeClr val="bg1"/>
                </a:solidFill>
              </a:rPr>
              <a:t>名体制</a:t>
            </a:r>
            <a:endParaRPr kumimoji="1" lang="en-US" altLang="ja-JP" sz="1200" dirty="0">
              <a:solidFill>
                <a:schemeClr val="bg1"/>
              </a:solidFill>
            </a:endParaRPr>
          </a:p>
        </p:txBody>
      </p:sp>
      <p:sp>
        <p:nvSpPr>
          <p:cNvPr id="58" name="正方形/長方形 57">
            <a:extLst>
              <a:ext uri="{FF2B5EF4-FFF2-40B4-BE49-F238E27FC236}">
                <a16:creationId xmlns:a16="http://schemas.microsoft.com/office/drawing/2014/main" id="{4306A420-6677-61DC-295C-ED4E5785C79F}"/>
              </a:ext>
            </a:extLst>
          </p:cNvPr>
          <p:cNvSpPr/>
          <p:nvPr/>
        </p:nvSpPr>
        <p:spPr>
          <a:xfrm>
            <a:off x="10044115" y="4236086"/>
            <a:ext cx="1261884" cy="32823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400" dirty="0">
                <a:solidFill>
                  <a:schemeClr val="tx1"/>
                </a:solidFill>
              </a:rPr>
              <a:t>経営コンサル</a:t>
            </a:r>
          </a:p>
        </p:txBody>
      </p:sp>
      <p:sp>
        <p:nvSpPr>
          <p:cNvPr id="59" name="正方形/長方形 58">
            <a:extLst>
              <a:ext uri="{FF2B5EF4-FFF2-40B4-BE49-F238E27FC236}">
                <a16:creationId xmlns:a16="http://schemas.microsoft.com/office/drawing/2014/main" id="{D87BE332-E866-8ECE-322E-1F909E9E59DA}"/>
              </a:ext>
            </a:extLst>
          </p:cNvPr>
          <p:cNvSpPr/>
          <p:nvPr/>
        </p:nvSpPr>
        <p:spPr>
          <a:xfrm>
            <a:off x="10044115" y="5211378"/>
            <a:ext cx="622286" cy="32823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400" dirty="0">
                <a:solidFill>
                  <a:schemeClr val="tx1"/>
                </a:solidFill>
              </a:rPr>
              <a:t>PMO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473AF36C-6D6A-A22E-36F4-3DBCE8BA1F17}"/>
              </a:ext>
            </a:extLst>
          </p:cNvPr>
          <p:cNvSpPr/>
          <p:nvPr/>
        </p:nvSpPr>
        <p:spPr>
          <a:xfrm>
            <a:off x="10044115" y="4723732"/>
            <a:ext cx="463588" cy="32823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400" dirty="0">
                <a:solidFill>
                  <a:schemeClr val="tx1"/>
                </a:solidFill>
              </a:rPr>
              <a:t>PM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54BF354F-1AD1-057E-BB9A-34441EC9C90B}"/>
              </a:ext>
            </a:extLst>
          </p:cNvPr>
          <p:cNvSpPr/>
          <p:nvPr/>
        </p:nvSpPr>
        <p:spPr>
          <a:xfrm>
            <a:off x="10044115" y="5699025"/>
            <a:ext cx="1261884" cy="328231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400" dirty="0">
                <a:solidFill>
                  <a:schemeClr val="tx1"/>
                </a:solidFill>
              </a:rPr>
              <a:t>システム開発</a:t>
            </a:r>
          </a:p>
        </p:txBody>
      </p:sp>
      <p:sp>
        <p:nvSpPr>
          <p:cNvPr id="66" name="テキスト ボックス 65">
            <a:extLst>
              <a:ext uri="{FF2B5EF4-FFF2-40B4-BE49-F238E27FC236}">
                <a16:creationId xmlns:a16="http://schemas.microsoft.com/office/drawing/2014/main" id="{3A2EF4F9-2223-C8ED-E435-69E72A4F057C}"/>
              </a:ext>
            </a:extLst>
          </p:cNvPr>
          <p:cNvSpPr txBox="1"/>
          <p:nvPr/>
        </p:nvSpPr>
        <p:spPr>
          <a:xfrm>
            <a:off x="4028767" y="2675673"/>
            <a:ext cx="4134466" cy="1081193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lang="ja-JP" altLang="en-US" sz="2800" dirty="0">
                <a:solidFill>
                  <a:schemeClr val="bg1"/>
                </a:solidFill>
              </a:rPr>
              <a:t>協業による次世代の</a:t>
            </a:r>
            <a:br>
              <a:rPr lang="en-US" altLang="ja-JP" sz="2800" dirty="0">
                <a:solidFill>
                  <a:schemeClr val="bg1"/>
                </a:solidFill>
              </a:rPr>
            </a:br>
            <a:r>
              <a:rPr lang="ja-JP" altLang="en-US" sz="2800" dirty="0">
                <a:solidFill>
                  <a:schemeClr val="bg1"/>
                </a:solidFill>
              </a:rPr>
              <a:t>リテールサービスの創出</a:t>
            </a:r>
            <a:endParaRPr lang="en-US" altLang="ja-JP" sz="2800" dirty="0">
              <a:solidFill>
                <a:schemeClr val="bg1"/>
              </a:solidFill>
            </a:endParaRPr>
          </a:p>
        </p:txBody>
      </p:sp>
      <p:sp>
        <p:nvSpPr>
          <p:cNvPr id="73" name="四角形: 角を丸くする 72">
            <a:extLst>
              <a:ext uri="{FF2B5EF4-FFF2-40B4-BE49-F238E27FC236}">
                <a16:creationId xmlns:a16="http://schemas.microsoft.com/office/drawing/2014/main" id="{FD1F435A-6995-2EAF-57C0-D42927334AFF}"/>
              </a:ext>
            </a:extLst>
          </p:cNvPr>
          <p:cNvSpPr/>
          <p:nvPr/>
        </p:nvSpPr>
        <p:spPr>
          <a:xfrm>
            <a:off x="4416638" y="4614441"/>
            <a:ext cx="3358723" cy="1522104"/>
          </a:xfrm>
          <a:prstGeom prst="roundRect">
            <a:avLst>
              <a:gd name="adj" fmla="val 5935"/>
            </a:avLst>
          </a:prstGeom>
          <a:noFill/>
          <a:ln w="28575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600"/>
              </a:spcAft>
            </a:pPr>
            <a:r>
              <a:rPr kumimoji="1" lang="ja-JP" altLang="en-US" sz="1600" dirty="0">
                <a:solidFill>
                  <a:schemeClr val="bg1"/>
                </a:solidFill>
                <a:highlight>
                  <a:srgbClr val="000000"/>
                </a:highlight>
              </a:rPr>
              <a:t>基本合意に向けた検討項目</a:t>
            </a:r>
            <a:endParaRPr kumimoji="1" lang="en-US" altLang="ja-JP" sz="1600" dirty="0">
              <a:solidFill>
                <a:schemeClr val="bg1"/>
              </a:solidFill>
              <a:highlight>
                <a:srgbClr val="000000"/>
              </a:highlight>
            </a:endParaRPr>
          </a:p>
          <a:p>
            <a:pPr marL="266700" indent="-266700" algn="l">
              <a:lnSpc>
                <a:spcPct val="120000"/>
              </a:lnSpc>
              <a:spcAft>
                <a:spcPts val="600"/>
              </a:spcAft>
              <a:buFont typeface="+mj-ea"/>
              <a:buAutoNum type="circleNumDbPlain"/>
            </a:pPr>
            <a:r>
              <a:rPr kumimoji="1" lang="en-US" altLang="ja-JP" sz="1600" dirty="0">
                <a:solidFill>
                  <a:schemeClr val="tx1"/>
                </a:solidFill>
              </a:rPr>
              <a:t>NDA</a:t>
            </a:r>
            <a:r>
              <a:rPr kumimoji="1" lang="ja-JP" altLang="en-US" sz="1600" dirty="0">
                <a:solidFill>
                  <a:schemeClr val="tx1"/>
                </a:solidFill>
              </a:rPr>
              <a:t>締結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marL="266700" indent="-266700" algn="l">
              <a:lnSpc>
                <a:spcPct val="120000"/>
              </a:lnSpc>
              <a:spcAft>
                <a:spcPts val="600"/>
              </a:spcAft>
              <a:buFont typeface="+mj-ea"/>
              <a:buAutoNum type="circleNumDbPlain"/>
            </a:pPr>
            <a:r>
              <a:rPr kumimoji="1" lang="ja-JP" altLang="en-US" sz="1600" dirty="0">
                <a:solidFill>
                  <a:schemeClr val="tx1"/>
                </a:solidFill>
              </a:rPr>
              <a:t>既存事業領域における協業検討</a:t>
            </a:r>
            <a:endParaRPr kumimoji="1" lang="en-US" altLang="ja-JP" sz="1600" dirty="0">
              <a:solidFill>
                <a:schemeClr val="tx1"/>
              </a:solidFill>
            </a:endParaRPr>
          </a:p>
          <a:p>
            <a:pPr marL="266700" indent="-266700" algn="l">
              <a:lnSpc>
                <a:spcPct val="120000"/>
              </a:lnSpc>
              <a:spcAft>
                <a:spcPts val="600"/>
              </a:spcAft>
              <a:buFont typeface="+mj-ea"/>
              <a:buAutoNum type="circleNumDbPlain"/>
            </a:pPr>
            <a:r>
              <a:rPr kumimoji="1" lang="ja-JP" altLang="en-US" sz="1600" dirty="0">
                <a:solidFill>
                  <a:schemeClr val="tx1"/>
                </a:solidFill>
              </a:rPr>
              <a:t>新規事業創出</a:t>
            </a:r>
            <a:endParaRPr kumimoji="1" lang="en-US" altLang="ja-JP" sz="1600" dirty="0">
              <a:solidFill>
                <a:schemeClr val="tx1"/>
              </a:solidFill>
            </a:endParaRPr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6673B88-B219-2EF8-C9A3-98A3FE56019D}"/>
              </a:ext>
            </a:extLst>
          </p:cNvPr>
          <p:cNvSpPr txBox="1"/>
          <p:nvPr/>
        </p:nvSpPr>
        <p:spPr>
          <a:xfrm>
            <a:off x="334963" y="674019"/>
            <a:ext cx="11522075" cy="657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600" dirty="0"/>
              <a:t>EC</a:t>
            </a:r>
            <a:r>
              <a:rPr kumimoji="1" lang="ja-JP" altLang="en-US" sz="1600" dirty="0"/>
              <a:t>事業関連サービス・グロースノウハウ・顧客基盤と</a:t>
            </a:r>
            <a:r>
              <a:rPr kumimoji="1" lang="en-US" altLang="ja-JP" sz="1600" dirty="0"/>
              <a:t>SNS</a:t>
            </a:r>
            <a:r>
              <a:rPr kumimoji="1" lang="ja-JP" altLang="en-US" sz="1600" dirty="0"/>
              <a:t>関連事業に強みを持つ当社と経営コンサルティング・システム開発・</a:t>
            </a:r>
            <a:r>
              <a:rPr kumimoji="1" lang="en-US" altLang="ja-JP" sz="1600" dirty="0"/>
              <a:t>BPO</a:t>
            </a:r>
            <a:r>
              <a:rPr kumimoji="1" lang="ja-JP" altLang="en-US" sz="1600" dirty="0"/>
              <a:t>に強みを持つ貴社の協業により、次世代のリテールを支えるプラットフォームビジネスを検討でき</a:t>
            </a:r>
            <a:r>
              <a:rPr lang="ja-JP" altLang="en-US" sz="1600" dirty="0"/>
              <a:t>ればと思います。</a:t>
            </a:r>
            <a:endParaRPr kumimoji="1" lang="ja-JP" altLang="en-US" sz="1600" dirty="0"/>
          </a:p>
        </p:txBody>
      </p:sp>
      <p:sp>
        <p:nvSpPr>
          <p:cNvPr id="82" name="フリーフォーム: 図形 81">
            <a:extLst>
              <a:ext uri="{FF2B5EF4-FFF2-40B4-BE49-F238E27FC236}">
                <a16:creationId xmlns:a16="http://schemas.microsoft.com/office/drawing/2014/main" id="{BFE4E90A-C783-4CF5-1F38-1E27DB57112A}"/>
              </a:ext>
            </a:extLst>
          </p:cNvPr>
          <p:cNvSpPr/>
          <p:nvPr/>
        </p:nvSpPr>
        <p:spPr>
          <a:xfrm>
            <a:off x="4083050" y="1978403"/>
            <a:ext cx="3994150" cy="234950"/>
          </a:xfrm>
          <a:custGeom>
            <a:avLst/>
            <a:gdLst>
              <a:gd name="connsiteX0" fmla="*/ 0 w 3994150"/>
              <a:gd name="connsiteY0" fmla="*/ 234950 h 234950"/>
              <a:gd name="connsiteX1" fmla="*/ 3994150 w 3994150"/>
              <a:gd name="connsiteY1" fmla="*/ 234950 h 234950"/>
              <a:gd name="connsiteX2" fmla="*/ 3759200 w 3994150"/>
              <a:gd name="connsiteY2" fmla="*/ 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4150" h="234950">
                <a:moveTo>
                  <a:pt x="0" y="234950"/>
                </a:moveTo>
                <a:lnTo>
                  <a:pt x="3994150" y="234950"/>
                </a:lnTo>
                <a:lnTo>
                  <a:pt x="3759200" y="0"/>
                </a:lnTo>
              </a:path>
            </a:pathLst>
          </a:custGeom>
          <a:noFill/>
          <a:ln w="38100" cap="rnd">
            <a:solidFill>
              <a:schemeClr val="tx2">
                <a:lumMod val="20000"/>
                <a:lumOff val="8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フリーフォーム: 図形 82">
            <a:extLst>
              <a:ext uri="{FF2B5EF4-FFF2-40B4-BE49-F238E27FC236}">
                <a16:creationId xmlns:a16="http://schemas.microsoft.com/office/drawing/2014/main" id="{CF45DF54-E41F-48AA-D5BB-A63CE0FD6364}"/>
              </a:ext>
            </a:extLst>
          </p:cNvPr>
          <p:cNvSpPr/>
          <p:nvPr/>
        </p:nvSpPr>
        <p:spPr>
          <a:xfrm flipH="1" flipV="1">
            <a:off x="4083050" y="4219186"/>
            <a:ext cx="3994150" cy="234950"/>
          </a:xfrm>
          <a:custGeom>
            <a:avLst/>
            <a:gdLst>
              <a:gd name="connsiteX0" fmla="*/ 0 w 3994150"/>
              <a:gd name="connsiteY0" fmla="*/ 234950 h 234950"/>
              <a:gd name="connsiteX1" fmla="*/ 3994150 w 3994150"/>
              <a:gd name="connsiteY1" fmla="*/ 234950 h 234950"/>
              <a:gd name="connsiteX2" fmla="*/ 3759200 w 3994150"/>
              <a:gd name="connsiteY2" fmla="*/ 0 h 234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994150" h="234950">
                <a:moveTo>
                  <a:pt x="0" y="234950"/>
                </a:moveTo>
                <a:lnTo>
                  <a:pt x="3994150" y="234950"/>
                </a:lnTo>
                <a:lnTo>
                  <a:pt x="3759200" y="0"/>
                </a:lnTo>
              </a:path>
            </a:pathLst>
          </a:custGeom>
          <a:noFill/>
          <a:ln w="38100" cap="rnd">
            <a:solidFill>
              <a:schemeClr val="tx2">
                <a:lumMod val="20000"/>
                <a:lumOff val="8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C767866-6720-E51F-B6C2-6D9B75C6C865}"/>
              </a:ext>
            </a:extLst>
          </p:cNvPr>
          <p:cNvSpPr/>
          <p:nvPr/>
        </p:nvSpPr>
        <p:spPr>
          <a:xfrm>
            <a:off x="1227725" y="2129393"/>
            <a:ext cx="1918472" cy="1079833"/>
          </a:xfrm>
          <a:prstGeom prst="roundRect">
            <a:avLst/>
          </a:prstGeom>
          <a:solidFill>
            <a:schemeClr val="bg1">
              <a:lumMod val="75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イメージ</a:t>
            </a:r>
          </a:p>
        </p:txBody>
      </p:sp>
      <p:sp>
        <p:nvSpPr>
          <p:cNvPr id="3" name="四角形: 角を丸くする 2">
            <a:extLst>
              <a:ext uri="{FF2B5EF4-FFF2-40B4-BE49-F238E27FC236}">
                <a16:creationId xmlns:a16="http://schemas.microsoft.com/office/drawing/2014/main" id="{6C7971A9-973F-F1FD-04DE-877784B3B2A7}"/>
              </a:ext>
            </a:extLst>
          </p:cNvPr>
          <p:cNvSpPr/>
          <p:nvPr/>
        </p:nvSpPr>
        <p:spPr>
          <a:xfrm>
            <a:off x="9084879" y="2129393"/>
            <a:ext cx="1918472" cy="1079833"/>
          </a:xfrm>
          <a:prstGeom prst="roundRect">
            <a:avLst/>
          </a:prstGeom>
          <a:solidFill>
            <a:schemeClr val="bg1">
              <a:lumMod val="75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イメージ</a:t>
            </a:r>
          </a:p>
        </p:txBody>
      </p:sp>
    </p:spTree>
    <p:extLst>
      <p:ext uri="{BB962C8B-B14F-4D97-AF65-F5344CB8AC3E}">
        <p14:creationId xmlns:p14="http://schemas.microsoft.com/office/powerpoint/2010/main" val="2556050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B325B2-11AF-C3DD-D0D8-9A2EF4B3B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四角形: 上の 2 つの角を丸める 6">
            <a:extLst>
              <a:ext uri="{FF2B5EF4-FFF2-40B4-BE49-F238E27FC236}">
                <a16:creationId xmlns:a16="http://schemas.microsoft.com/office/drawing/2014/main" id="{073F32C5-DFFE-8437-2DE2-60F3B0A75101}"/>
              </a:ext>
            </a:extLst>
          </p:cNvPr>
          <p:cNvSpPr/>
          <p:nvPr/>
        </p:nvSpPr>
        <p:spPr>
          <a:xfrm>
            <a:off x="4892778" y="1988840"/>
            <a:ext cx="2402450" cy="43204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95000"/>
            </a:schemeClr>
          </a:solidFill>
          <a:ln w="76200" cap="rnd">
            <a:gradFill flip="none" rotWithShape="1">
              <a:gsLst>
                <a:gs pos="0">
                  <a:schemeClr val="tx2">
                    <a:lumMod val="50000"/>
                  </a:schemeClr>
                </a:gs>
                <a:gs pos="100000">
                  <a:schemeClr val="tx2"/>
                </a:gs>
              </a:gsLst>
              <a:lin ang="0" scaled="1"/>
              <a:tileRect/>
            </a:gra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tIns="252000" bIns="252000" rtlCol="0" anchor="t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2000" dirty="0">
                <a:solidFill>
                  <a:schemeClr val="tx1"/>
                </a:solidFill>
              </a:rPr>
              <a:t>効率的な</a:t>
            </a:r>
            <a:br>
              <a:rPr kumimoji="1" lang="en-US" altLang="ja-JP" sz="2000" dirty="0">
                <a:solidFill>
                  <a:schemeClr val="tx1"/>
                </a:solidFill>
              </a:rPr>
            </a:br>
            <a:r>
              <a:rPr kumimoji="1" lang="ja-JP" altLang="en-US" sz="2800" dirty="0">
                <a:solidFill>
                  <a:schemeClr val="tx1"/>
                </a:solidFill>
              </a:rPr>
              <a:t>施策立案</a:t>
            </a:r>
          </a:p>
        </p:txBody>
      </p:sp>
      <p:sp>
        <p:nvSpPr>
          <p:cNvPr id="13" name="矢印: 五方向 12">
            <a:extLst>
              <a:ext uri="{FF2B5EF4-FFF2-40B4-BE49-F238E27FC236}">
                <a16:creationId xmlns:a16="http://schemas.microsoft.com/office/drawing/2014/main" id="{FA877B34-8C9E-E752-8238-F9896A228DC1}"/>
              </a:ext>
            </a:extLst>
          </p:cNvPr>
          <p:cNvSpPr/>
          <p:nvPr/>
        </p:nvSpPr>
        <p:spPr>
          <a:xfrm flipH="1">
            <a:off x="6853226" y="2852936"/>
            <a:ext cx="1872208" cy="720080"/>
          </a:xfrm>
          <a:prstGeom prst="homePlate">
            <a:avLst/>
          </a:prstGeom>
          <a:gradFill flip="none" rotWithShape="1">
            <a:gsLst>
              <a:gs pos="0">
                <a:schemeClr val="tx2">
                  <a:alpha val="0"/>
                </a:schemeClr>
              </a:gs>
              <a:gs pos="100000">
                <a:schemeClr val="tx2"/>
              </a:gs>
            </a:gsLst>
            <a:lin ang="0" scaled="1"/>
            <a:tileRect/>
          </a:gra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1" name="矢印: 五方向 10">
            <a:extLst>
              <a:ext uri="{FF2B5EF4-FFF2-40B4-BE49-F238E27FC236}">
                <a16:creationId xmlns:a16="http://schemas.microsoft.com/office/drawing/2014/main" id="{4CBAE732-7343-28B7-5B34-89AD3AA7AD6F}"/>
              </a:ext>
            </a:extLst>
          </p:cNvPr>
          <p:cNvSpPr/>
          <p:nvPr/>
        </p:nvSpPr>
        <p:spPr>
          <a:xfrm>
            <a:off x="3466501" y="2852936"/>
            <a:ext cx="1872208" cy="720080"/>
          </a:xfrm>
          <a:prstGeom prst="homePlate">
            <a:avLst/>
          </a:prstGeom>
          <a:gradFill flip="none" rotWithShape="1">
            <a:gsLst>
              <a:gs pos="0">
                <a:schemeClr val="tx2">
                  <a:lumMod val="50000"/>
                  <a:alpha val="0"/>
                </a:schemeClr>
              </a:gs>
              <a:gs pos="100000">
                <a:schemeClr val="tx2">
                  <a:lumMod val="50000"/>
                </a:schemeClr>
              </a:gs>
            </a:gsLst>
            <a:lin ang="0" scaled="1"/>
            <a:tileRect/>
          </a:gra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6" name="タイトル 5">
            <a:extLst>
              <a:ext uri="{FF2B5EF4-FFF2-40B4-BE49-F238E27FC236}">
                <a16:creationId xmlns:a16="http://schemas.microsoft.com/office/drawing/2014/main" id="{9275300A-158D-2E2D-6D59-86562FBB5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当社成長の要諦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7567AFC-06D4-66EF-1BD1-87302C03CAAA}"/>
              </a:ext>
            </a:extLst>
          </p:cNvPr>
          <p:cNvSpPr txBox="1"/>
          <p:nvPr/>
        </p:nvSpPr>
        <p:spPr>
          <a:xfrm>
            <a:off x="334963" y="620713"/>
            <a:ext cx="11449671" cy="952890"/>
          </a:xfrm>
          <a:prstGeom prst="rect">
            <a:avLst/>
          </a:prstGeom>
          <a:noFill/>
          <a:ln w="19050">
            <a:solidFill>
              <a:schemeClr val="bg1">
                <a:lumMod val="85000"/>
              </a:schemeClr>
            </a:solidFill>
          </a:ln>
        </p:spPr>
        <p:txBody>
          <a:bodyPr wrap="square" rtlCol="0">
            <a:spAutoFit/>
          </a:bodyPr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600" dirty="0">
                <a:solidFill>
                  <a:schemeClr val="tx2"/>
                </a:solidFill>
                <a:latin typeface="+mn-ea"/>
              </a:rPr>
              <a:t>POINT</a:t>
            </a:r>
            <a:br>
              <a:rPr kumimoji="1" lang="en-US" altLang="ja-JP" sz="1600" dirty="0">
                <a:latin typeface="+mn-ea"/>
              </a:rPr>
            </a:br>
            <a:r>
              <a:rPr kumimoji="1" lang="ja-JP" altLang="en-US" sz="1600" dirty="0">
                <a:latin typeface="+mn-ea"/>
              </a:rPr>
              <a:t>提案～運用改善まで専任の担当者が対応させていただきます。</a:t>
            </a:r>
            <a:br>
              <a:rPr kumimoji="1" lang="en-US" altLang="ja-JP" sz="1600" dirty="0">
                <a:latin typeface="+mn-ea"/>
              </a:rPr>
            </a:br>
            <a:r>
              <a:rPr kumimoji="1" lang="ja-JP" altLang="en-US" sz="1600" dirty="0">
                <a:latin typeface="+mn-ea"/>
              </a:rPr>
              <a:t>技術面の</a:t>
            </a:r>
            <a:r>
              <a:rPr kumimoji="1" lang="en-US" altLang="ja-JP" sz="1600" dirty="0">
                <a:latin typeface="+mn-ea"/>
              </a:rPr>
              <a:t>QA</a:t>
            </a:r>
            <a:r>
              <a:rPr kumimoji="1" lang="ja-JP" altLang="en-US" sz="1600" dirty="0">
                <a:latin typeface="+mn-ea"/>
              </a:rPr>
              <a:t>などもお問合せください！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A932C3D1-3BAE-AA76-8E38-8CDF6631FBFF}"/>
              </a:ext>
            </a:extLst>
          </p:cNvPr>
          <p:cNvSpPr/>
          <p:nvPr/>
        </p:nvSpPr>
        <p:spPr>
          <a:xfrm>
            <a:off x="407368" y="1789652"/>
            <a:ext cx="4255018" cy="4591676"/>
          </a:xfrm>
          <a:prstGeom prst="roundRect">
            <a:avLst>
              <a:gd name="adj" fmla="val 5398"/>
            </a:avLst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57150" cap="rnd">
            <a:solidFill>
              <a:schemeClr val="tx2">
                <a:lumMod val="20000"/>
                <a:lumOff val="8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F4720418-6B5B-1AE7-C70A-15F675B6CE1E}"/>
              </a:ext>
            </a:extLst>
          </p:cNvPr>
          <p:cNvSpPr/>
          <p:nvPr/>
        </p:nvSpPr>
        <p:spPr>
          <a:xfrm>
            <a:off x="7529616" y="1789652"/>
            <a:ext cx="4255018" cy="4591676"/>
          </a:xfrm>
          <a:prstGeom prst="roundRect">
            <a:avLst>
              <a:gd name="adj" fmla="val 8468"/>
            </a:avLst>
          </a:prstGeom>
          <a:gradFill>
            <a:gsLst>
              <a:gs pos="0">
                <a:schemeClr val="tx2">
                  <a:lumMod val="20000"/>
                  <a:lumOff val="80000"/>
                </a:schemeClr>
              </a:gs>
              <a:gs pos="100000">
                <a:schemeClr val="tx2">
                  <a:lumMod val="20000"/>
                  <a:lumOff val="80000"/>
                  <a:alpha val="0"/>
                </a:schemeClr>
              </a:gs>
            </a:gsLst>
            <a:lin ang="5400000" scaled="1"/>
          </a:gradFill>
          <a:ln w="57150" cap="rnd">
            <a:solidFill>
              <a:schemeClr val="tx2">
                <a:lumMod val="20000"/>
                <a:lumOff val="8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17F964D5-BEFE-2F74-54ED-42B42FD04BDC}"/>
              </a:ext>
            </a:extLst>
          </p:cNvPr>
          <p:cNvSpPr/>
          <p:nvPr/>
        </p:nvSpPr>
        <p:spPr>
          <a:xfrm>
            <a:off x="713075" y="1988840"/>
            <a:ext cx="3643605" cy="523695"/>
          </a:xfrm>
          <a:prstGeom prst="roundRect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2000" dirty="0">
                <a:solidFill>
                  <a:schemeClr val="bg1"/>
                </a:solidFill>
              </a:rPr>
              <a:t>多様なデータソース</a:t>
            </a:r>
            <a:endParaRPr kumimoji="1" lang="en-US" altLang="ja-JP" sz="2000" dirty="0">
              <a:solidFill>
                <a:schemeClr val="bg1"/>
              </a:solidFill>
            </a:endParaRPr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773E6F25-4E69-E719-39D1-24C79BAAEDE6}"/>
              </a:ext>
            </a:extLst>
          </p:cNvPr>
          <p:cNvSpPr/>
          <p:nvPr/>
        </p:nvSpPr>
        <p:spPr>
          <a:xfrm>
            <a:off x="7835320" y="1988840"/>
            <a:ext cx="3643605" cy="523695"/>
          </a:xfrm>
          <a:prstGeom prst="roundRect">
            <a:avLst>
              <a:gd name="adj" fmla="val 50000"/>
            </a:avLst>
          </a:prstGeom>
          <a:solidFill>
            <a:schemeClr val="tx2"/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2000" dirty="0">
                <a:solidFill>
                  <a:schemeClr val="bg1"/>
                </a:solidFill>
              </a:rPr>
              <a:t>多角的な分析モデル</a:t>
            </a:r>
          </a:p>
        </p:txBody>
      </p:sp>
      <p:sp>
        <p:nvSpPr>
          <p:cNvPr id="18" name="円柱 17">
            <a:extLst>
              <a:ext uri="{FF2B5EF4-FFF2-40B4-BE49-F238E27FC236}">
                <a16:creationId xmlns:a16="http://schemas.microsoft.com/office/drawing/2014/main" id="{4839F8FC-2FF6-9977-91C6-BEE17DE3892D}"/>
              </a:ext>
            </a:extLst>
          </p:cNvPr>
          <p:cNvSpPr/>
          <p:nvPr/>
        </p:nvSpPr>
        <p:spPr>
          <a:xfrm>
            <a:off x="713075" y="2852936"/>
            <a:ext cx="1048763" cy="720080"/>
          </a:xfrm>
          <a:prstGeom prst="can">
            <a:avLst/>
          </a:prstGeom>
          <a:solidFill>
            <a:schemeClr val="tx2">
              <a:lumMod val="50000"/>
            </a:schemeClr>
          </a:solidFill>
          <a:ln w="19050" cap="rnd">
            <a:solidFill>
              <a:schemeClr val="bg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9" name="円柱 18">
            <a:extLst>
              <a:ext uri="{FF2B5EF4-FFF2-40B4-BE49-F238E27FC236}">
                <a16:creationId xmlns:a16="http://schemas.microsoft.com/office/drawing/2014/main" id="{F151FEDA-16E4-5287-13BB-6572644855CC}"/>
              </a:ext>
            </a:extLst>
          </p:cNvPr>
          <p:cNvSpPr/>
          <p:nvPr/>
        </p:nvSpPr>
        <p:spPr>
          <a:xfrm>
            <a:off x="2010496" y="2852936"/>
            <a:ext cx="1048763" cy="720080"/>
          </a:xfrm>
          <a:prstGeom prst="can">
            <a:avLst/>
          </a:prstGeom>
          <a:solidFill>
            <a:schemeClr val="tx2">
              <a:lumMod val="50000"/>
            </a:schemeClr>
          </a:solidFill>
          <a:ln w="19050" cap="rnd">
            <a:solidFill>
              <a:schemeClr val="bg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20" name="円柱 19">
            <a:extLst>
              <a:ext uri="{FF2B5EF4-FFF2-40B4-BE49-F238E27FC236}">
                <a16:creationId xmlns:a16="http://schemas.microsoft.com/office/drawing/2014/main" id="{6CA9BF05-C1BC-CC5C-DC27-F20AD5B6FB9F}"/>
              </a:ext>
            </a:extLst>
          </p:cNvPr>
          <p:cNvSpPr/>
          <p:nvPr/>
        </p:nvSpPr>
        <p:spPr>
          <a:xfrm>
            <a:off x="3307917" y="2852936"/>
            <a:ext cx="1048763" cy="720080"/>
          </a:xfrm>
          <a:prstGeom prst="can">
            <a:avLst/>
          </a:prstGeom>
          <a:solidFill>
            <a:schemeClr val="tx2">
              <a:lumMod val="50000"/>
            </a:schemeClr>
          </a:solidFill>
          <a:ln w="19050" cap="rnd">
            <a:solidFill>
              <a:schemeClr val="bg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41" name="四角形: 角を丸くする 40">
            <a:extLst>
              <a:ext uri="{FF2B5EF4-FFF2-40B4-BE49-F238E27FC236}">
                <a16:creationId xmlns:a16="http://schemas.microsoft.com/office/drawing/2014/main" id="{6C8C664A-6925-34E0-67EC-42EE447C1763}"/>
              </a:ext>
            </a:extLst>
          </p:cNvPr>
          <p:cNvSpPr/>
          <p:nvPr/>
        </p:nvSpPr>
        <p:spPr>
          <a:xfrm>
            <a:off x="713074" y="5518703"/>
            <a:ext cx="3643605" cy="6546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rnd">
            <a:solidFill>
              <a:schemeClr val="tx2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800" dirty="0">
                <a:solidFill>
                  <a:schemeClr val="tx1"/>
                </a:solidFill>
              </a:rPr>
              <a:t>３</a:t>
            </a:r>
            <a:r>
              <a:rPr kumimoji="1" lang="en-US" altLang="ja-JP" sz="1800" dirty="0" err="1">
                <a:solidFill>
                  <a:schemeClr val="tx1"/>
                </a:solidFill>
              </a:rPr>
              <a:t>rdParty</a:t>
            </a:r>
            <a:r>
              <a:rPr kumimoji="1" lang="ja-JP" altLang="en-US" sz="1800" dirty="0">
                <a:solidFill>
                  <a:schemeClr val="tx1"/>
                </a:solidFill>
              </a:rPr>
              <a:t>データ</a:t>
            </a:r>
          </a:p>
        </p:txBody>
      </p:sp>
      <p:cxnSp>
        <p:nvCxnSpPr>
          <p:cNvPr id="53" name="直線矢印コネクタ 52">
            <a:extLst>
              <a:ext uri="{FF2B5EF4-FFF2-40B4-BE49-F238E27FC236}">
                <a16:creationId xmlns:a16="http://schemas.microsoft.com/office/drawing/2014/main" id="{36EC000A-9E0F-04F1-A6B8-60DEA1CE8243}"/>
              </a:ext>
            </a:extLst>
          </p:cNvPr>
          <p:cNvCxnSpPr>
            <a:endCxn id="18" idx="3"/>
          </p:cNvCxnSpPr>
          <p:nvPr/>
        </p:nvCxnSpPr>
        <p:spPr>
          <a:xfrm flipV="1">
            <a:off x="1199456" y="3573016"/>
            <a:ext cx="0" cy="301733"/>
          </a:xfrm>
          <a:prstGeom prst="straightConnector1">
            <a:avLst/>
          </a:prstGeom>
          <a:ln w="19050" cap="rnd">
            <a:solidFill>
              <a:schemeClr val="tx2">
                <a:lumMod val="50000"/>
              </a:schemeClr>
            </a:solidFill>
            <a:prstDash val="sysDash"/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矢印コネクタ 53">
            <a:extLst>
              <a:ext uri="{FF2B5EF4-FFF2-40B4-BE49-F238E27FC236}">
                <a16:creationId xmlns:a16="http://schemas.microsoft.com/office/drawing/2014/main" id="{6A2707C2-31B6-FB45-5399-61652E4E4F40}"/>
              </a:ext>
            </a:extLst>
          </p:cNvPr>
          <p:cNvCxnSpPr>
            <a:cxnSpLocks/>
            <a:stCxn id="39" idx="0"/>
            <a:endCxn id="19" idx="3"/>
          </p:cNvCxnSpPr>
          <p:nvPr/>
        </p:nvCxnSpPr>
        <p:spPr>
          <a:xfrm flipV="1">
            <a:off x="2534877" y="3573016"/>
            <a:ext cx="1" cy="1123710"/>
          </a:xfrm>
          <a:prstGeom prst="straightConnector1">
            <a:avLst/>
          </a:prstGeom>
          <a:ln w="19050" cap="rnd">
            <a:solidFill>
              <a:schemeClr val="tx2">
                <a:lumMod val="50000"/>
              </a:schemeClr>
            </a:solidFill>
            <a:prstDash val="sysDash"/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線矢印コネクタ 56">
            <a:extLst>
              <a:ext uri="{FF2B5EF4-FFF2-40B4-BE49-F238E27FC236}">
                <a16:creationId xmlns:a16="http://schemas.microsoft.com/office/drawing/2014/main" id="{2AD4325C-0582-0243-808E-5DC9578D9D9B}"/>
              </a:ext>
            </a:extLst>
          </p:cNvPr>
          <p:cNvCxnSpPr>
            <a:cxnSpLocks/>
            <a:endCxn id="20" idx="3"/>
          </p:cNvCxnSpPr>
          <p:nvPr/>
        </p:nvCxnSpPr>
        <p:spPr>
          <a:xfrm flipV="1">
            <a:off x="3832299" y="3573016"/>
            <a:ext cx="0" cy="1945687"/>
          </a:xfrm>
          <a:prstGeom prst="straightConnector1">
            <a:avLst/>
          </a:prstGeom>
          <a:ln w="19050" cap="rnd">
            <a:solidFill>
              <a:schemeClr val="tx2">
                <a:lumMod val="50000"/>
              </a:schemeClr>
            </a:solidFill>
            <a:prstDash val="sysDash"/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四角形: 角を丸くする 23">
            <a:extLst>
              <a:ext uri="{FF2B5EF4-FFF2-40B4-BE49-F238E27FC236}">
                <a16:creationId xmlns:a16="http://schemas.microsoft.com/office/drawing/2014/main" id="{7856F2C1-C84E-11F8-33F4-78581DF994C9}"/>
              </a:ext>
            </a:extLst>
          </p:cNvPr>
          <p:cNvSpPr/>
          <p:nvPr/>
        </p:nvSpPr>
        <p:spPr>
          <a:xfrm>
            <a:off x="713074" y="3874749"/>
            <a:ext cx="3643605" cy="6546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rnd">
            <a:solidFill>
              <a:schemeClr val="tx2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800" dirty="0">
                <a:solidFill>
                  <a:schemeClr val="tx1"/>
                </a:solidFill>
              </a:rPr>
              <a:t>自社で取得したデータ</a:t>
            </a:r>
          </a:p>
        </p:txBody>
      </p:sp>
      <p:sp>
        <p:nvSpPr>
          <p:cNvPr id="39" name="四角形: 角を丸くする 38">
            <a:extLst>
              <a:ext uri="{FF2B5EF4-FFF2-40B4-BE49-F238E27FC236}">
                <a16:creationId xmlns:a16="http://schemas.microsoft.com/office/drawing/2014/main" id="{166B48E2-9727-CD41-D423-CF72E797557C}"/>
              </a:ext>
            </a:extLst>
          </p:cNvPr>
          <p:cNvSpPr/>
          <p:nvPr/>
        </p:nvSpPr>
        <p:spPr>
          <a:xfrm>
            <a:off x="713074" y="4696726"/>
            <a:ext cx="3643605" cy="6546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rnd">
            <a:solidFill>
              <a:schemeClr val="tx2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800" dirty="0">
                <a:solidFill>
                  <a:schemeClr val="tx1"/>
                </a:solidFill>
              </a:rPr>
              <a:t>パブリックデータ</a:t>
            </a:r>
          </a:p>
        </p:txBody>
      </p:sp>
      <p:cxnSp>
        <p:nvCxnSpPr>
          <p:cNvPr id="70" name="直線矢印コネクタ 69">
            <a:extLst>
              <a:ext uri="{FF2B5EF4-FFF2-40B4-BE49-F238E27FC236}">
                <a16:creationId xmlns:a16="http://schemas.microsoft.com/office/drawing/2014/main" id="{CFE52D68-0DC2-64B4-3EAF-E928BF3D906F}"/>
              </a:ext>
            </a:extLst>
          </p:cNvPr>
          <p:cNvCxnSpPr/>
          <p:nvPr/>
        </p:nvCxnSpPr>
        <p:spPr>
          <a:xfrm flipV="1">
            <a:off x="8359701" y="3573016"/>
            <a:ext cx="0" cy="301733"/>
          </a:xfrm>
          <a:prstGeom prst="straightConnector1">
            <a:avLst/>
          </a:prstGeom>
          <a:ln w="19050" cap="rnd">
            <a:solidFill>
              <a:schemeClr val="tx2"/>
            </a:solidFill>
            <a:prstDash val="sysDash"/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線矢印コネクタ 70">
            <a:extLst>
              <a:ext uri="{FF2B5EF4-FFF2-40B4-BE49-F238E27FC236}">
                <a16:creationId xmlns:a16="http://schemas.microsoft.com/office/drawing/2014/main" id="{1F8A1451-C6FE-0B90-6AC8-754F557E9D58}"/>
              </a:ext>
            </a:extLst>
          </p:cNvPr>
          <p:cNvCxnSpPr>
            <a:cxnSpLocks/>
          </p:cNvCxnSpPr>
          <p:nvPr/>
        </p:nvCxnSpPr>
        <p:spPr>
          <a:xfrm flipV="1">
            <a:off x="9695122" y="3573016"/>
            <a:ext cx="1" cy="1123710"/>
          </a:xfrm>
          <a:prstGeom prst="straightConnector1">
            <a:avLst/>
          </a:prstGeom>
          <a:ln w="19050" cap="rnd">
            <a:solidFill>
              <a:schemeClr val="tx2"/>
            </a:solidFill>
            <a:prstDash val="sysDash"/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3FFA3EF2-2A75-FA7C-E57A-6094EFFEBAFD}"/>
              </a:ext>
            </a:extLst>
          </p:cNvPr>
          <p:cNvCxnSpPr>
            <a:cxnSpLocks/>
          </p:cNvCxnSpPr>
          <p:nvPr/>
        </p:nvCxnSpPr>
        <p:spPr>
          <a:xfrm flipV="1">
            <a:off x="10992544" y="3573016"/>
            <a:ext cx="0" cy="1945687"/>
          </a:xfrm>
          <a:prstGeom prst="straightConnector1">
            <a:avLst/>
          </a:prstGeom>
          <a:ln w="19050" cap="rnd">
            <a:solidFill>
              <a:schemeClr val="tx2"/>
            </a:solidFill>
            <a:prstDash val="sysDash"/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四角形: 角を丸くする 66">
            <a:extLst>
              <a:ext uri="{FF2B5EF4-FFF2-40B4-BE49-F238E27FC236}">
                <a16:creationId xmlns:a16="http://schemas.microsoft.com/office/drawing/2014/main" id="{1F9CBB08-6E09-DC84-595E-F332E07A03C2}"/>
              </a:ext>
            </a:extLst>
          </p:cNvPr>
          <p:cNvSpPr/>
          <p:nvPr/>
        </p:nvSpPr>
        <p:spPr>
          <a:xfrm>
            <a:off x="7835320" y="5518703"/>
            <a:ext cx="3643605" cy="6546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rnd">
            <a:solidFill>
              <a:schemeClr val="tx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800" dirty="0">
                <a:solidFill>
                  <a:schemeClr val="tx1"/>
                </a:solidFill>
              </a:rPr>
              <a:t>仕入れ分析</a:t>
            </a:r>
          </a:p>
        </p:txBody>
      </p:sp>
      <p:sp>
        <p:nvSpPr>
          <p:cNvPr id="68" name="四角形: 角を丸くする 67">
            <a:extLst>
              <a:ext uri="{FF2B5EF4-FFF2-40B4-BE49-F238E27FC236}">
                <a16:creationId xmlns:a16="http://schemas.microsoft.com/office/drawing/2014/main" id="{65A835A8-56FD-9AD6-6E69-451472FBF6BC}"/>
              </a:ext>
            </a:extLst>
          </p:cNvPr>
          <p:cNvSpPr/>
          <p:nvPr/>
        </p:nvSpPr>
        <p:spPr>
          <a:xfrm>
            <a:off x="7835320" y="3874749"/>
            <a:ext cx="3643605" cy="6546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rnd">
            <a:solidFill>
              <a:schemeClr val="tx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800" dirty="0">
                <a:solidFill>
                  <a:schemeClr val="tx1"/>
                </a:solidFill>
              </a:rPr>
              <a:t>購買予測分析</a:t>
            </a:r>
          </a:p>
        </p:txBody>
      </p:sp>
      <p:sp>
        <p:nvSpPr>
          <p:cNvPr id="69" name="四角形: 角を丸くする 68">
            <a:extLst>
              <a:ext uri="{FF2B5EF4-FFF2-40B4-BE49-F238E27FC236}">
                <a16:creationId xmlns:a16="http://schemas.microsoft.com/office/drawing/2014/main" id="{F8037085-7912-C9F8-5E89-14760C398352}"/>
              </a:ext>
            </a:extLst>
          </p:cNvPr>
          <p:cNvSpPr/>
          <p:nvPr/>
        </p:nvSpPr>
        <p:spPr>
          <a:xfrm>
            <a:off x="7835320" y="4696726"/>
            <a:ext cx="3643605" cy="654618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19050" cap="rnd">
            <a:solidFill>
              <a:schemeClr val="tx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800" dirty="0">
                <a:solidFill>
                  <a:schemeClr val="tx1"/>
                </a:solidFill>
              </a:rPr>
              <a:t>来客分析</a:t>
            </a:r>
          </a:p>
        </p:txBody>
      </p:sp>
      <p:sp>
        <p:nvSpPr>
          <p:cNvPr id="8" name="四角形: 角を丸くする 7">
            <a:extLst>
              <a:ext uri="{FF2B5EF4-FFF2-40B4-BE49-F238E27FC236}">
                <a16:creationId xmlns:a16="http://schemas.microsoft.com/office/drawing/2014/main" id="{4EAE972B-6BEC-1629-6720-B2199BABEE88}"/>
              </a:ext>
            </a:extLst>
          </p:cNvPr>
          <p:cNvSpPr/>
          <p:nvPr/>
        </p:nvSpPr>
        <p:spPr>
          <a:xfrm>
            <a:off x="5020035" y="3874749"/>
            <a:ext cx="2147936" cy="65461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広告戦略</a:t>
            </a:r>
          </a:p>
        </p:txBody>
      </p:sp>
      <p:sp>
        <p:nvSpPr>
          <p:cNvPr id="9" name="四角形: 角を丸くする 8">
            <a:extLst>
              <a:ext uri="{FF2B5EF4-FFF2-40B4-BE49-F238E27FC236}">
                <a16:creationId xmlns:a16="http://schemas.microsoft.com/office/drawing/2014/main" id="{FEEB5062-D756-78D5-3640-7B093A60FEBD}"/>
              </a:ext>
            </a:extLst>
          </p:cNvPr>
          <p:cNvSpPr/>
          <p:nvPr/>
        </p:nvSpPr>
        <p:spPr>
          <a:xfrm>
            <a:off x="5020035" y="4696726"/>
            <a:ext cx="2147936" cy="65461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販促施策</a:t>
            </a:r>
          </a:p>
        </p:txBody>
      </p:sp>
      <p:sp>
        <p:nvSpPr>
          <p:cNvPr id="12" name="四角形: 角を丸くする 11">
            <a:extLst>
              <a:ext uri="{FF2B5EF4-FFF2-40B4-BE49-F238E27FC236}">
                <a16:creationId xmlns:a16="http://schemas.microsoft.com/office/drawing/2014/main" id="{5D4A9BA2-7D6F-E074-60A5-B0E8A814C565}"/>
              </a:ext>
            </a:extLst>
          </p:cNvPr>
          <p:cNvSpPr/>
          <p:nvPr/>
        </p:nvSpPr>
        <p:spPr>
          <a:xfrm>
            <a:off x="5020035" y="5518703"/>
            <a:ext cx="2147936" cy="65461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顧客育成戦略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A71F6A18-66BD-8963-7A1B-A4D6EC38392E}"/>
              </a:ext>
            </a:extLst>
          </p:cNvPr>
          <p:cNvSpPr/>
          <p:nvPr/>
        </p:nvSpPr>
        <p:spPr>
          <a:xfrm>
            <a:off x="8000585" y="2749715"/>
            <a:ext cx="3279985" cy="805809"/>
          </a:xfrm>
          <a:prstGeom prst="roundRect">
            <a:avLst/>
          </a:prstGeom>
          <a:solidFill>
            <a:schemeClr val="bg1">
              <a:lumMod val="75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イメージ</a:t>
            </a:r>
          </a:p>
        </p:txBody>
      </p:sp>
    </p:spTree>
    <p:extLst>
      <p:ext uri="{BB962C8B-B14F-4D97-AF65-F5344CB8AC3E}">
        <p14:creationId xmlns:p14="http://schemas.microsoft.com/office/powerpoint/2010/main" val="2832727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D4B9B-CEDB-7C44-682B-ABC66D0FD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>
            <a:extLst>
              <a:ext uri="{FF2B5EF4-FFF2-40B4-BE49-F238E27FC236}">
                <a16:creationId xmlns:a16="http://schemas.microsoft.com/office/drawing/2014/main" id="{4A59AA64-9F54-AEA9-B435-524B8D0F0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コンサルティング</a:t>
            </a:r>
            <a:r>
              <a:rPr lang="en-US" altLang="ja-JP" dirty="0"/>
              <a:t>×</a:t>
            </a:r>
            <a:r>
              <a:rPr lang="ja-JP" altLang="en-US" dirty="0"/>
              <a:t>ソリューションビジネス　シナジー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5C727B3F-EE14-3652-9A0D-AA03B761D02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3961EFDE-8EF1-B979-C065-2BF1B49E587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マーケティング施策に頼らず、コンサルティング⇔ソリューションの双方向で顧客基盤が拡大するモデルを確立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29A04052-053A-1B6E-B1C0-AA3D9DC50160}"/>
              </a:ext>
            </a:extLst>
          </p:cNvPr>
          <p:cNvSpPr/>
          <p:nvPr/>
        </p:nvSpPr>
        <p:spPr>
          <a:xfrm>
            <a:off x="0" y="460134"/>
            <a:ext cx="12192000" cy="1037564"/>
          </a:xfrm>
          <a:prstGeom prst="rect">
            <a:avLst/>
          </a:prstGeom>
          <a:noFill/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1DA76E44-EC8C-EE15-ADC2-6F9B90C78171}"/>
              </a:ext>
            </a:extLst>
          </p:cNvPr>
          <p:cNvSpPr/>
          <p:nvPr/>
        </p:nvSpPr>
        <p:spPr>
          <a:xfrm>
            <a:off x="839416" y="3301522"/>
            <a:ext cx="10513168" cy="3096344"/>
          </a:xfrm>
          <a:prstGeom prst="rect">
            <a:avLst/>
          </a:prstGeom>
          <a:solidFill>
            <a:schemeClr val="bg1">
              <a:lumMod val="95000"/>
            </a:schemeClr>
          </a:solidFill>
          <a:ln w="38100"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t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tx1"/>
                </a:solidFill>
              </a:rPr>
              <a:t>法人向けサービス事業</a:t>
            </a:r>
          </a:p>
        </p:txBody>
      </p: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35D068F6-1E43-DE93-39C4-DEFA6FF76BCE}"/>
              </a:ext>
            </a:extLst>
          </p:cNvPr>
          <p:cNvGrpSpPr/>
          <p:nvPr/>
        </p:nvGrpSpPr>
        <p:grpSpPr>
          <a:xfrm>
            <a:off x="1206545" y="3889535"/>
            <a:ext cx="9778911" cy="2341418"/>
            <a:chOff x="1215373" y="2636659"/>
            <a:chExt cx="9778911" cy="2341418"/>
          </a:xfrm>
        </p:grpSpPr>
        <p:grpSp>
          <p:nvGrpSpPr>
            <p:cNvPr id="11" name="グループ化 10">
              <a:extLst>
                <a:ext uri="{FF2B5EF4-FFF2-40B4-BE49-F238E27FC236}">
                  <a16:creationId xmlns:a16="http://schemas.microsoft.com/office/drawing/2014/main" id="{A7E07ABF-078F-58D6-C1BD-7847207C49BD}"/>
                </a:ext>
              </a:extLst>
            </p:cNvPr>
            <p:cNvGrpSpPr/>
            <p:nvPr/>
          </p:nvGrpSpPr>
          <p:grpSpPr>
            <a:xfrm>
              <a:off x="1215373" y="2636912"/>
              <a:ext cx="6480725" cy="2340880"/>
              <a:chOff x="1399556" y="1844824"/>
              <a:chExt cx="6496644" cy="3240360"/>
            </a:xfrm>
            <a:solidFill>
              <a:schemeClr val="bg1"/>
            </a:solidFill>
          </p:grpSpPr>
          <p:sp>
            <p:nvSpPr>
              <p:cNvPr id="4" name="四角形: 角を丸くする 3">
                <a:extLst>
                  <a:ext uri="{FF2B5EF4-FFF2-40B4-BE49-F238E27FC236}">
                    <a16:creationId xmlns:a16="http://schemas.microsoft.com/office/drawing/2014/main" id="{A2FD19C2-C041-AE19-46AB-AD073B08AF14}"/>
                  </a:ext>
                </a:extLst>
              </p:cNvPr>
              <p:cNvSpPr/>
              <p:nvPr/>
            </p:nvSpPr>
            <p:spPr>
              <a:xfrm>
                <a:off x="1399556" y="1844824"/>
                <a:ext cx="3040259" cy="3240360"/>
              </a:xfrm>
              <a:prstGeom prst="roundRect">
                <a:avLst>
                  <a:gd name="adj" fmla="val 0"/>
                </a:avLst>
              </a:prstGeom>
              <a:grpFill/>
              <a:ln w="38100" cap="rnd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lnSpc>
                    <a:spcPct val="120000"/>
                  </a:lnSpc>
                  <a:spcAft>
                    <a:spcPts val="300"/>
                  </a:spcAft>
                </a:pPr>
                <a:r>
                  <a:rPr kumimoji="1" lang="ja-JP" altLang="en-US" dirty="0">
                    <a:solidFill>
                      <a:schemeClr val="tx1"/>
                    </a:solidFill>
                  </a:rPr>
                  <a:t>コンサルティング事業</a:t>
                </a:r>
              </a:p>
            </p:txBody>
          </p:sp>
          <p:sp>
            <p:nvSpPr>
              <p:cNvPr id="5" name="二等辺三角形 4">
                <a:extLst>
                  <a:ext uri="{FF2B5EF4-FFF2-40B4-BE49-F238E27FC236}">
                    <a16:creationId xmlns:a16="http://schemas.microsoft.com/office/drawing/2014/main" id="{8EA00CB0-3AD6-1504-2586-657B1490E043}"/>
                  </a:ext>
                </a:extLst>
              </p:cNvPr>
              <p:cNvSpPr/>
              <p:nvPr/>
            </p:nvSpPr>
            <p:spPr>
              <a:xfrm flipV="1">
                <a:off x="4439816" y="1844824"/>
                <a:ext cx="3456384" cy="3240360"/>
              </a:xfrm>
              <a:prstGeom prst="triangle">
                <a:avLst>
                  <a:gd name="adj" fmla="val 0"/>
                </a:avLst>
              </a:prstGeom>
              <a:grpFill/>
              <a:ln w="38100" cap="rnd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lnSpc>
                    <a:spcPct val="120000"/>
                  </a:lnSpc>
                  <a:spcAft>
                    <a:spcPts val="300"/>
                  </a:spcAft>
                </a:pP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A5B645A2-4823-B29E-0EBF-D77419BBEDBE}"/>
                </a:ext>
              </a:extLst>
            </p:cNvPr>
            <p:cNvGrpSpPr/>
            <p:nvPr/>
          </p:nvGrpSpPr>
          <p:grpSpPr>
            <a:xfrm>
              <a:off x="4511823" y="2636659"/>
              <a:ext cx="6482461" cy="2341418"/>
              <a:chOff x="4696002" y="1844824"/>
              <a:chExt cx="6498384" cy="3241104"/>
            </a:xfrm>
            <a:solidFill>
              <a:schemeClr val="bg1"/>
            </a:solidFill>
          </p:grpSpPr>
          <p:sp>
            <p:nvSpPr>
              <p:cNvPr id="9" name="四角形: 角を丸くする 8">
                <a:extLst>
                  <a:ext uri="{FF2B5EF4-FFF2-40B4-BE49-F238E27FC236}">
                    <a16:creationId xmlns:a16="http://schemas.microsoft.com/office/drawing/2014/main" id="{E924906D-4918-E886-81F4-78E36A1480F9}"/>
                  </a:ext>
                </a:extLst>
              </p:cNvPr>
              <p:cNvSpPr/>
              <p:nvPr/>
            </p:nvSpPr>
            <p:spPr>
              <a:xfrm>
                <a:off x="8152386" y="1844824"/>
                <a:ext cx="3042000" cy="3240360"/>
              </a:xfrm>
              <a:prstGeom prst="roundRect">
                <a:avLst>
                  <a:gd name="adj" fmla="val 0"/>
                </a:avLst>
              </a:prstGeom>
              <a:grpFill/>
              <a:ln w="38100" cap="rnd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lnSpc>
                    <a:spcPct val="120000"/>
                  </a:lnSpc>
                  <a:spcAft>
                    <a:spcPts val="300"/>
                  </a:spcAft>
                </a:pPr>
                <a:r>
                  <a:rPr kumimoji="1" lang="ja-JP" altLang="en-US" dirty="0">
                    <a:solidFill>
                      <a:schemeClr val="tx1"/>
                    </a:solidFill>
                  </a:rPr>
                  <a:t>ソリューション事業</a:t>
                </a:r>
              </a:p>
            </p:txBody>
          </p:sp>
          <p:sp>
            <p:nvSpPr>
              <p:cNvPr id="10" name="二等辺三角形 9">
                <a:extLst>
                  <a:ext uri="{FF2B5EF4-FFF2-40B4-BE49-F238E27FC236}">
                    <a16:creationId xmlns:a16="http://schemas.microsoft.com/office/drawing/2014/main" id="{0CCFE9D9-FC18-91F6-869B-1D52F95C63CD}"/>
                  </a:ext>
                </a:extLst>
              </p:cNvPr>
              <p:cNvSpPr/>
              <p:nvPr/>
            </p:nvSpPr>
            <p:spPr>
              <a:xfrm flipH="1">
                <a:off x="4696002" y="1845568"/>
                <a:ext cx="3456384" cy="3240360"/>
              </a:xfrm>
              <a:prstGeom prst="triangle">
                <a:avLst>
                  <a:gd name="adj" fmla="val 0"/>
                </a:avLst>
              </a:prstGeom>
              <a:grpFill/>
              <a:ln w="38100" cap="rnd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>
                  <a:lnSpc>
                    <a:spcPct val="120000"/>
                  </a:lnSpc>
                  <a:spcAft>
                    <a:spcPts val="300"/>
                  </a:spcAft>
                </a:pPr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7" name="楕円 6">
            <a:extLst>
              <a:ext uri="{FF2B5EF4-FFF2-40B4-BE49-F238E27FC236}">
                <a16:creationId xmlns:a16="http://schemas.microsoft.com/office/drawing/2014/main" id="{828BA519-64AF-5E53-8B0E-F2A4976B572F}"/>
              </a:ext>
            </a:extLst>
          </p:cNvPr>
          <p:cNvSpPr/>
          <p:nvPr/>
        </p:nvSpPr>
        <p:spPr>
          <a:xfrm>
            <a:off x="4482408" y="3399949"/>
            <a:ext cx="3225448" cy="3225448"/>
          </a:xfrm>
          <a:prstGeom prst="ellipse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cap="rnd">
            <a:noFill/>
            <a:round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4BD6B27A-1668-CE2D-14FC-C3116F116ED5}"/>
              </a:ext>
            </a:extLst>
          </p:cNvPr>
          <p:cNvSpPr/>
          <p:nvPr/>
        </p:nvSpPr>
        <p:spPr>
          <a:xfrm>
            <a:off x="4873371" y="3838214"/>
            <a:ext cx="2443521" cy="2443521"/>
          </a:xfrm>
          <a:prstGeom prst="ellipse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F67C40E2-C9A5-B104-95D3-0E710B024552}"/>
              </a:ext>
            </a:extLst>
          </p:cNvPr>
          <p:cNvSpPr/>
          <p:nvPr/>
        </p:nvSpPr>
        <p:spPr>
          <a:xfrm>
            <a:off x="5117615" y="4082458"/>
            <a:ext cx="1955034" cy="1955034"/>
          </a:xfrm>
          <a:prstGeom prst="ellipse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lnSpc>
                <a:spcPct val="120000"/>
              </a:lnSpc>
              <a:spcAft>
                <a:spcPts val="300"/>
              </a:spcAft>
            </a:pPr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965F416A-9870-80FC-983C-5F0F1EB8E85A}"/>
              </a:ext>
            </a:extLst>
          </p:cNvPr>
          <p:cNvSpPr/>
          <p:nvPr/>
        </p:nvSpPr>
        <p:spPr>
          <a:xfrm>
            <a:off x="5362076" y="4326919"/>
            <a:ext cx="1466113" cy="1466113"/>
          </a:xfrm>
          <a:prstGeom prst="ellipse">
            <a:avLst/>
          </a:prstGeom>
          <a:solidFill>
            <a:schemeClr val="bg1"/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2000" dirty="0">
                <a:solidFill>
                  <a:schemeClr val="tx1"/>
                </a:solidFill>
              </a:rPr>
              <a:t>収益増</a:t>
            </a:r>
            <a:br>
              <a:rPr kumimoji="1" lang="en-US" altLang="ja-JP" sz="2000" dirty="0">
                <a:solidFill>
                  <a:schemeClr val="tx1"/>
                </a:solidFill>
              </a:rPr>
            </a:br>
            <a:r>
              <a:rPr kumimoji="1" lang="ja-JP" altLang="en-US" sz="2000" dirty="0">
                <a:solidFill>
                  <a:schemeClr val="tx1"/>
                </a:solidFill>
              </a:rPr>
              <a:t>のループ</a:t>
            </a:r>
          </a:p>
        </p:txBody>
      </p:sp>
      <p:sp>
        <p:nvSpPr>
          <p:cNvPr id="20" name="円弧 19">
            <a:extLst>
              <a:ext uri="{FF2B5EF4-FFF2-40B4-BE49-F238E27FC236}">
                <a16:creationId xmlns:a16="http://schemas.microsoft.com/office/drawing/2014/main" id="{15C9540E-B2AE-524E-61F6-A16AEB267FC5}"/>
              </a:ext>
            </a:extLst>
          </p:cNvPr>
          <p:cNvSpPr/>
          <p:nvPr/>
        </p:nvSpPr>
        <p:spPr>
          <a:xfrm>
            <a:off x="5359998" y="4306499"/>
            <a:ext cx="1465200" cy="1465200"/>
          </a:xfrm>
          <a:prstGeom prst="arc">
            <a:avLst>
              <a:gd name="adj1" fmla="val 8967386"/>
              <a:gd name="adj2" fmla="val 19292589"/>
            </a:avLst>
          </a:prstGeom>
          <a:ln w="31750" cap="rnd">
            <a:solidFill>
              <a:schemeClr val="tx2"/>
            </a:solidFill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3" name="円弧 22">
            <a:extLst>
              <a:ext uri="{FF2B5EF4-FFF2-40B4-BE49-F238E27FC236}">
                <a16:creationId xmlns:a16="http://schemas.microsoft.com/office/drawing/2014/main" id="{F6BCC507-7F0C-203F-5161-AE4454097782}"/>
              </a:ext>
            </a:extLst>
          </p:cNvPr>
          <p:cNvSpPr/>
          <p:nvPr/>
        </p:nvSpPr>
        <p:spPr>
          <a:xfrm flipH="1" flipV="1">
            <a:off x="5362379" y="4318404"/>
            <a:ext cx="1465200" cy="1465200"/>
          </a:xfrm>
          <a:prstGeom prst="arc">
            <a:avLst>
              <a:gd name="adj1" fmla="val 9131337"/>
              <a:gd name="adj2" fmla="val 19194058"/>
            </a:avLst>
          </a:prstGeom>
          <a:ln w="31750" cap="rnd">
            <a:solidFill>
              <a:schemeClr val="tx2"/>
            </a:solidFill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484EA20D-D1C1-37E4-3822-7D5D20CB90FF}"/>
              </a:ext>
            </a:extLst>
          </p:cNvPr>
          <p:cNvSpPr/>
          <p:nvPr/>
        </p:nvSpPr>
        <p:spPr>
          <a:xfrm>
            <a:off x="1513903" y="4383612"/>
            <a:ext cx="2425353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230</a:t>
            </a:r>
            <a:r>
              <a:rPr kumimoji="1" lang="ja-JP" altLang="en-US" sz="1200" dirty="0">
                <a:solidFill>
                  <a:schemeClr val="bg1"/>
                </a:solidFill>
              </a:rPr>
              <a:t>社への支援実績</a:t>
            </a: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97B1B6C1-A4E2-6DF4-5398-A429724A6482}"/>
              </a:ext>
            </a:extLst>
          </p:cNvPr>
          <p:cNvSpPr/>
          <p:nvPr/>
        </p:nvSpPr>
        <p:spPr>
          <a:xfrm>
            <a:off x="1513903" y="4815970"/>
            <a:ext cx="2425353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/>
                </a:solidFill>
              </a:rPr>
              <a:t>支援企業の経営者コミュニティ</a:t>
            </a: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318BF5CE-C5F8-AF2D-83E4-404BD4A20664}"/>
              </a:ext>
            </a:extLst>
          </p:cNvPr>
          <p:cNvSpPr/>
          <p:nvPr/>
        </p:nvSpPr>
        <p:spPr>
          <a:xfrm>
            <a:off x="1513903" y="5248328"/>
            <a:ext cx="2425353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/>
                </a:solidFill>
              </a:rPr>
              <a:t>エンジニアリング力</a:t>
            </a:r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D535A06-B4CD-4846-B515-71793EB282FB}"/>
              </a:ext>
            </a:extLst>
          </p:cNvPr>
          <p:cNvSpPr/>
          <p:nvPr/>
        </p:nvSpPr>
        <p:spPr>
          <a:xfrm>
            <a:off x="1513903" y="5680686"/>
            <a:ext cx="2425353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200" dirty="0">
                <a:solidFill>
                  <a:schemeClr val="bg1"/>
                </a:solidFill>
              </a:rPr>
              <a:t>BPO</a:t>
            </a:r>
            <a:endParaRPr kumimoji="1" lang="ja-JP" altLang="en-US" sz="1200" dirty="0">
              <a:solidFill>
                <a:schemeClr val="bg1"/>
              </a:solidFill>
            </a:endParaRPr>
          </a:p>
        </p:txBody>
      </p:sp>
      <p:sp>
        <p:nvSpPr>
          <p:cNvPr id="30" name="正方形/長方形 29">
            <a:extLst>
              <a:ext uri="{FF2B5EF4-FFF2-40B4-BE49-F238E27FC236}">
                <a16:creationId xmlns:a16="http://schemas.microsoft.com/office/drawing/2014/main" id="{18587FE9-83E7-9B57-0E7D-1DB29FB60DEF}"/>
              </a:ext>
            </a:extLst>
          </p:cNvPr>
          <p:cNvSpPr/>
          <p:nvPr/>
        </p:nvSpPr>
        <p:spPr>
          <a:xfrm>
            <a:off x="8255506" y="4383612"/>
            <a:ext cx="2425353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/>
                </a:solidFill>
              </a:rPr>
              <a:t>海外ソリューションパートナー</a:t>
            </a:r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BAFA3F38-7968-718A-298A-72D394EFDC32}"/>
              </a:ext>
            </a:extLst>
          </p:cNvPr>
          <p:cNvSpPr/>
          <p:nvPr/>
        </p:nvSpPr>
        <p:spPr>
          <a:xfrm>
            <a:off x="8255506" y="4815970"/>
            <a:ext cx="2425353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/>
                </a:solidFill>
              </a:rPr>
              <a:t>カスタマイズ対応力</a:t>
            </a:r>
          </a:p>
        </p:txBody>
      </p:sp>
      <p:sp>
        <p:nvSpPr>
          <p:cNvPr id="34" name="正方形/長方形 33">
            <a:extLst>
              <a:ext uri="{FF2B5EF4-FFF2-40B4-BE49-F238E27FC236}">
                <a16:creationId xmlns:a16="http://schemas.microsoft.com/office/drawing/2014/main" id="{2F278A2B-900D-911F-BACC-752DDB94D1C4}"/>
              </a:ext>
            </a:extLst>
          </p:cNvPr>
          <p:cNvSpPr/>
          <p:nvPr/>
        </p:nvSpPr>
        <p:spPr>
          <a:xfrm>
            <a:off x="8255506" y="5248328"/>
            <a:ext cx="2425353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/>
                </a:solidFill>
              </a:rPr>
              <a:t>大手企業への多数の導入実績</a:t>
            </a: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C9B3B8AF-3774-70C3-AD93-63088A671A6D}"/>
              </a:ext>
            </a:extLst>
          </p:cNvPr>
          <p:cNvSpPr/>
          <p:nvPr/>
        </p:nvSpPr>
        <p:spPr>
          <a:xfrm>
            <a:off x="8255506" y="5680686"/>
            <a:ext cx="2425353" cy="328231"/>
          </a:xfrm>
          <a:prstGeom prst="rect">
            <a:avLst/>
          </a:prstGeom>
          <a:solidFill>
            <a:schemeClr val="tx2">
              <a:lumMod val="50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bg1"/>
                </a:solidFill>
              </a:rPr>
              <a:t>専門領域に特化したタレント</a:t>
            </a:r>
          </a:p>
        </p:txBody>
      </p:sp>
      <p:sp>
        <p:nvSpPr>
          <p:cNvPr id="37" name="矢印: 下 36">
            <a:extLst>
              <a:ext uri="{FF2B5EF4-FFF2-40B4-BE49-F238E27FC236}">
                <a16:creationId xmlns:a16="http://schemas.microsoft.com/office/drawing/2014/main" id="{295582B7-C6F6-B2C0-957F-3DB71DDB213F}"/>
              </a:ext>
            </a:extLst>
          </p:cNvPr>
          <p:cNvSpPr/>
          <p:nvPr/>
        </p:nvSpPr>
        <p:spPr>
          <a:xfrm>
            <a:off x="2954797" y="2661728"/>
            <a:ext cx="697037" cy="1331829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38100" cap="rnd">
            <a:solidFill>
              <a:schemeClr val="bg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tx1"/>
                </a:solidFill>
              </a:rPr>
              <a:t>コンサルティング</a:t>
            </a:r>
            <a:br>
              <a:rPr kumimoji="1" lang="en-US" altLang="ja-JP" sz="1200" dirty="0">
                <a:solidFill>
                  <a:schemeClr val="tx1"/>
                </a:solidFill>
              </a:rPr>
            </a:br>
            <a:r>
              <a:rPr kumimoji="1" lang="ja-JP" altLang="en-US" sz="1200" dirty="0">
                <a:solidFill>
                  <a:schemeClr val="tx1"/>
                </a:solidFill>
              </a:rPr>
              <a:t>フィー</a:t>
            </a:r>
          </a:p>
        </p:txBody>
      </p:sp>
      <p:sp>
        <p:nvSpPr>
          <p:cNvPr id="38" name="矢印: 下 37">
            <a:extLst>
              <a:ext uri="{FF2B5EF4-FFF2-40B4-BE49-F238E27FC236}">
                <a16:creationId xmlns:a16="http://schemas.microsoft.com/office/drawing/2014/main" id="{FED35945-4CEA-A14F-C8CA-28097F71DA10}"/>
              </a:ext>
            </a:extLst>
          </p:cNvPr>
          <p:cNvSpPr/>
          <p:nvPr/>
        </p:nvSpPr>
        <p:spPr>
          <a:xfrm>
            <a:off x="9696400" y="2661728"/>
            <a:ext cx="697037" cy="1331829"/>
          </a:xfrm>
          <a:prstGeom prst="downArrow">
            <a:avLst/>
          </a:prstGeom>
          <a:solidFill>
            <a:schemeClr val="accent4">
              <a:lumMod val="20000"/>
              <a:lumOff val="80000"/>
            </a:schemeClr>
          </a:solidFill>
          <a:ln w="38100" cap="rnd">
            <a:solidFill>
              <a:schemeClr val="bg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tx1"/>
                </a:solidFill>
              </a:rPr>
              <a:t>サービス</a:t>
            </a:r>
            <a:br>
              <a:rPr kumimoji="1" lang="en-US" altLang="ja-JP" sz="1200" dirty="0">
                <a:solidFill>
                  <a:schemeClr val="tx1"/>
                </a:solidFill>
              </a:rPr>
            </a:br>
            <a:r>
              <a:rPr kumimoji="1" lang="ja-JP" altLang="en-US" sz="1200" dirty="0">
                <a:solidFill>
                  <a:schemeClr val="tx1"/>
                </a:solidFill>
              </a:rPr>
              <a:t>利用料</a:t>
            </a:r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48C1468-A946-3633-A0DC-F8FAB9E9F68D}"/>
              </a:ext>
            </a:extLst>
          </p:cNvPr>
          <p:cNvSpPr/>
          <p:nvPr/>
        </p:nvSpPr>
        <p:spPr>
          <a:xfrm>
            <a:off x="839416" y="2013217"/>
            <a:ext cx="10513168" cy="648511"/>
          </a:xfrm>
          <a:prstGeom prst="rect">
            <a:avLst/>
          </a:prstGeom>
          <a:solidFill>
            <a:schemeClr val="bg1"/>
          </a:solidFill>
          <a:ln w="38100" cap="rnd">
            <a:solidFill>
              <a:schemeClr val="bg1">
                <a:lumMod val="85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tx1"/>
                </a:solidFill>
              </a:rPr>
              <a:t>顧客</a:t>
            </a:r>
          </a:p>
        </p:txBody>
      </p:sp>
      <p:sp>
        <p:nvSpPr>
          <p:cNvPr id="39" name="矢印: 上 38">
            <a:extLst>
              <a:ext uri="{FF2B5EF4-FFF2-40B4-BE49-F238E27FC236}">
                <a16:creationId xmlns:a16="http://schemas.microsoft.com/office/drawing/2014/main" id="{322C5FA2-A046-E5AD-573B-1065460AB59C}"/>
              </a:ext>
            </a:extLst>
          </p:cNvPr>
          <p:cNvSpPr/>
          <p:nvPr/>
        </p:nvSpPr>
        <p:spPr>
          <a:xfrm>
            <a:off x="1647131" y="2492896"/>
            <a:ext cx="697037" cy="1331829"/>
          </a:xfrm>
          <a:prstGeom prst="upArrow">
            <a:avLst/>
          </a:prstGeom>
          <a:solidFill>
            <a:schemeClr val="tx2">
              <a:lumMod val="20000"/>
              <a:lumOff val="80000"/>
            </a:schemeClr>
          </a:solidFill>
          <a:ln w="38100" cap="rnd">
            <a:solidFill>
              <a:schemeClr val="bg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tx1"/>
                </a:solidFill>
              </a:rPr>
              <a:t>コンサルティング</a:t>
            </a:r>
          </a:p>
        </p:txBody>
      </p:sp>
      <p:sp>
        <p:nvSpPr>
          <p:cNvPr id="40" name="矢印: 上 39">
            <a:extLst>
              <a:ext uri="{FF2B5EF4-FFF2-40B4-BE49-F238E27FC236}">
                <a16:creationId xmlns:a16="http://schemas.microsoft.com/office/drawing/2014/main" id="{254DB774-B520-E7EA-B949-7BA1ACF5DE76}"/>
              </a:ext>
            </a:extLst>
          </p:cNvPr>
          <p:cNvSpPr/>
          <p:nvPr/>
        </p:nvSpPr>
        <p:spPr>
          <a:xfrm>
            <a:off x="8388734" y="2492896"/>
            <a:ext cx="697037" cy="1331829"/>
          </a:xfrm>
          <a:prstGeom prst="upArrow">
            <a:avLst/>
          </a:prstGeom>
          <a:solidFill>
            <a:schemeClr val="tx2">
              <a:lumMod val="20000"/>
              <a:lumOff val="80000"/>
            </a:schemeClr>
          </a:solidFill>
          <a:ln w="38100" cap="rnd">
            <a:solidFill>
              <a:schemeClr val="bg1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200" dirty="0">
                <a:solidFill>
                  <a:schemeClr val="tx1"/>
                </a:solidFill>
              </a:rPr>
              <a:t>サービス</a:t>
            </a:r>
            <a:br>
              <a:rPr kumimoji="1" lang="en-US" altLang="ja-JP" sz="1200" dirty="0">
                <a:solidFill>
                  <a:schemeClr val="tx1"/>
                </a:solidFill>
              </a:rPr>
            </a:br>
            <a:r>
              <a:rPr kumimoji="1" lang="ja-JP" altLang="en-US" sz="1200" dirty="0">
                <a:solidFill>
                  <a:schemeClr val="tx1"/>
                </a:solidFill>
              </a:rPr>
              <a:t>提供</a:t>
            </a:r>
          </a:p>
        </p:txBody>
      </p:sp>
    </p:spTree>
    <p:extLst>
      <p:ext uri="{BB962C8B-B14F-4D97-AF65-F5344CB8AC3E}">
        <p14:creationId xmlns:p14="http://schemas.microsoft.com/office/powerpoint/2010/main" val="35184963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29BB6-D499-CC97-005B-C8C26DE05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円弧 79">
            <a:extLst>
              <a:ext uri="{FF2B5EF4-FFF2-40B4-BE49-F238E27FC236}">
                <a16:creationId xmlns:a16="http://schemas.microsoft.com/office/drawing/2014/main" id="{11EC5209-5691-8551-E930-A7E757C2A53D}"/>
              </a:ext>
            </a:extLst>
          </p:cNvPr>
          <p:cNvSpPr/>
          <p:nvPr/>
        </p:nvSpPr>
        <p:spPr>
          <a:xfrm>
            <a:off x="3148835" y="990872"/>
            <a:ext cx="5925474" cy="5925474"/>
          </a:xfrm>
          <a:prstGeom prst="arc">
            <a:avLst>
              <a:gd name="adj1" fmla="val 12949687"/>
              <a:gd name="adj2" fmla="val 19462244"/>
            </a:avLst>
          </a:prstGeom>
          <a:ln w="104775" cap="rnd">
            <a:solidFill>
              <a:schemeClr val="tx2">
                <a:lumMod val="20000"/>
                <a:lumOff val="80000"/>
              </a:schemeClr>
            </a:solidFill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81" name="円弧 80">
            <a:extLst>
              <a:ext uri="{FF2B5EF4-FFF2-40B4-BE49-F238E27FC236}">
                <a16:creationId xmlns:a16="http://schemas.microsoft.com/office/drawing/2014/main" id="{127C0C1F-FAD4-3247-CEFA-35524EF3491A}"/>
              </a:ext>
            </a:extLst>
          </p:cNvPr>
          <p:cNvSpPr/>
          <p:nvPr/>
        </p:nvSpPr>
        <p:spPr>
          <a:xfrm flipH="1" flipV="1">
            <a:off x="3158464" y="990872"/>
            <a:ext cx="5925474" cy="5925474"/>
          </a:xfrm>
          <a:prstGeom prst="arc">
            <a:avLst>
              <a:gd name="adj1" fmla="val 9131337"/>
              <a:gd name="adj2" fmla="val 19194058"/>
            </a:avLst>
          </a:prstGeom>
          <a:ln w="104775" cap="rnd">
            <a:solidFill>
              <a:schemeClr val="tx2">
                <a:lumMod val="20000"/>
                <a:lumOff val="80000"/>
              </a:schemeClr>
            </a:solidFill>
            <a:round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71" name="グループ化 70">
            <a:extLst>
              <a:ext uri="{FF2B5EF4-FFF2-40B4-BE49-F238E27FC236}">
                <a16:creationId xmlns:a16="http://schemas.microsoft.com/office/drawing/2014/main" id="{A4D017F8-0874-CDF6-449A-D35D1EF13416}"/>
              </a:ext>
            </a:extLst>
          </p:cNvPr>
          <p:cNvGrpSpPr/>
          <p:nvPr/>
        </p:nvGrpSpPr>
        <p:grpSpPr>
          <a:xfrm>
            <a:off x="3243029" y="3675824"/>
            <a:ext cx="5705942" cy="1425076"/>
            <a:chOff x="3212086" y="3675824"/>
            <a:chExt cx="5705942" cy="1425076"/>
          </a:xfrm>
        </p:grpSpPr>
        <p:sp>
          <p:nvSpPr>
            <p:cNvPr id="42" name="楕円 41">
              <a:extLst>
                <a:ext uri="{FF2B5EF4-FFF2-40B4-BE49-F238E27FC236}">
                  <a16:creationId xmlns:a16="http://schemas.microsoft.com/office/drawing/2014/main" id="{4CFDAF61-8DBE-7D70-2B5F-A46BEC77CAEE}"/>
                </a:ext>
              </a:extLst>
            </p:cNvPr>
            <p:cNvSpPr/>
            <p:nvPr/>
          </p:nvSpPr>
          <p:spPr>
            <a:xfrm flipH="1">
              <a:off x="4151784" y="3675824"/>
              <a:ext cx="4766244" cy="1425076"/>
            </a:xfrm>
            <a:prstGeom prst="ellipse">
              <a:avLst/>
            </a:prstGeom>
            <a:noFill/>
            <a:ln w="76200" cap="rnd">
              <a:gradFill flip="none" rotWithShape="1">
                <a:gsLst>
                  <a:gs pos="2000">
                    <a:schemeClr val="tx2">
                      <a:alpha val="0"/>
                      <a:lumMod val="29000"/>
                      <a:lumOff val="71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5400000" scaled="1"/>
                <a:tileRect/>
              </a:gradFill>
              <a:round/>
              <a:headEnd type="arrow" w="lg" len="sm"/>
              <a:tailEnd type="none"/>
            </a:ln>
            <a:effectLst/>
            <a:scene3d>
              <a:camera prst="perspectiveContrastingRightFacing"/>
              <a:lightRig rig="contrasting" dir="t"/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120000"/>
                </a:lnSpc>
                <a:spcAft>
                  <a:spcPts val="300"/>
                </a:spcAft>
              </a:pP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楕円 40">
              <a:extLst>
                <a:ext uri="{FF2B5EF4-FFF2-40B4-BE49-F238E27FC236}">
                  <a16:creationId xmlns:a16="http://schemas.microsoft.com/office/drawing/2014/main" id="{05BB335A-7BB8-B278-15D0-15D0B8425214}"/>
                </a:ext>
              </a:extLst>
            </p:cNvPr>
            <p:cNvSpPr/>
            <p:nvPr/>
          </p:nvSpPr>
          <p:spPr>
            <a:xfrm flipH="1">
              <a:off x="3212086" y="3675824"/>
              <a:ext cx="4766244" cy="1425076"/>
            </a:xfrm>
            <a:prstGeom prst="ellipse">
              <a:avLst/>
            </a:prstGeom>
            <a:noFill/>
            <a:ln w="76200" cap="rnd">
              <a:gradFill flip="none" rotWithShape="1">
                <a:gsLst>
                  <a:gs pos="2000">
                    <a:schemeClr val="tx2">
                      <a:alpha val="0"/>
                      <a:lumMod val="29000"/>
                      <a:lumOff val="71000"/>
                    </a:schemeClr>
                  </a:gs>
                  <a:gs pos="100000">
                    <a:schemeClr val="tx2">
                      <a:lumMod val="20000"/>
                      <a:lumOff val="80000"/>
                    </a:schemeClr>
                  </a:gs>
                </a:gsLst>
                <a:lin ang="5400000" scaled="1"/>
                <a:tileRect/>
              </a:gradFill>
              <a:round/>
              <a:headEnd type="arrow" w="lg" len="sm"/>
              <a:tailEnd type="none"/>
            </a:ln>
            <a:effectLst/>
            <a:scene3d>
              <a:camera prst="perspectiveContrastingLeftFacing"/>
              <a:lightRig rig="contrasting" dir="t"/>
            </a:scene3d>
            <a:sp3d prstMaterial="matte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>
                <a:lnSpc>
                  <a:spcPct val="120000"/>
                </a:lnSpc>
                <a:spcAft>
                  <a:spcPts val="300"/>
                </a:spcAft>
              </a:pPr>
              <a:endParaRPr kumimoji="1" lang="ja-JP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6" name="タイトル 5">
            <a:extLst>
              <a:ext uri="{FF2B5EF4-FFF2-40B4-BE49-F238E27FC236}">
                <a16:creationId xmlns:a16="http://schemas.microsoft.com/office/drawing/2014/main" id="{C578E643-44B4-BB5C-2778-3C1CBC3F01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コンサルティング</a:t>
            </a:r>
            <a:r>
              <a:rPr lang="en-US" altLang="ja-JP" dirty="0"/>
              <a:t>×</a:t>
            </a:r>
            <a:r>
              <a:rPr lang="ja-JP" altLang="en-US" dirty="0"/>
              <a:t>ソリューションビジネス　シナジー</a:t>
            </a:r>
          </a:p>
        </p:txBody>
      </p:sp>
      <p:sp>
        <p:nvSpPr>
          <p:cNvPr id="18" name="テキスト プレースホルダー 17">
            <a:extLst>
              <a:ext uri="{FF2B5EF4-FFF2-40B4-BE49-F238E27FC236}">
                <a16:creationId xmlns:a16="http://schemas.microsoft.com/office/drawing/2014/main" id="{53DD050A-0507-70D0-8AD1-427B60FAD5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ja-JP" altLang="en-US"/>
          </a:p>
        </p:txBody>
      </p:sp>
      <p:sp>
        <p:nvSpPr>
          <p:cNvPr id="19" name="テキスト プレースホルダー 18">
            <a:extLst>
              <a:ext uri="{FF2B5EF4-FFF2-40B4-BE49-F238E27FC236}">
                <a16:creationId xmlns:a16="http://schemas.microsoft.com/office/drawing/2014/main" id="{EBB977E7-6D32-2CEE-9AAB-7DD6301B44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マーケティング施策に頼らず、コンサルティング⇔ソリューションの双方向で顧客基盤が拡大するモデルを確立</a:t>
            </a:r>
          </a:p>
        </p:txBody>
      </p:sp>
      <p:sp>
        <p:nvSpPr>
          <p:cNvPr id="73" name="正方形/長方形 72">
            <a:extLst>
              <a:ext uri="{FF2B5EF4-FFF2-40B4-BE49-F238E27FC236}">
                <a16:creationId xmlns:a16="http://schemas.microsoft.com/office/drawing/2014/main" id="{EE13C33B-790C-8C7F-C126-C3D1C4038ED2}"/>
              </a:ext>
            </a:extLst>
          </p:cNvPr>
          <p:cNvSpPr/>
          <p:nvPr/>
        </p:nvSpPr>
        <p:spPr>
          <a:xfrm>
            <a:off x="0" y="460134"/>
            <a:ext cx="12192000" cy="1037564"/>
          </a:xfrm>
          <a:prstGeom prst="rect">
            <a:avLst/>
          </a:prstGeom>
          <a:noFill/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rIns="180000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endParaRPr kumimoji="1" lang="ja-JP" altLang="en-US" sz="2400" dirty="0">
              <a:solidFill>
                <a:schemeClr val="tx1"/>
              </a:solidFill>
            </a:endParaRPr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9461216-1363-1AA4-FAC3-4D902830F9B7}"/>
              </a:ext>
            </a:extLst>
          </p:cNvPr>
          <p:cNvSpPr/>
          <p:nvPr/>
        </p:nvSpPr>
        <p:spPr>
          <a:xfrm>
            <a:off x="4483276" y="2542856"/>
            <a:ext cx="3225448" cy="3225448"/>
          </a:xfrm>
          <a:prstGeom prst="ellipse">
            <a:avLst/>
          </a:prstGeom>
          <a:solidFill>
            <a:schemeClr val="tx2">
              <a:lumMod val="20000"/>
              <a:lumOff val="80000"/>
              <a:alpha val="30000"/>
            </a:schemeClr>
          </a:solidFill>
          <a:ln cap="rnd">
            <a:noFill/>
            <a:round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2400" dirty="0">
                <a:solidFill>
                  <a:schemeClr val="bg1"/>
                </a:solidFill>
                <a:highlight>
                  <a:srgbClr val="196ECA"/>
                </a:highlight>
              </a:rPr>
              <a:t>事業収益増加</a:t>
            </a:r>
            <a:r>
              <a:rPr kumimoji="1" lang="ja-JP" altLang="en-US" sz="2400" dirty="0">
                <a:solidFill>
                  <a:schemeClr val="tx1"/>
                </a:solidFill>
              </a:rPr>
              <a:t>の</a:t>
            </a:r>
            <a:br>
              <a:rPr kumimoji="1" lang="en-US" altLang="ja-JP" sz="2400" dirty="0">
                <a:solidFill>
                  <a:schemeClr val="tx1"/>
                </a:solidFill>
              </a:rPr>
            </a:br>
            <a:r>
              <a:rPr kumimoji="1" lang="ja-JP" altLang="en-US" sz="2400" dirty="0">
                <a:solidFill>
                  <a:schemeClr val="bg1"/>
                </a:solidFill>
                <a:highlight>
                  <a:srgbClr val="196ECA"/>
                </a:highlight>
              </a:rPr>
              <a:t>グッドサイクル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A05A3C38-FE37-3EE3-1C06-2D4B84DD71EC}"/>
              </a:ext>
            </a:extLst>
          </p:cNvPr>
          <p:cNvSpPr/>
          <p:nvPr/>
        </p:nvSpPr>
        <p:spPr>
          <a:xfrm>
            <a:off x="551384" y="3054424"/>
            <a:ext cx="3168352" cy="2842397"/>
          </a:xfrm>
          <a:prstGeom prst="rect">
            <a:avLst/>
          </a:prstGeom>
          <a:solidFill>
            <a:schemeClr val="bg1"/>
          </a:solidFill>
          <a:ln w="38100" cap="rnd">
            <a:solidFill>
              <a:schemeClr val="tx2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bIns="252000" rtlCol="0" anchor="b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en-US" altLang="ja-JP" sz="1600" dirty="0">
                <a:solidFill>
                  <a:schemeClr val="tx1"/>
                </a:solidFill>
              </a:rPr>
              <a:t>230</a:t>
            </a:r>
            <a:r>
              <a:rPr kumimoji="1" lang="ja-JP" altLang="en-US" sz="1600" dirty="0">
                <a:solidFill>
                  <a:schemeClr val="tx1"/>
                </a:solidFill>
              </a:rPr>
              <a:t>社超の実績に裏付けされた</a:t>
            </a:r>
            <a:br>
              <a:rPr kumimoji="1" lang="en-US" altLang="ja-JP" sz="1600" dirty="0">
                <a:solidFill>
                  <a:schemeClr val="tx1"/>
                </a:solidFill>
              </a:rPr>
            </a:br>
            <a:r>
              <a:rPr kumimoji="1" lang="ja-JP" altLang="en-US" sz="1600" dirty="0">
                <a:solidFill>
                  <a:schemeClr val="tx1"/>
                </a:solidFill>
              </a:rPr>
              <a:t>コンサルティング能力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39A09BD-3996-4531-CB44-724D93760CB3}"/>
              </a:ext>
            </a:extLst>
          </p:cNvPr>
          <p:cNvSpPr/>
          <p:nvPr/>
        </p:nvSpPr>
        <p:spPr>
          <a:xfrm>
            <a:off x="8470528" y="3054424"/>
            <a:ext cx="3168352" cy="2842397"/>
          </a:xfrm>
          <a:prstGeom prst="rect">
            <a:avLst/>
          </a:prstGeom>
          <a:solidFill>
            <a:schemeClr val="bg1"/>
          </a:solidFill>
          <a:ln w="38100" cap="rnd">
            <a:solidFill>
              <a:schemeClr val="tx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52000" bIns="252000" rtlCol="0" anchor="b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sz="1600" dirty="0">
                <a:solidFill>
                  <a:schemeClr val="tx1"/>
                </a:solidFill>
              </a:rPr>
              <a:t>多数の海外ソリューションの</a:t>
            </a:r>
            <a:br>
              <a:rPr kumimoji="1" lang="en-US" altLang="ja-JP" sz="1600" dirty="0">
                <a:solidFill>
                  <a:schemeClr val="tx1"/>
                </a:solidFill>
              </a:rPr>
            </a:br>
            <a:r>
              <a:rPr kumimoji="1" lang="ja-JP" altLang="en-US" sz="1600" dirty="0">
                <a:solidFill>
                  <a:schemeClr val="tx1"/>
                </a:solidFill>
              </a:rPr>
              <a:t>日本企業に合わせた導入実績</a:t>
            </a:r>
          </a:p>
        </p:txBody>
      </p:sp>
      <p:sp>
        <p:nvSpPr>
          <p:cNvPr id="21" name="四角形: 上の 2 つの角を丸める 20">
            <a:extLst>
              <a:ext uri="{FF2B5EF4-FFF2-40B4-BE49-F238E27FC236}">
                <a16:creationId xmlns:a16="http://schemas.microsoft.com/office/drawing/2014/main" id="{4A3C1EC7-D685-C88B-4ADE-6AFC831CB5A8}"/>
              </a:ext>
            </a:extLst>
          </p:cNvPr>
          <p:cNvSpPr/>
          <p:nvPr/>
        </p:nvSpPr>
        <p:spPr>
          <a:xfrm>
            <a:off x="551384" y="2276872"/>
            <a:ext cx="3168352" cy="777552"/>
          </a:xfrm>
          <a:prstGeom prst="round2SameRect">
            <a:avLst/>
          </a:prstGeom>
          <a:solidFill>
            <a:schemeClr val="tx2">
              <a:lumMod val="50000"/>
            </a:schemeClr>
          </a:solidFill>
          <a:ln w="38100" cap="rnd">
            <a:solidFill>
              <a:schemeClr val="tx2">
                <a:lumMod val="50000"/>
              </a:schemeClr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コンサルティング事業</a:t>
            </a:r>
          </a:p>
        </p:txBody>
      </p:sp>
      <p:sp>
        <p:nvSpPr>
          <p:cNvPr id="22" name="四角形: 上の 2 つの角を丸める 21">
            <a:extLst>
              <a:ext uri="{FF2B5EF4-FFF2-40B4-BE49-F238E27FC236}">
                <a16:creationId xmlns:a16="http://schemas.microsoft.com/office/drawing/2014/main" id="{C36A4255-4740-799C-A017-2D8069AE183A}"/>
              </a:ext>
            </a:extLst>
          </p:cNvPr>
          <p:cNvSpPr/>
          <p:nvPr/>
        </p:nvSpPr>
        <p:spPr>
          <a:xfrm>
            <a:off x="8470528" y="2276872"/>
            <a:ext cx="3168352" cy="777552"/>
          </a:xfrm>
          <a:prstGeom prst="round2SameRect">
            <a:avLst/>
          </a:prstGeom>
          <a:solidFill>
            <a:schemeClr val="tx2"/>
          </a:solidFill>
          <a:ln w="38100" cap="rnd">
            <a:solidFill>
              <a:schemeClr val="tx2"/>
            </a:solidFill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ソリューション事業</a:t>
            </a:r>
          </a:p>
        </p:txBody>
      </p:sp>
      <p:sp>
        <p:nvSpPr>
          <p:cNvPr id="52" name="四角形: 角を丸くする 51">
            <a:extLst>
              <a:ext uri="{FF2B5EF4-FFF2-40B4-BE49-F238E27FC236}">
                <a16:creationId xmlns:a16="http://schemas.microsoft.com/office/drawing/2014/main" id="{5BD7862E-A484-F78C-AA35-5431B01A3002}"/>
              </a:ext>
            </a:extLst>
          </p:cNvPr>
          <p:cNvSpPr/>
          <p:nvPr/>
        </p:nvSpPr>
        <p:spPr>
          <a:xfrm>
            <a:off x="6389393" y="2266681"/>
            <a:ext cx="1170086" cy="95162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215972" tIns="215972" rIns="215972" bIns="215972" numCol="1" spcCol="1270" anchor="ctr" anchorCtr="0">
            <a:noAutofit/>
          </a:bodyPr>
          <a:lstStyle/>
          <a:p>
            <a:pPr algn="ctr" defTabSz="62230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</a:pPr>
            <a:r>
              <a:rPr kumimoji="1" lang="ja-JP" altLang="en-US" dirty="0">
                <a:solidFill>
                  <a:schemeClr val="tx2"/>
                </a:solidFill>
              </a:rPr>
              <a:t>海外</a:t>
            </a:r>
            <a:br>
              <a:rPr kumimoji="1" lang="en-US" altLang="ja-JP" dirty="0">
                <a:solidFill>
                  <a:schemeClr val="tx2"/>
                </a:solidFill>
              </a:rPr>
            </a:br>
            <a:r>
              <a:rPr kumimoji="1" lang="ja-JP" altLang="en-US" dirty="0">
                <a:solidFill>
                  <a:schemeClr val="tx2"/>
                </a:solidFill>
              </a:rPr>
              <a:t>ソリューション</a:t>
            </a:r>
          </a:p>
        </p:txBody>
      </p:sp>
      <p:sp>
        <p:nvSpPr>
          <p:cNvPr id="54" name="四角形: 角を丸くする 53">
            <a:extLst>
              <a:ext uri="{FF2B5EF4-FFF2-40B4-BE49-F238E27FC236}">
                <a16:creationId xmlns:a16="http://schemas.microsoft.com/office/drawing/2014/main" id="{AA79200B-5E98-2EEF-AD15-C1053F303160}"/>
              </a:ext>
            </a:extLst>
          </p:cNvPr>
          <p:cNvSpPr/>
          <p:nvPr/>
        </p:nvSpPr>
        <p:spPr>
          <a:xfrm>
            <a:off x="7267828" y="3671308"/>
            <a:ext cx="1170086" cy="95162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215972" tIns="215972" rIns="215972" bIns="215972" numCol="1" spcCol="1270" anchor="ctr" anchorCtr="0">
            <a:noAutofit/>
          </a:bodyPr>
          <a:lstStyle/>
          <a:p>
            <a:pPr algn="ctr" defTabSz="62230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</a:pPr>
            <a:r>
              <a:rPr kumimoji="1" lang="en-US" altLang="ja-JP" dirty="0">
                <a:solidFill>
                  <a:schemeClr val="tx2"/>
                </a:solidFill>
              </a:rPr>
              <a:t>BPO</a:t>
            </a:r>
            <a:endParaRPr kumimoji="1" lang="ja-JP" altLang="en-US" dirty="0">
              <a:solidFill>
                <a:schemeClr val="tx2"/>
              </a:solidFill>
            </a:endParaRPr>
          </a:p>
        </p:txBody>
      </p:sp>
      <p:sp>
        <p:nvSpPr>
          <p:cNvPr id="56" name="四角形: 角を丸くする 55">
            <a:extLst>
              <a:ext uri="{FF2B5EF4-FFF2-40B4-BE49-F238E27FC236}">
                <a16:creationId xmlns:a16="http://schemas.microsoft.com/office/drawing/2014/main" id="{F59CC6A3-5712-018D-90A5-2D78CB2B4E8A}"/>
              </a:ext>
            </a:extLst>
          </p:cNvPr>
          <p:cNvSpPr/>
          <p:nvPr/>
        </p:nvSpPr>
        <p:spPr>
          <a:xfrm>
            <a:off x="6389393" y="5075935"/>
            <a:ext cx="1170086" cy="95162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215972" tIns="215972" rIns="215972" bIns="215972" numCol="1" spcCol="1270" anchor="ctr" anchorCtr="0">
            <a:noAutofit/>
          </a:bodyPr>
          <a:lstStyle/>
          <a:p>
            <a:pPr algn="ctr" defTabSz="62230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</a:pPr>
            <a:r>
              <a:rPr kumimoji="1" lang="ja-JP" altLang="en-US" dirty="0">
                <a:solidFill>
                  <a:schemeClr val="tx2"/>
                </a:solidFill>
              </a:rPr>
              <a:t>業務設計</a:t>
            </a:r>
          </a:p>
        </p:txBody>
      </p:sp>
      <p:sp>
        <p:nvSpPr>
          <p:cNvPr id="58" name="四角形: 角を丸くする 57">
            <a:extLst>
              <a:ext uri="{FF2B5EF4-FFF2-40B4-BE49-F238E27FC236}">
                <a16:creationId xmlns:a16="http://schemas.microsoft.com/office/drawing/2014/main" id="{B99E13B8-5F97-41C3-9F0F-63141AC80FD2}"/>
              </a:ext>
            </a:extLst>
          </p:cNvPr>
          <p:cNvSpPr/>
          <p:nvPr/>
        </p:nvSpPr>
        <p:spPr>
          <a:xfrm>
            <a:off x="4632522" y="5075935"/>
            <a:ext cx="1170086" cy="95162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215972" tIns="215972" rIns="215972" bIns="215972" numCol="1" spcCol="1270" anchor="ctr" anchorCtr="0">
            <a:noAutofit/>
          </a:bodyPr>
          <a:lstStyle/>
          <a:p>
            <a:pPr marL="0" lvl="0" indent="0" algn="ctr" defTabSz="62230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  <a:buNone/>
            </a:pPr>
            <a:r>
              <a:rPr kumimoji="1" lang="ja-JP" altLang="en-US" kern="1200" dirty="0">
                <a:solidFill>
                  <a:schemeClr val="tx2"/>
                </a:solidFill>
              </a:rPr>
              <a:t>プロジェクト</a:t>
            </a:r>
            <a:br>
              <a:rPr kumimoji="1" lang="en-US" altLang="ja-JP" kern="1200" dirty="0">
                <a:solidFill>
                  <a:schemeClr val="tx2"/>
                </a:solidFill>
              </a:rPr>
            </a:br>
            <a:r>
              <a:rPr kumimoji="1" lang="ja-JP" altLang="en-US" kern="1200" dirty="0">
                <a:solidFill>
                  <a:schemeClr val="tx2"/>
                </a:solidFill>
              </a:rPr>
              <a:t>マネジメント能力</a:t>
            </a:r>
          </a:p>
        </p:txBody>
      </p:sp>
      <p:sp>
        <p:nvSpPr>
          <p:cNvPr id="60" name="四角形: 角を丸くする 59">
            <a:extLst>
              <a:ext uri="{FF2B5EF4-FFF2-40B4-BE49-F238E27FC236}">
                <a16:creationId xmlns:a16="http://schemas.microsoft.com/office/drawing/2014/main" id="{4A964ECE-5953-F54A-369F-1F1C13F75BDE}"/>
              </a:ext>
            </a:extLst>
          </p:cNvPr>
          <p:cNvSpPr/>
          <p:nvPr/>
        </p:nvSpPr>
        <p:spPr>
          <a:xfrm>
            <a:off x="3754086" y="3671308"/>
            <a:ext cx="1170086" cy="95162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215972" tIns="215972" rIns="215972" bIns="215972" numCol="1" spcCol="1270" anchor="ctr" anchorCtr="0">
            <a:noAutofit/>
          </a:bodyPr>
          <a:lstStyle/>
          <a:p>
            <a:pPr algn="ctr" defTabSz="62230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</a:pPr>
            <a:r>
              <a:rPr kumimoji="1" lang="ja-JP" altLang="en-US" dirty="0">
                <a:solidFill>
                  <a:schemeClr val="tx2"/>
                </a:solidFill>
              </a:rPr>
              <a:t>タレント</a:t>
            </a:r>
            <a:br>
              <a:rPr kumimoji="1" lang="en-US" altLang="ja-JP" dirty="0">
                <a:solidFill>
                  <a:schemeClr val="tx2"/>
                </a:solidFill>
              </a:rPr>
            </a:br>
            <a:r>
              <a:rPr kumimoji="1" lang="ja-JP" altLang="en-US" dirty="0">
                <a:solidFill>
                  <a:schemeClr val="tx2"/>
                </a:solidFill>
              </a:rPr>
              <a:t>プール</a:t>
            </a:r>
          </a:p>
        </p:txBody>
      </p:sp>
      <p:sp>
        <p:nvSpPr>
          <p:cNvPr id="62" name="四角形: 角を丸くする 61">
            <a:extLst>
              <a:ext uri="{FF2B5EF4-FFF2-40B4-BE49-F238E27FC236}">
                <a16:creationId xmlns:a16="http://schemas.microsoft.com/office/drawing/2014/main" id="{4E939CA3-6282-6035-618E-BFF9BB20BD22}"/>
              </a:ext>
            </a:extLst>
          </p:cNvPr>
          <p:cNvSpPr/>
          <p:nvPr/>
        </p:nvSpPr>
        <p:spPr>
          <a:xfrm>
            <a:off x="4632522" y="2266680"/>
            <a:ext cx="1170086" cy="951624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none" lIns="215972" tIns="215972" rIns="215972" bIns="215972" numCol="1" spcCol="1270" anchor="ctr" anchorCtr="0">
            <a:noAutofit/>
          </a:bodyPr>
          <a:lstStyle/>
          <a:p>
            <a:pPr algn="ctr" defTabSz="622300">
              <a:lnSpc>
                <a:spcPct val="120000"/>
              </a:lnSpc>
              <a:spcBef>
                <a:spcPct val="0"/>
              </a:spcBef>
              <a:spcAft>
                <a:spcPts val="300"/>
              </a:spcAft>
            </a:pPr>
            <a:r>
              <a:rPr kumimoji="1" lang="ja-JP" altLang="en-US" dirty="0">
                <a:solidFill>
                  <a:schemeClr val="tx2"/>
                </a:solidFill>
              </a:rPr>
              <a:t>事業創造</a:t>
            </a:r>
          </a:p>
        </p:txBody>
      </p:sp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B7B6028-5437-B1C5-9581-47E11C740DE6}"/>
              </a:ext>
            </a:extLst>
          </p:cNvPr>
          <p:cNvSpPr/>
          <p:nvPr/>
        </p:nvSpPr>
        <p:spPr>
          <a:xfrm>
            <a:off x="1317602" y="3399981"/>
            <a:ext cx="1533889" cy="1079833"/>
          </a:xfrm>
          <a:prstGeom prst="roundRect">
            <a:avLst/>
          </a:prstGeom>
          <a:solidFill>
            <a:schemeClr val="bg1">
              <a:lumMod val="75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イメージ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7B7FD0B0-6C6E-1D91-15EB-0EF6F0B72E8B}"/>
              </a:ext>
            </a:extLst>
          </p:cNvPr>
          <p:cNvSpPr/>
          <p:nvPr/>
        </p:nvSpPr>
        <p:spPr>
          <a:xfrm>
            <a:off x="9285435" y="3399981"/>
            <a:ext cx="1533889" cy="1079833"/>
          </a:xfrm>
          <a:prstGeom prst="roundRect">
            <a:avLst/>
          </a:prstGeom>
          <a:solidFill>
            <a:schemeClr val="bg1">
              <a:lumMod val="75000"/>
            </a:schemeClr>
          </a:solidFill>
          <a:ln cap="rnd">
            <a:noFill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300"/>
              </a:spcAft>
            </a:pPr>
            <a:r>
              <a:rPr kumimoji="1" lang="ja-JP" altLang="en-US" dirty="0">
                <a:solidFill>
                  <a:schemeClr val="bg1"/>
                </a:solidFill>
              </a:rPr>
              <a:t>イメージ</a:t>
            </a:r>
          </a:p>
        </p:txBody>
      </p:sp>
    </p:spTree>
    <p:extLst>
      <p:ext uri="{BB962C8B-B14F-4D97-AF65-F5344CB8AC3E}">
        <p14:creationId xmlns:p14="http://schemas.microsoft.com/office/powerpoint/2010/main" val="9023895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ユーザー定義 12">
      <a:dk1>
        <a:srgbClr val="383838"/>
      </a:dk1>
      <a:lt1>
        <a:srgbClr val="FFFFFF"/>
      </a:lt1>
      <a:dk2>
        <a:srgbClr val="196ECA"/>
      </a:dk2>
      <a:lt2>
        <a:srgbClr val="E7E6E6"/>
      </a:lt2>
      <a:accent1>
        <a:srgbClr val="E46970"/>
      </a:accent1>
      <a:accent2>
        <a:srgbClr val="8977D7"/>
      </a:accent2>
      <a:accent3>
        <a:srgbClr val="A5A5A5"/>
      </a:accent3>
      <a:accent4>
        <a:srgbClr val="EBC83C"/>
      </a:accent4>
      <a:accent5>
        <a:srgbClr val="00A08C"/>
      </a:accent5>
      <a:accent6>
        <a:srgbClr val="3B5998"/>
      </a:accent6>
      <a:hlink>
        <a:srgbClr val="0563C1"/>
      </a:hlink>
      <a:folHlink>
        <a:srgbClr val="954F72"/>
      </a:folHlink>
    </a:clrScheme>
    <a:fontScheme name="ユーザー定義 2">
      <a:majorFont>
        <a:latin typeface="FOT-筑紫A丸ゴシック Std B"/>
        <a:ea typeface="FOT-筑紫A丸ゴシック Std B"/>
        <a:cs typeface=""/>
      </a:majorFont>
      <a:minorFont>
        <a:latin typeface="FOT-筑紫A丸ゴシック Std B"/>
        <a:ea typeface="FOT-筑紫A丸ゴシック Std B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cap="rnd">
          <a:solidFill>
            <a:schemeClr val="tx2"/>
          </a:solidFill>
          <a:round/>
        </a:ln>
        <a:effectLst/>
      </a:spPr>
      <a:bodyPr rtlCol="0" anchor="ctr"/>
      <a:lstStyle>
        <a:defPPr algn="l">
          <a:lnSpc>
            <a:spcPct val="120000"/>
          </a:lnSpc>
          <a:spcAft>
            <a:spcPts val="300"/>
          </a:spcAft>
          <a:defRPr kumimoji="1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 cap="rnd">
          <a:solidFill>
            <a:schemeClr val="bg1">
              <a:lumMod val="75000"/>
            </a:schemeClr>
          </a:solidFill>
          <a:round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lnSpc>
            <a:spcPct val="120000"/>
          </a:lnSpc>
          <a:spcAft>
            <a:spcPts val="300"/>
          </a:spcAft>
          <a:defRPr kumimoji="1" sz="1600" dirty="0" smtClean="0"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502</Words>
  <Application>Microsoft Office PowerPoint</Application>
  <PresentationFormat>ワイド画面</PresentationFormat>
  <Paragraphs>83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FOT-筑紫A丸ゴシック Std B</vt:lpstr>
      <vt:lpstr>游ゴシック</vt:lpstr>
      <vt:lpstr>Arial</vt:lpstr>
      <vt:lpstr>Office テーマ</vt:lpstr>
      <vt:lpstr>プレゼン資料の作成で使える 協業・シナジーのテンプレート③</vt:lpstr>
      <vt:lpstr>当社成長の要諦</vt:lpstr>
      <vt:lpstr>当社成長の要諦</vt:lpstr>
      <vt:lpstr>コンサルティング×ソリューションビジネス　シナジー</vt:lpstr>
      <vt:lpstr>コンサルティング×ソリューションビジネス　シナジー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2025-12-21T02:39:12Z</dcterms:created>
  <dcterms:modified xsi:type="dcterms:W3CDTF">2025-12-21T02:39:15Z</dcterms:modified>
</cp:coreProperties>
</file>